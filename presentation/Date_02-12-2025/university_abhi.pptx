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61" r:id="rId4"/>
    <p:sldId id="263" r:id="rId5"/>
    <p:sldId id="270" r:id="rId6"/>
    <p:sldId id="271" r:id="rId7"/>
    <p:sldId id="272" r:id="rId8"/>
    <p:sldId id="273" r:id="rId9"/>
    <p:sldId id="266" r:id="rId10"/>
    <p:sldId id="269" r:id="rId11"/>
  </p:sldIdLst>
  <p:sldSz cx="18288000" cy="10287000"/>
  <p:notesSz cx="6858000" cy="9144000"/>
  <p:embeddedFontLst>
    <p:embeddedFont>
      <p:font typeface="Arial Black" panose="020B0A04020102020204" pitchFamily="34" charset="0"/>
      <p:bold r:id="rId12"/>
    </p:embeddedFont>
    <p:embeddedFont>
      <p:font typeface="Inter" panose="020B0604020202020204" charset="0"/>
      <p:regular r:id="rId13"/>
    </p:embeddedFont>
    <p:embeddedFont>
      <p:font typeface="Telegraf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6E44"/>
    <a:srgbClr val="2AA7E1"/>
    <a:srgbClr val="120078"/>
    <a:srgbClr val="009EC5"/>
    <a:srgbClr val="A0D9F7"/>
    <a:srgbClr val="4F81BD"/>
    <a:srgbClr val="13A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2E58B-C305-4A8C-A5C0-A6CA13FF9A97}" v="12" dt="2025-12-02T06:45:14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302995-AFB9-4CBA-9972-40069DE0136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073A93-C056-4A3B-A2D7-B87F729FA25A}" type="pres">
      <dgm:prSet presAssocID="{48302995-AFB9-4CBA-9972-40069DE0136B}" presName="Name0" presStyleCnt="0">
        <dgm:presLayoutVars>
          <dgm:dir/>
          <dgm:resizeHandles val="exact"/>
        </dgm:presLayoutVars>
      </dgm:prSet>
      <dgm:spPr/>
    </dgm:pt>
  </dgm:ptLst>
  <dgm:cxnLst>
    <dgm:cxn modelId="{07930FA9-B78C-4DF6-931A-F97E92197F08}" type="presOf" srcId="{48302995-AFB9-4CBA-9972-40069DE0136B}" destId="{A3073A93-C056-4A3B-A2D7-B87F729FA25A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6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826" y="0"/>
            <a:ext cx="2224257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765460" y="1943376"/>
            <a:ext cx="9696497" cy="369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6000">
                <a:solidFill>
                  <a:schemeClr val="bg1"/>
                </a:solidFill>
                <a:effectLst>
                  <a:outerShdw blurRad="50800" dist="50800" dir="1800000" algn="ctr" rotWithShape="0">
                    <a:srgbClr val="000000">
                      <a:alpha val="43137"/>
                    </a:srgbClr>
                  </a:outerShdw>
                </a:effectLst>
                <a:latin typeface="Arial Black"/>
              </a:rPr>
              <a:t>Road Scene Analysis:</a:t>
            </a:r>
            <a:br>
              <a:rPr lang="en-US" sz="6000">
                <a:solidFill>
                  <a:schemeClr val="bg1"/>
                </a:solidFill>
                <a:effectLst>
                  <a:outerShdw blurRad="50800" dist="50800" dir="1800000" algn="ctr" rotWithShape="0">
                    <a:srgbClr val="000000">
                      <a:alpha val="43137"/>
                    </a:srgbClr>
                  </a:outerShdw>
                </a:effectLst>
                <a:latin typeface="Arial Black"/>
              </a:rPr>
            </a:br>
            <a:r>
              <a:rPr lang="en-US" sz="6000">
                <a:solidFill>
                  <a:schemeClr val="bg1"/>
                </a:solidFill>
                <a:effectLst>
                  <a:outerShdw blurRad="50800" dist="50800" dir="1800000" algn="ctr" rotWithShape="0">
                    <a:srgbClr val="000000">
                      <a:alpha val="43137"/>
                    </a:srgbClr>
                  </a:outerShdw>
                </a:effectLst>
                <a:latin typeface="Arial Black"/>
              </a:rPr>
              <a:t>Safety &amp; Segmentation</a:t>
            </a:r>
            <a:br>
              <a:rPr lang="en-US" sz="6000">
                <a:solidFill>
                  <a:schemeClr val="bg1"/>
                </a:solidFill>
                <a:effectLst>
                  <a:outerShdw blurRad="50800" dist="50800" dir="1800000" algn="ctr" rotWithShape="0">
                    <a:srgbClr val="000000">
                      <a:alpha val="43137"/>
                    </a:srgbClr>
                  </a:outerShdw>
                </a:effectLst>
                <a:latin typeface="Arial Black"/>
              </a:rPr>
            </a:br>
            <a:r>
              <a:rPr lang="en-US" sz="6000">
                <a:solidFill>
                  <a:schemeClr val="bg1"/>
                </a:solidFill>
                <a:effectLst>
                  <a:outerShdw blurRad="50800" dist="50800" dir="1800000" algn="ctr" rotWithShape="0">
                    <a:srgbClr val="000000">
                      <a:alpha val="43137"/>
                    </a:srgbClr>
                  </a:outerShdw>
                </a:effectLst>
                <a:latin typeface="Arial Black"/>
              </a:rPr>
              <a:t>Architectures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233B07-D651-4A95-8DE1-608F09EFF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85" y="632229"/>
            <a:ext cx="3736764" cy="3158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A858A-FB01-8042-5622-006D173E1CC2}"/>
              </a:ext>
            </a:extLst>
          </p:cNvPr>
          <p:cNvSpPr txBox="1"/>
          <p:nvPr/>
        </p:nvSpPr>
        <p:spPr>
          <a:xfrm>
            <a:off x="9343562" y="8583864"/>
            <a:ext cx="744537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Presented By : Abhi Kumar Nath </a:t>
            </a:r>
            <a:r>
              <a:rPr lang="en-US" sz="3000" err="1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Shuva</a:t>
            </a:r>
            <a:endParaRPr lang="en-US" sz="3000">
              <a:solidFill>
                <a:schemeClr val="bg1"/>
              </a:solidFill>
              <a:latin typeface="Arial Black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9B78C4-A645-4D31-CD1E-04B69EF01842}"/>
              </a:ext>
            </a:extLst>
          </p:cNvPr>
          <p:cNvSpPr txBox="1"/>
          <p:nvPr/>
        </p:nvSpPr>
        <p:spPr>
          <a:xfrm>
            <a:off x="9343561" y="7550623"/>
            <a:ext cx="744537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Supervisor : Md. Tamim Hossain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C5D2-329F-59EE-53CC-B9CE4204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38BA6F-B3A8-DB77-6AD1-BED855837DA4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D76E98-1422-39C7-41CE-5E7F33C67309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9F330C-C601-4360-582F-A46C8B534C0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DF0BB8A-D2BD-830B-7C85-CF892D90F2F1}"/>
              </a:ext>
            </a:extLst>
          </p:cNvPr>
          <p:cNvGrpSpPr/>
          <p:nvPr/>
        </p:nvGrpSpPr>
        <p:grpSpPr>
          <a:xfrm>
            <a:off x="718039" y="-11723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12AAD9C7-8090-183B-4C62-FDB86B6524C4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80F482A1-7074-A0DB-AEEE-F8BA686171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:a16="http://schemas.microsoft.com/office/drawing/2014/main" id="{3EC679C3-3583-BF66-9EBC-EF5C058F8693}"/>
              </a:ext>
            </a:extLst>
          </p:cNvPr>
          <p:cNvSpPr txBox="1"/>
          <p:nvPr/>
        </p:nvSpPr>
        <p:spPr>
          <a:xfrm>
            <a:off x="1863728" y="177359"/>
            <a:ext cx="6886575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>
                <a:solidFill>
                  <a:srgbClr val="0070C0"/>
                </a:solidFill>
              </a:rPr>
              <a:t>Studied Papers &amp; Identified Categories</a:t>
            </a:r>
            <a:endParaRPr lang="en-US" sz="6000" b="1">
              <a:solidFill>
                <a:srgbClr val="0070C0"/>
              </a:solidFill>
              <a:latin typeface="Arial Black"/>
            </a:endParaRP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66E4E96E-E685-2927-3285-7333F374EABB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F554A56A-59A8-929C-0C13-AEE01A854C3F}"/>
              </a:ext>
            </a:extLst>
          </p:cNvPr>
          <p:cNvSpPr/>
          <p:nvPr/>
        </p:nvSpPr>
        <p:spPr>
          <a:xfrm flipV="1">
            <a:off x="1055743" y="9704177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pic>
        <p:nvPicPr>
          <p:cNvPr id="12" name="Picture 11" descr="Premier University | Center of Exellence for Quality Learning">
            <a:extLst>
              <a:ext uri="{FF2B5EF4-FFF2-40B4-BE49-F238E27FC236}">
                <a16:creationId xmlns:a16="http://schemas.microsoft.com/office/drawing/2014/main" id="{1EF7CF9B-3900-C46F-A0B6-83B7F3ED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graphicFrame>
        <p:nvGraphicFramePr>
          <p:cNvPr id="36" name="Content Placeholder 11">
            <a:extLst>
              <a:ext uri="{FF2B5EF4-FFF2-40B4-BE49-F238E27FC236}">
                <a16:creationId xmlns:a16="http://schemas.microsoft.com/office/drawing/2014/main" id="{A5A69CD9-B1BD-46D2-805B-F34D58C8D0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9734003"/>
              </p:ext>
            </p:extLst>
          </p:nvPr>
        </p:nvGraphicFramePr>
        <p:xfrm>
          <a:off x="1404730" y="2093843"/>
          <a:ext cx="15816469" cy="603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Shape 2">
            <a:extLst>
              <a:ext uri="{FF2B5EF4-FFF2-40B4-BE49-F238E27FC236}">
                <a16:creationId xmlns:a16="http://schemas.microsoft.com/office/drawing/2014/main" id="{B4FA819C-8F64-4378-9172-769FEF51379C}"/>
              </a:ext>
            </a:extLst>
          </p:cNvPr>
          <p:cNvSpPr/>
          <p:nvPr/>
        </p:nvSpPr>
        <p:spPr>
          <a:xfrm>
            <a:off x="1863728" y="3262069"/>
            <a:ext cx="4306253" cy="3081933"/>
          </a:xfrm>
          <a:prstGeom prst="roundRect">
            <a:avLst>
              <a:gd name="adj" fmla="val 25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54DD9F2-2BB1-43C1-B87E-413C2ACA7C7F}"/>
              </a:ext>
            </a:extLst>
          </p:cNvPr>
          <p:cNvSpPr/>
          <p:nvPr/>
        </p:nvSpPr>
        <p:spPr>
          <a:xfrm>
            <a:off x="2061491" y="4220522"/>
            <a:ext cx="355532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1: Compliance &amp; Safety</a:t>
            </a:r>
            <a:endParaRPr lang="en-US" sz="185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4591ABD6-5BA6-4421-8F58-870C650D0AB7}"/>
              </a:ext>
            </a:extLst>
          </p:cNvPr>
          <p:cNvSpPr/>
          <p:nvPr/>
        </p:nvSpPr>
        <p:spPr>
          <a:xfrm>
            <a:off x="2061491" y="4631764"/>
            <a:ext cx="3910727" cy="1217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on advanced driver-assistance systems (ADAS) and sophisticated violation detection mechanisms, crucial for proactive biker safety.</a:t>
            </a:r>
            <a:endParaRPr lang="en-US" sz="145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CE23CA1E-6E35-45A6-851B-0539DF82775E}"/>
              </a:ext>
            </a:extLst>
          </p:cNvPr>
          <p:cNvSpPr/>
          <p:nvPr/>
        </p:nvSpPr>
        <p:spPr>
          <a:xfrm>
            <a:off x="7295263" y="3289588"/>
            <a:ext cx="4306253" cy="3081933"/>
          </a:xfrm>
          <a:prstGeom prst="roundRect">
            <a:avLst>
              <a:gd name="adj" fmla="val 25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803AC720-CF34-4B40-99A6-9AD52D40CF50}"/>
              </a:ext>
            </a:extLst>
          </p:cNvPr>
          <p:cNvSpPr/>
          <p:nvPr/>
        </p:nvSpPr>
        <p:spPr>
          <a:xfrm>
            <a:off x="7397194" y="3459832"/>
            <a:ext cx="570548" cy="570548"/>
          </a:xfrm>
          <a:prstGeom prst="roundRect">
            <a:avLst>
              <a:gd name="adj" fmla="val 16025094"/>
            </a:avLst>
          </a:prstGeom>
          <a:solidFill>
            <a:srgbClr val="4950BC"/>
          </a:solidFill>
          <a:ln/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3843F96-13DE-4C04-8A14-532AF77896B8}"/>
              </a:ext>
            </a:extLst>
          </p:cNvPr>
          <p:cNvSpPr/>
          <p:nvPr/>
        </p:nvSpPr>
        <p:spPr>
          <a:xfrm>
            <a:off x="7397194" y="4220522"/>
            <a:ext cx="359378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2: Scene Segmentation</a:t>
            </a:r>
            <a:endParaRPr lang="en-US" sz="185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3558116D-BD6B-4DF0-9C17-4D9469D6342B}"/>
              </a:ext>
            </a:extLst>
          </p:cNvPr>
          <p:cNvSpPr/>
          <p:nvPr/>
        </p:nvSpPr>
        <p:spPr>
          <a:xfrm>
            <a:off x="7397194" y="4631764"/>
            <a:ext cx="3910727" cy="1217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Explores cutting-edge foundation models such as Mask R-CNN and PSPNet, essential for detailed environmental understanding.</a:t>
            </a:r>
            <a:endParaRPr lang="en-US" sz="1450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19F26141-2C19-4FD9-969D-FB0D6D18BC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53903" y="3616637"/>
            <a:ext cx="256699" cy="256699"/>
          </a:xfrm>
          <a:prstGeom prst="rect">
            <a:avLst/>
          </a:prstGeom>
        </p:spPr>
      </p:pic>
      <p:sp>
        <p:nvSpPr>
          <p:cNvPr id="23" name="Shape 3">
            <a:extLst>
              <a:ext uri="{FF2B5EF4-FFF2-40B4-BE49-F238E27FC236}">
                <a16:creationId xmlns:a16="http://schemas.microsoft.com/office/drawing/2014/main" id="{33B2D380-E4DA-45B5-922A-049B518E8D2D}"/>
              </a:ext>
            </a:extLst>
          </p:cNvPr>
          <p:cNvSpPr/>
          <p:nvPr/>
        </p:nvSpPr>
        <p:spPr>
          <a:xfrm>
            <a:off x="1997192" y="3465892"/>
            <a:ext cx="570548" cy="570548"/>
          </a:xfrm>
          <a:prstGeom prst="roundRect">
            <a:avLst>
              <a:gd name="adj" fmla="val 16025094"/>
            </a:avLst>
          </a:prstGeom>
          <a:solidFill>
            <a:srgbClr val="4950BC"/>
          </a:solidFill>
          <a:ln/>
        </p:spPr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FB7DBF64-7A33-4D59-B805-1352C77BAC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54117" y="3622697"/>
            <a:ext cx="256699" cy="256699"/>
          </a:xfrm>
          <a:prstGeom prst="rect">
            <a:avLst/>
          </a:prstGeom>
        </p:spPr>
      </p:pic>
      <p:sp>
        <p:nvSpPr>
          <p:cNvPr id="27" name="Shape 10">
            <a:extLst>
              <a:ext uri="{FF2B5EF4-FFF2-40B4-BE49-F238E27FC236}">
                <a16:creationId xmlns:a16="http://schemas.microsoft.com/office/drawing/2014/main" id="{9AE1A19B-309D-4F2E-96EF-F295F7E2ECF6}"/>
              </a:ext>
            </a:extLst>
          </p:cNvPr>
          <p:cNvSpPr/>
          <p:nvPr/>
        </p:nvSpPr>
        <p:spPr>
          <a:xfrm>
            <a:off x="12852189" y="3262069"/>
            <a:ext cx="4306253" cy="3081933"/>
          </a:xfrm>
          <a:prstGeom prst="roundRect">
            <a:avLst>
              <a:gd name="adj" fmla="val 25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31419A40-E978-4539-893A-285E2C6FB4CE}"/>
              </a:ext>
            </a:extLst>
          </p:cNvPr>
          <p:cNvSpPr/>
          <p:nvPr/>
        </p:nvSpPr>
        <p:spPr>
          <a:xfrm>
            <a:off x="13049952" y="3459832"/>
            <a:ext cx="570548" cy="570548"/>
          </a:xfrm>
          <a:prstGeom prst="roundRect">
            <a:avLst>
              <a:gd name="adj" fmla="val 16025094"/>
            </a:avLst>
          </a:prstGeom>
          <a:solidFill>
            <a:srgbClr val="4950BC"/>
          </a:solidFill>
          <a:ln/>
        </p:spPr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E3737FAE-39CA-4FB1-902E-58CE2C15F6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206876" y="3616637"/>
            <a:ext cx="256699" cy="256699"/>
          </a:xfrm>
          <a:prstGeom prst="rect">
            <a:avLst/>
          </a:prstGeom>
        </p:spPr>
      </p:pic>
      <p:sp>
        <p:nvSpPr>
          <p:cNvPr id="32" name="Text 12">
            <a:extLst>
              <a:ext uri="{FF2B5EF4-FFF2-40B4-BE49-F238E27FC236}">
                <a16:creationId xmlns:a16="http://schemas.microsoft.com/office/drawing/2014/main" id="{D6418F4A-4090-425E-931D-F21C60617888}"/>
              </a:ext>
            </a:extLst>
          </p:cNvPr>
          <p:cNvSpPr/>
          <p:nvPr/>
        </p:nvSpPr>
        <p:spPr>
          <a:xfrm>
            <a:off x="13049952" y="4220522"/>
            <a:ext cx="39107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Cluster 3: Data &amp; Model Architecture</a:t>
            </a:r>
            <a:endParaRPr lang="en-US" sz="185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D6133042-7FA7-4378-9218-A2DEAF00A50F}"/>
              </a:ext>
            </a:extLst>
          </p:cNvPr>
          <p:cNvSpPr/>
          <p:nvPr/>
        </p:nvSpPr>
        <p:spPr>
          <a:xfrm>
            <a:off x="13049952" y="4928944"/>
            <a:ext cx="3910727" cy="1217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Examines the underlying deep learning frameworks and novel techniques for blur estimation, vital for robust perception in challenging conditions.</a:t>
            </a:r>
            <a:endParaRPr lang="en-US" sz="1450"/>
          </a:p>
        </p:txBody>
      </p:sp>
    </p:spTree>
    <p:extLst>
      <p:ext uri="{BB962C8B-B14F-4D97-AF65-F5344CB8AC3E}">
        <p14:creationId xmlns:p14="http://schemas.microsoft.com/office/powerpoint/2010/main" val="87353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231965"/>
            <a:ext cx="6886573" cy="29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>
                <a:solidFill>
                  <a:srgbClr val="0070C0"/>
                </a:solidFill>
              </a:rPr>
              <a:t>Category 1: Compliance &amp; Safety Insights</a:t>
            </a:r>
            <a:endParaRPr lang="en-US" sz="6000" b="1" spc="-69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356E39-8510-4FFE-8301-E4CAFE2C20AC}"/>
              </a:ext>
            </a:extLst>
          </p:cNvPr>
          <p:cNvSpPr txBox="1"/>
          <p:nvPr/>
        </p:nvSpPr>
        <p:spPr>
          <a:xfrm>
            <a:off x="2498118" y="3418757"/>
            <a:ext cx="624363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600" b="1" u="none" strike="noStrike">
                <a:solidFill>
                  <a:srgbClr val="92D050"/>
                </a:solidFill>
                <a:effectLst/>
              </a:rPr>
              <a:t>Violation Detection:</a:t>
            </a:r>
            <a:r>
              <a:rPr lang="en-US" sz="2600" u="none" strike="noStrike">
                <a:solidFill>
                  <a:srgbClr val="92D050"/>
                </a:solidFill>
                <a:effectLst/>
              </a:rPr>
              <a:t> Intelligent systems use Background Subtraction and Object Tracking to detect red light jumps and wrong-lane driving.</a:t>
            </a:r>
            <a:endParaRPr lang="en-US" sz="2600">
              <a:solidFill>
                <a:srgbClr val="92D050"/>
              </a:solidFill>
              <a:effectLst/>
            </a:endParaRPr>
          </a:p>
          <a:p>
            <a:br>
              <a:rPr lang="en-US" sz="2600">
                <a:solidFill>
                  <a:srgbClr val="92D050"/>
                </a:solidFill>
              </a:rPr>
            </a:br>
            <a:endParaRPr lang="en-US" sz="2600">
              <a:solidFill>
                <a:srgbClr val="92D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3FEAC4-B9C4-448C-9B1E-4691346962E2}"/>
              </a:ext>
            </a:extLst>
          </p:cNvPr>
          <p:cNvSpPr txBox="1"/>
          <p:nvPr/>
        </p:nvSpPr>
        <p:spPr>
          <a:xfrm>
            <a:off x="2498118" y="5374933"/>
            <a:ext cx="664588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600" b="1" i="0" u="none" strike="noStrike">
                <a:solidFill>
                  <a:srgbClr val="92D050"/>
                </a:solidFill>
                <a:effectLst/>
              </a:rPr>
              <a:t>ADAS Efficiency:</a:t>
            </a:r>
            <a:r>
              <a:rPr lang="en-US" sz="2600" b="0" i="0" u="none" strike="noStrike">
                <a:solidFill>
                  <a:srgbClr val="92D050"/>
                </a:solidFill>
                <a:effectLst/>
              </a:rPr>
              <a:t> Pedestrian Automatic Emergency Braking (PAEB) is effective but performance drops in low light.</a:t>
            </a:r>
            <a:endParaRPr lang="en-US" sz="2600" b="0">
              <a:solidFill>
                <a:srgbClr val="92D050"/>
              </a:solidFill>
              <a:effectLst/>
            </a:endParaRPr>
          </a:p>
          <a:p>
            <a:br>
              <a:rPr lang="en-US" sz="2600">
                <a:solidFill>
                  <a:srgbClr val="92D050"/>
                </a:solidFill>
              </a:rPr>
            </a:br>
            <a:endParaRPr lang="en-US" sz="2600">
              <a:solidFill>
                <a:srgbClr val="92D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7AC6AD-4A6D-493E-AD81-5BC815BFF9D4}"/>
              </a:ext>
            </a:extLst>
          </p:cNvPr>
          <p:cNvSpPr txBox="1"/>
          <p:nvPr/>
        </p:nvSpPr>
        <p:spPr>
          <a:xfrm>
            <a:off x="2498118" y="6966816"/>
            <a:ext cx="712714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600" b="1" i="0" u="none" strike="noStrike">
                <a:solidFill>
                  <a:srgbClr val="92D050"/>
                </a:solidFill>
                <a:effectLst/>
              </a:rPr>
              <a:t>Safety Ratings:</a:t>
            </a:r>
            <a:r>
              <a:rPr lang="en-US" sz="2600" b="0" i="0" u="none" strike="noStrike">
                <a:solidFill>
                  <a:srgbClr val="92D050"/>
                </a:solidFill>
                <a:effectLst/>
              </a:rPr>
              <a:t> Machine Learning models can accurately predict NCAP safety ratings based on vehicle features.</a:t>
            </a:r>
            <a:endParaRPr lang="en-US" sz="2600" b="0">
              <a:solidFill>
                <a:srgbClr val="92D050"/>
              </a:solidFill>
              <a:effectLst/>
            </a:endParaRPr>
          </a:p>
          <a:p>
            <a:br>
              <a:rPr lang="en-US" sz="2600">
                <a:solidFill>
                  <a:srgbClr val="92D050"/>
                </a:solidFill>
              </a:rPr>
            </a:br>
            <a:endParaRPr lang="en-US" sz="2600">
              <a:solidFill>
                <a:srgbClr val="92D05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B06166-A2E7-43D0-845E-C9DE48020E41}"/>
              </a:ext>
            </a:extLst>
          </p:cNvPr>
          <p:cNvSpPr txBox="1"/>
          <p:nvPr/>
        </p:nvSpPr>
        <p:spPr>
          <a:xfrm>
            <a:off x="11364139" y="719820"/>
            <a:ext cx="9348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888888"/>
                </a:solidFill>
                <a:effectLst/>
                <a:latin typeface="Urbanist"/>
              </a:rPr>
              <a:t>Referenced Papers </a:t>
            </a:r>
            <a:r>
              <a:rPr lang="en-US">
                <a:solidFill>
                  <a:srgbClr val="888888"/>
                </a:solidFill>
                <a:latin typeface="Urbanist"/>
              </a:rPr>
              <a:t>:</a:t>
            </a:r>
            <a:endParaRPr lang="en-US" b="0">
              <a:effectLst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3E74E2-5EEE-41E4-8730-C61B97BED763}"/>
              </a:ext>
            </a:extLst>
          </p:cNvPr>
          <p:cNvSpPr txBox="1"/>
          <p:nvPr/>
        </p:nvSpPr>
        <p:spPr>
          <a:xfrm>
            <a:off x="11364139" y="1706380"/>
            <a:ext cx="103952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555555"/>
                </a:solidFill>
                <a:effectLst/>
                <a:latin typeface="Urbanist"/>
              </a:rPr>
              <a:t>2. Harnessing ADAS for Pedestrian Safety</a:t>
            </a:r>
            <a:endParaRPr lang="en-US" b="0">
              <a:effectLst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E05C10-5DD2-4350-BE64-021B92CC4B83}"/>
              </a:ext>
            </a:extLst>
          </p:cNvPr>
          <p:cNvSpPr txBox="1"/>
          <p:nvPr/>
        </p:nvSpPr>
        <p:spPr>
          <a:xfrm>
            <a:off x="11364139" y="1200753"/>
            <a:ext cx="109126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555555"/>
                </a:solidFill>
                <a:effectLst/>
                <a:latin typeface="Urbanist"/>
              </a:rPr>
              <a:t>1. Intelligent System for Automatic Detection of Traffic Rules Violation</a:t>
            </a:r>
            <a:endParaRPr lang="en-US" b="0">
              <a:effectLst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2320F8-5DEC-45FE-9407-9F1BE437BC10}"/>
              </a:ext>
            </a:extLst>
          </p:cNvPr>
          <p:cNvSpPr txBox="1"/>
          <p:nvPr/>
        </p:nvSpPr>
        <p:spPr>
          <a:xfrm>
            <a:off x="11364139" y="2210201"/>
            <a:ext cx="111773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555555"/>
                </a:solidFill>
                <a:effectLst/>
                <a:latin typeface="Urbanist"/>
              </a:rPr>
              <a:t>3. Predicting High NCAP Safety Ratings using ML Models</a:t>
            </a:r>
            <a:endParaRPr lang="en-US" b="0">
              <a:effectLst/>
            </a:endParaRPr>
          </a:p>
          <a:p>
            <a:br>
              <a:rPr lang="en-US"/>
            </a:b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240DF2-C3F7-491F-8E76-B889B7342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106" y="3150456"/>
            <a:ext cx="6182588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0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1446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183712" y="4519972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endParaRPr sz="2500" b="1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solidFill>
                  <a:schemeClr val="bg1"/>
                </a:solidFill>
              </a:rPr>
              <a:t>Example &amp; Findings (Category 1)</a:t>
            </a:r>
            <a:r>
              <a:rPr lang="en-US" sz="6000" b="1">
                <a:solidFill>
                  <a:schemeClr val="bg1"/>
                </a:solidFill>
                <a:ea typeface="Calibri"/>
                <a:cs typeface="Calibri"/>
              </a:rPr>
              <a:t> 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6936309" y="6955869"/>
            <a:ext cx="3060251" cy="3238501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196265" y="2214323"/>
            <a:ext cx="723011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>
                <a:solidFill>
                  <a:srgbClr val="DEFF9A"/>
                </a:solidFill>
                <a:effectLst/>
                <a:latin typeface="Urbanist"/>
              </a:rPr>
              <a:t>Example Outputs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E0E0E0"/>
                </a:solidFill>
                <a:effectLst/>
                <a:latin typeface="Urbanist"/>
              </a:rPr>
              <a:t>Visual Tracking: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 Bounding boxes that follow a vehicle across frames to establish a "track".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E0E0E0"/>
                </a:solidFill>
                <a:effectLst/>
                <a:latin typeface="Urbanist"/>
              </a:rPr>
              <a:t>Rule Validation: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 If the track crosses a "Stop Line" during a red signal $\</a:t>
            </a:r>
            <a:r>
              <a:rPr lang="en-US" sz="3200" b="0" i="0" err="1">
                <a:solidFill>
                  <a:srgbClr val="E0E0E0"/>
                </a:solidFill>
                <a:effectLst/>
                <a:latin typeface="Urbanist"/>
              </a:rPr>
              <a:t>rightarrow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$ **Violation Flagged** (Red Light Jump).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E0E0E0"/>
                </a:solidFill>
                <a:effectLst/>
                <a:latin typeface="Urbanist"/>
              </a:rPr>
              <a:t>Trajectory Analysis: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 Visual lines showing the path of moving vehicles to detect swerving or wrong-lane driving.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D85287C2-37C0-448D-873C-1CE5A806BF6F}"/>
              </a:ext>
            </a:extLst>
          </p:cNvPr>
          <p:cNvSpPr/>
          <p:nvPr/>
        </p:nvSpPr>
        <p:spPr>
          <a:xfrm>
            <a:off x="9144000" y="2172972"/>
            <a:ext cx="7885044" cy="6241774"/>
          </a:xfrm>
          <a:prstGeom prst="roundRect">
            <a:avLst>
              <a:gd name="adj" fmla="val 25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B471EDB-8F35-4D48-A0DE-27F4C64DC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225" y="2388913"/>
            <a:ext cx="3815900" cy="22520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31654C-ED0E-44E2-862C-533EC3B92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8254" y="2357889"/>
            <a:ext cx="3817530" cy="22830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106D11-74BB-4060-B678-4EF51166C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732" y="4738201"/>
            <a:ext cx="5951806" cy="357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13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231965"/>
            <a:ext cx="6886573" cy="390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99"/>
              </a:lnSpc>
            </a:pPr>
            <a:r>
              <a:rPr lang="en-US" sz="6000" b="1">
                <a:solidFill>
                  <a:srgbClr val="0070C0"/>
                </a:solidFill>
              </a:rPr>
              <a:t>Category 2: </a:t>
            </a:r>
            <a:r>
              <a:rPr lang="en-US" sz="6000" b="1">
                <a:solidFill>
                  <a:srgbClr val="0070C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Advancing Scene Segmentation</a:t>
            </a:r>
            <a:endParaRPr lang="en-US" sz="6000">
              <a:solidFill>
                <a:srgbClr val="0070C0"/>
              </a:solidFill>
            </a:endParaRPr>
          </a:p>
          <a:p>
            <a:pPr marL="0" lvl="0" indent="0" algn="l">
              <a:lnSpc>
                <a:spcPts val="7699"/>
              </a:lnSpc>
            </a:pPr>
            <a:endParaRPr lang="en-US" sz="6000" b="1" spc="-69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356E39-8510-4FFE-8301-E4CAFE2C20AC}"/>
              </a:ext>
            </a:extLst>
          </p:cNvPr>
          <p:cNvSpPr txBox="1"/>
          <p:nvPr/>
        </p:nvSpPr>
        <p:spPr>
          <a:xfrm>
            <a:off x="2498118" y="3418757"/>
            <a:ext cx="624363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>
                <a:solidFill>
                  <a:srgbClr val="92D050"/>
                </a:solidFill>
                <a:effectLst/>
                <a:latin typeface="Urbanist"/>
              </a:rPr>
              <a:t>Mask R-CNN:</a:t>
            </a:r>
            <a:r>
              <a:rPr lang="en-US" sz="2800" b="0" i="0">
                <a:solidFill>
                  <a:srgbClr val="92D050"/>
                </a:solidFill>
                <a:effectLst/>
                <a:latin typeface="Urbanist"/>
              </a:rPr>
              <a:t> Identified as the baseline. Provides pixel-level masks crucial for object presence analysis (Instance Segmentation).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err="1">
                <a:solidFill>
                  <a:srgbClr val="92D050"/>
                </a:solidFill>
                <a:effectLst/>
                <a:latin typeface="Urbanist"/>
              </a:rPr>
              <a:t>PSPNet</a:t>
            </a:r>
            <a:r>
              <a:rPr lang="en-US" sz="2800" b="1" i="0">
                <a:solidFill>
                  <a:srgbClr val="92D050"/>
                </a:solidFill>
                <a:effectLst/>
                <a:latin typeface="Urbanist"/>
              </a:rPr>
              <a:t>:</a:t>
            </a:r>
            <a:r>
              <a:rPr lang="en-US" sz="2800" b="0" i="0">
                <a:solidFill>
                  <a:srgbClr val="92D050"/>
                </a:solidFill>
                <a:effectLst/>
                <a:latin typeface="Urbanist"/>
              </a:rPr>
              <a:t> Excellent for global scene context (e.g., separating road from sky) which aids in risk assessment (Semantic Segmentation).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>
                <a:solidFill>
                  <a:srgbClr val="92D050"/>
                </a:solidFill>
                <a:effectLst/>
                <a:latin typeface="Urbanist"/>
              </a:rPr>
              <a:t>GANs:</a:t>
            </a:r>
            <a:r>
              <a:rPr lang="en-US" sz="2800" b="0" i="0">
                <a:solidFill>
                  <a:srgbClr val="92D050"/>
                </a:solidFill>
                <a:effectLst/>
                <a:latin typeface="Urbanist"/>
              </a:rPr>
              <a:t> Potential for detecting faded/damaged road markings, essential in unstructured environments.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B06166-A2E7-43D0-845E-C9DE48020E41}"/>
              </a:ext>
            </a:extLst>
          </p:cNvPr>
          <p:cNvSpPr txBox="1"/>
          <p:nvPr/>
        </p:nvSpPr>
        <p:spPr>
          <a:xfrm>
            <a:off x="11364139" y="719820"/>
            <a:ext cx="9348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888888"/>
                </a:solidFill>
                <a:effectLst/>
                <a:latin typeface="Urbanist"/>
              </a:rPr>
              <a:t>Referenced Papers </a:t>
            </a:r>
            <a:r>
              <a:rPr lang="en-US">
                <a:solidFill>
                  <a:srgbClr val="888888"/>
                </a:solidFill>
                <a:latin typeface="Urbanist"/>
              </a:rPr>
              <a:t>:</a:t>
            </a:r>
            <a:endParaRPr lang="en-US" b="0">
              <a:effectLst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3E74E2-5EEE-41E4-8730-C61B97BED763}"/>
              </a:ext>
            </a:extLst>
          </p:cNvPr>
          <p:cNvSpPr txBox="1"/>
          <p:nvPr/>
        </p:nvSpPr>
        <p:spPr>
          <a:xfrm>
            <a:off x="11364139" y="1181485"/>
            <a:ext cx="103952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>
                <a:solidFill>
                  <a:srgbClr val="555555"/>
                </a:solidFill>
                <a:effectLst/>
                <a:latin typeface="Urbanist"/>
              </a:rPr>
              <a:t>4. Road Marking Segmentation with GAN</a:t>
            </a:r>
          </a:p>
          <a:p>
            <a:pPr algn="l"/>
            <a:r>
              <a:rPr lang="en-US" b="0" i="0">
                <a:solidFill>
                  <a:srgbClr val="555555"/>
                </a:solidFill>
                <a:effectLst/>
                <a:latin typeface="Urbanist"/>
              </a:rPr>
              <a:t>7. Mask R-CNN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B9FFCE-2F8D-421B-AC3F-9EB2C34C2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49" y="2501169"/>
            <a:ext cx="7364012" cy="57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12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1446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183712" y="4519972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endParaRPr sz="2500" b="1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solidFill>
                  <a:schemeClr val="bg1"/>
                </a:solidFill>
              </a:rPr>
              <a:t>Example &amp; Findings (Category 2)</a:t>
            </a:r>
            <a:r>
              <a:rPr lang="en-US" sz="6000" b="1">
                <a:solidFill>
                  <a:schemeClr val="bg1"/>
                </a:solidFill>
                <a:ea typeface="Calibri"/>
                <a:cs typeface="Calibri"/>
              </a:rPr>
              <a:t> 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6599403" y="7109368"/>
            <a:ext cx="3060251" cy="3238501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196265" y="2214323"/>
            <a:ext cx="723011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>
                <a:solidFill>
                  <a:srgbClr val="DEFF9A"/>
                </a:solidFill>
                <a:effectLst/>
                <a:latin typeface="Urbanist"/>
              </a:rPr>
              <a:t>Example Outputs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E0E0E0"/>
                </a:solidFill>
                <a:effectLst/>
                <a:latin typeface="Urbanist"/>
              </a:rPr>
              <a:t>Instance Masking: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 Separates every unique object (Car A, Car B, Pedestrian 1, Pedestrian 2) with its own mask.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E0E0E0"/>
                </a:solidFill>
                <a:effectLst/>
                <a:latin typeface="Urbanist"/>
              </a:rPr>
              <a:t>Semantic Masking: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 Classifies the entire image into categories like 'Road', 'Sidewalk', 'Building', providing context.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E0E0E0"/>
                </a:solidFill>
                <a:effectLst/>
                <a:latin typeface="Urbanist"/>
              </a:rPr>
              <a:t>Precision Input: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 High-resolution pixel masks are used as input for precise velocity and distance calculations (e.g., PAEB).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F0D99F65-44AA-447E-AAE3-A372A4D9E94F}"/>
              </a:ext>
            </a:extLst>
          </p:cNvPr>
          <p:cNvSpPr/>
          <p:nvPr/>
        </p:nvSpPr>
        <p:spPr>
          <a:xfrm>
            <a:off x="9144000" y="2172972"/>
            <a:ext cx="7885044" cy="6241774"/>
          </a:xfrm>
          <a:prstGeom prst="roundRect">
            <a:avLst>
              <a:gd name="adj" fmla="val 25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CD0028-11C4-4774-99A1-8BA3C658B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779" y="2214323"/>
            <a:ext cx="6764900" cy="623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1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231965"/>
            <a:ext cx="6886573" cy="3713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6000" b="1">
                <a:solidFill>
                  <a:srgbClr val="0070C0"/>
                </a:solidFill>
              </a:rPr>
              <a:t>Category 2: </a:t>
            </a:r>
            <a:r>
              <a:rPr lang="en-US" sz="6000" b="1" i="0">
                <a:solidFill>
                  <a:srgbClr val="0070C0"/>
                </a:solidFill>
                <a:effectLst/>
                <a:latin typeface="Urbanist"/>
              </a:rPr>
              <a:t>Data &amp; Model Review Insights</a:t>
            </a:r>
          </a:p>
          <a:p>
            <a:pPr marL="0" lvl="0" indent="0" algn="l">
              <a:lnSpc>
                <a:spcPts val="7699"/>
              </a:lnSpc>
            </a:pPr>
            <a:endParaRPr lang="en-US" sz="6000" b="1" spc="-69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356E39-8510-4FFE-8301-E4CAFE2C20AC}"/>
              </a:ext>
            </a:extLst>
          </p:cNvPr>
          <p:cNvSpPr txBox="1"/>
          <p:nvPr/>
        </p:nvSpPr>
        <p:spPr>
          <a:xfrm>
            <a:off x="2498118" y="3418757"/>
            <a:ext cx="624363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>
                <a:solidFill>
                  <a:schemeClr val="accent3"/>
                </a:solidFill>
                <a:effectLst/>
                <a:latin typeface="Urbanist"/>
              </a:rPr>
              <a:t>Blur Kernel Estimation:</a:t>
            </a:r>
            <a:r>
              <a:rPr lang="en-US" sz="2800" b="0" i="0">
                <a:solidFill>
                  <a:schemeClr val="accent3"/>
                </a:solidFill>
                <a:effectLst/>
                <a:latin typeface="Urbanist"/>
              </a:rPr>
              <a:t> Critical pre-processing step to counteract motion blur from ego-centric (bike) camera movement.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>
                <a:solidFill>
                  <a:schemeClr val="accent3"/>
                </a:solidFill>
                <a:effectLst/>
                <a:latin typeface="Urbanist"/>
              </a:rPr>
              <a:t>Deep Learning Review:</a:t>
            </a:r>
            <a:r>
              <a:rPr lang="en-US" sz="2800" b="0" i="0">
                <a:solidFill>
                  <a:schemeClr val="accent3"/>
                </a:solidFill>
                <a:effectLst/>
                <a:latin typeface="Urbanist"/>
              </a:rPr>
              <a:t> Confirms U-Net and Attention mechanisms are highly effective for complex segmentation and feature extraction tasks.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>
                <a:solidFill>
                  <a:schemeClr val="accent3"/>
                </a:solidFill>
                <a:effectLst/>
                <a:latin typeface="Urbanist"/>
              </a:rPr>
              <a:t>Transfer Learning:</a:t>
            </a:r>
            <a:r>
              <a:rPr lang="en-US" sz="2800" b="0" i="0">
                <a:solidFill>
                  <a:schemeClr val="accent3"/>
                </a:solidFill>
                <a:effectLst/>
                <a:latin typeface="Urbanist"/>
              </a:rPr>
              <a:t> Use of pre-trained models (YOLO, </a:t>
            </a:r>
            <a:r>
              <a:rPr lang="en-US" sz="2800" b="0" i="0" err="1">
                <a:solidFill>
                  <a:schemeClr val="accent3"/>
                </a:solidFill>
                <a:effectLst/>
                <a:latin typeface="Urbanist"/>
              </a:rPr>
              <a:t>ResNet</a:t>
            </a:r>
            <a:r>
              <a:rPr lang="en-US" sz="2800" b="0" i="0">
                <a:solidFill>
                  <a:schemeClr val="accent3"/>
                </a:solidFill>
                <a:effectLst/>
                <a:latin typeface="Urbanist"/>
              </a:rPr>
              <a:t>) is standard practice to reduce training time and improve generalization.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B06166-A2E7-43D0-845E-C9DE48020E41}"/>
              </a:ext>
            </a:extLst>
          </p:cNvPr>
          <p:cNvSpPr txBox="1"/>
          <p:nvPr/>
        </p:nvSpPr>
        <p:spPr>
          <a:xfrm>
            <a:off x="11364139" y="719820"/>
            <a:ext cx="93485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>
                <a:solidFill>
                  <a:srgbClr val="888888"/>
                </a:solidFill>
                <a:effectLst/>
                <a:latin typeface="Urbanist"/>
              </a:rPr>
              <a:t>Referenced Papers </a:t>
            </a:r>
            <a:r>
              <a:rPr lang="en-US">
                <a:solidFill>
                  <a:srgbClr val="888888"/>
                </a:solidFill>
                <a:latin typeface="Urbanist"/>
              </a:rPr>
              <a:t>:</a:t>
            </a:r>
            <a:endParaRPr lang="en-US" b="0">
              <a:effectLst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3E74E2-5EEE-41E4-8730-C61B97BED763}"/>
              </a:ext>
            </a:extLst>
          </p:cNvPr>
          <p:cNvSpPr txBox="1"/>
          <p:nvPr/>
        </p:nvSpPr>
        <p:spPr>
          <a:xfrm>
            <a:off x="11364139" y="1084742"/>
            <a:ext cx="103952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>
                <a:solidFill>
                  <a:srgbClr val="555555"/>
                </a:solidFill>
                <a:effectLst/>
                <a:latin typeface="Urbanist"/>
              </a:rPr>
              <a:t>6. Novel Image Blur Kernel Estimation</a:t>
            </a:r>
          </a:p>
          <a:p>
            <a:pPr algn="l"/>
            <a:r>
              <a:rPr lang="en-US" b="0" i="0">
                <a:solidFill>
                  <a:srgbClr val="555555"/>
                </a:solidFill>
                <a:effectLst/>
                <a:latin typeface="Urbanist"/>
              </a:rPr>
              <a:t>8. Semantic Segmentation Review</a:t>
            </a:r>
          </a:p>
        </p:txBody>
      </p:sp>
      <p:pic>
        <p:nvPicPr>
          <p:cNvPr id="1026" name="Picture 2" descr="Electronics 11 01884 g002">
            <a:extLst>
              <a:ext uri="{FF2B5EF4-FFF2-40B4-BE49-F238E27FC236}">
                <a16:creationId xmlns:a16="http://schemas.microsoft.com/office/drawing/2014/main" id="{BD233581-D34E-4F3D-BC0C-8D7B9123C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1920" y="3250433"/>
            <a:ext cx="8955438" cy="447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80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1446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183712" y="4519972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endParaRPr sz="2500" b="1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solidFill>
                  <a:schemeClr val="bg1"/>
                </a:solidFill>
              </a:rPr>
              <a:t>Example &amp; Findings (Category 2)</a:t>
            </a:r>
            <a:r>
              <a:rPr lang="en-US" sz="6000" b="1">
                <a:solidFill>
                  <a:schemeClr val="bg1"/>
                </a:solidFill>
                <a:ea typeface="Calibri"/>
                <a:cs typeface="Calibri"/>
              </a:rPr>
              <a:t> 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7185577" y="7455237"/>
            <a:ext cx="3060251" cy="3238501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196265" y="2214323"/>
            <a:ext cx="723011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>
                <a:solidFill>
                  <a:srgbClr val="DEFF9A"/>
                </a:solidFill>
                <a:effectLst/>
                <a:latin typeface="Urbanist"/>
              </a:rPr>
              <a:t>Example Outputs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E0E0E0"/>
                </a:solidFill>
                <a:effectLst/>
                <a:latin typeface="Urbanist"/>
              </a:rPr>
              <a:t>Image Restoration: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 Raw, motion-blurred frames are transformed into sharp, high-quality images ready for detection.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E0E0E0"/>
                </a:solidFill>
                <a:effectLst/>
                <a:latin typeface="Urbanist"/>
              </a:rPr>
              <a:t>Performance Gain: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 Models trained on de-blurred images show a significant increase in metrics (e.g., $+5\%$ </a:t>
            </a:r>
            <a:r>
              <a:rPr lang="en-US" sz="3200" b="0" i="0" err="1">
                <a:solidFill>
                  <a:srgbClr val="E0E0E0"/>
                </a:solidFill>
                <a:effectLst/>
                <a:latin typeface="Urbanist"/>
              </a:rPr>
              <a:t>mIoU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) compared to raw input.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E0E0E0"/>
                </a:solidFill>
                <a:effectLst/>
                <a:latin typeface="Urbanist"/>
              </a:rPr>
              <a:t>Architecture Validation:</a:t>
            </a:r>
            <a:r>
              <a:rPr lang="en-US" sz="3200" b="0" i="0">
                <a:solidFill>
                  <a:srgbClr val="E0E0E0"/>
                </a:solidFill>
                <a:effectLst/>
                <a:latin typeface="Urbanist"/>
              </a:rPr>
              <a:t> Review confirms the suitability of a lightweight, multi-task framework (like YOLO-based) for real-time edge deployment.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D1B4C-77A6-4B4C-87E8-19045EA4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250" y="1912308"/>
            <a:ext cx="6744641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1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231965"/>
            <a:ext cx="6886573" cy="1931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>
                <a:solidFill>
                  <a:srgbClr val="0070C0"/>
                </a:solidFill>
              </a:rPr>
              <a:t>Conclusion &amp; Implementation:</a:t>
            </a:r>
            <a:endParaRPr lang="en-US" sz="6000" b="1" spc="-69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23" name="Shape 2">
            <a:extLst>
              <a:ext uri="{FF2B5EF4-FFF2-40B4-BE49-F238E27FC236}">
                <a16:creationId xmlns:a16="http://schemas.microsoft.com/office/drawing/2014/main" id="{7A2957FC-1562-4902-8041-034D9DEF61CD}"/>
              </a:ext>
            </a:extLst>
          </p:cNvPr>
          <p:cNvSpPr/>
          <p:nvPr/>
        </p:nvSpPr>
        <p:spPr>
          <a:xfrm>
            <a:off x="2967632" y="3361654"/>
            <a:ext cx="4306253" cy="3081933"/>
          </a:xfrm>
          <a:prstGeom prst="roundRect">
            <a:avLst>
              <a:gd name="adj" fmla="val 25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A32DBA-8FB7-4CEA-A3EF-CE6709BA506B}"/>
              </a:ext>
            </a:extLst>
          </p:cNvPr>
          <p:cNvSpPr txBox="1"/>
          <p:nvPr/>
        </p:nvSpPr>
        <p:spPr>
          <a:xfrm>
            <a:off x="3145341" y="4524881"/>
            <a:ext cx="4306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chemeClr val="accent3"/>
                </a:solidFill>
                <a:effectLst/>
                <a:latin typeface="Urbanist"/>
              </a:rPr>
              <a:t>Baseline Selected</a:t>
            </a:r>
          </a:p>
          <a:p>
            <a:pPr algn="l"/>
            <a:r>
              <a:rPr lang="en-US" b="1" i="0">
                <a:solidFill>
                  <a:schemeClr val="accent3"/>
                </a:solidFill>
                <a:effectLst/>
                <a:latin typeface="Urbanist"/>
              </a:rPr>
              <a:t>Mask R-CNN</a:t>
            </a:r>
            <a:r>
              <a:rPr lang="en-US" b="0" i="0">
                <a:solidFill>
                  <a:schemeClr val="accent3"/>
                </a:solidFill>
                <a:effectLst/>
                <a:latin typeface="Urbanist"/>
              </a:rPr>
              <a:t> selected for core detection tasks.</a:t>
            </a: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EF3AE720-B98A-4A11-A1DF-65EA17361C14}"/>
              </a:ext>
            </a:extLst>
          </p:cNvPr>
          <p:cNvSpPr/>
          <p:nvPr/>
        </p:nvSpPr>
        <p:spPr>
          <a:xfrm>
            <a:off x="8333477" y="3273731"/>
            <a:ext cx="4306253" cy="3081933"/>
          </a:xfrm>
          <a:prstGeom prst="roundRect">
            <a:avLst>
              <a:gd name="adj" fmla="val 25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607A7-8A0F-4135-8ABA-30F3D5F51510}"/>
              </a:ext>
            </a:extLst>
          </p:cNvPr>
          <p:cNvSpPr txBox="1"/>
          <p:nvPr/>
        </p:nvSpPr>
        <p:spPr>
          <a:xfrm>
            <a:off x="8333477" y="4276054"/>
            <a:ext cx="4306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chemeClr val="accent3"/>
                </a:solidFill>
                <a:effectLst/>
                <a:latin typeface="Urbanist"/>
              </a:rPr>
              <a:t>Logic Defined</a:t>
            </a:r>
          </a:p>
          <a:p>
            <a:pPr algn="l"/>
            <a:r>
              <a:rPr lang="en-US" b="0" i="0">
                <a:solidFill>
                  <a:schemeClr val="accent3"/>
                </a:solidFill>
                <a:effectLst/>
                <a:latin typeface="Urbanist"/>
              </a:rPr>
              <a:t>Will implement tracking logic from Cluster 1 findings.</a:t>
            </a: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27B08454-80AA-4237-9CED-72AEBB4290F0}"/>
              </a:ext>
            </a:extLst>
          </p:cNvPr>
          <p:cNvSpPr/>
          <p:nvPr/>
        </p:nvSpPr>
        <p:spPr>
          <a:xfrm>
            <a:off x="13404439" y="3284998"/>
            <a:ext cx="4306253" cy="3081933"/>
          </a:xfrm>
          <a:prstGeom prst="roundRect">
            <a:avLst>
              <a:gd name="adj" fmla="val 259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7DAA31-3A8A-4652-A1AC-B9D423B79B44}"/>
              </a:ext>
            </a:extLst>
          </p:cNvPr>
          <p:cNvSpPr txBox="1"/>
          <p:nvPr/>
        </p:nvSpPr>
        <p:spPr>
          <a:xfrm>
            <a:off x="13404439" y="4276054"/>
            <a:ext cx="3727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chemeClr val="accent3"/>
                </a:solidFill>
                <a:effectLst/>
                <a:latin typeface="Urbanist"/>
              </a:rPr>
              <a:t>Data Prep</a:t>
            </a:r>
          </a:p>
          <a:p>
            <a:pPr algn="l"/>
            <a:r>
              <a:rPr lang="en-US" b="0" i="0">
                <a:solidFill>
                  <a:schemeClr val="accent3"/>
                </a:solidFill>
                <a:effectLst/>
                <a:latin typeface="Urbanist"/>
              </a:rPr>
              <a:t>Blur correction will be applied to the dataset first (Cluster 3).</a:t>
            </a:r>
          </a:p>
        </p:txBody>
      </p:sp>
      <p:pic>
        <p:nvPicPr>
          <p:cNvPr id="21" name="Graphic 20" descr="Checkmark with solid fill">
            <a:extLst>
              <a:ext uri="{FF2B5EF4-FFF2-40B4-BE49-F238E27FC236}">
                <a16:creationId xmlns:a16="http://schemas.microsoft.com/office/drawing/2014/main" id="{604BFAB1-0067-4FD1-A293-044F093E0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3913" y="3361654"/>
            <a:ext cx="914400" cy="914400"/>
          </a:xfrm>
          <a:prstGeom prst="rect">
            <a:avLst/>
          </a:prstGeom>
        </p:spPr>
      </p:pic>
      <p:pic>
        <p:nvPicPr>
          <p:cNvPr id="32" name="Graphic 31" descr="Video camera with solid fill">
            <a:extLst>
              <a:ext uri="{FF2B5EF4-FFF2-40B4-BE49-F238E27FC236}">
                <a16:creationId xmlns:a16="http://schemas.microsoft.com/office/drawing/2014/main" id="{8FFA8063-459D-4338-8D8D-FD1BFEE44E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9758" y="3263492"/>
            <a:ext cx="914400" cy="914400"/>
          </a:xfrm>
          <a:prstGeom prst="rect">
            <a:avLst/>
          </a:prstGeom>
        </p:spPr>
      </p:pic>
      <p:pic>
        <p:nvPicPr>
          <p:cNvPr id="34" name="Graphic 33" descr="Books with solid fill">
            <a:extLst>
              <a:ext uri="{FF2B5EF4-FFF2-40B4-BE49-F238E27FC236}">
                <a16:creationId xmlns:a16="http://schemas.microsoft.com/office/drawing/2014/main" id="{BD4F4EB5-010F-4EE2-B288-4CD2A1D5A7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80669" y="336165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46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146538" y="-142784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537504-2527-1616-797E-F8202DD8C744}"/>
              </a:ext>
            </a:extLst>
          </p:cNvPr>
          <p:cNvGrpSpPr/>
          <p:nvPr/>
        </p:nvGrpSpPr>
        <p:grpSpPr>
          <a:xfrm>
            <a:off x="9" y="3506023"/>
            <a:ext cx="16588144" cy="1329746"/>
            <a:chOff x="3182425" y="3506023"/>
            <a:chExt cx="1084860" cy="6359977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0966A004-6C73-ED32-89FF-9E77E20E7BE8}"/>
                </a:ext>
              </a:extLst>
            </p:cNvPr>
            <p:cNvSpPr/>
            <p:nvPr/>
          </p:nvSpPr>
          <p:spPr>
            <a:xfrm>
              <a:off x="3182425" y="9259286"/>
              <a:ext cx="405385" cy="606714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7D76C5C5-8B20-48E7-A3A2-2BF5EF2E4E6A}"/>
                </a:ext>
              </a:extLst>
            </p:cNvPr>
            <p:cNvSpPr txBox="1"/>
            <p:nvPr/>
          </p:nvSpPr>
          <p:spPr>
            <a:xfrm>
              <a:off x="3414347" y="3506023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B5A4E3-7598-584E-FDF0-61F079D2445E}"/>
              </a:ext>
            </a:extLst>
          </p:cNvPr>
          <p:cNvGrpSpPr/>
          <p:nvPr/>
        </p:nvGrpSpPr>
        <p:grpSpPr>
          <a:xfrm>
            <a:off x="19" y="2377677"/>
            <a:ext cx="16734674" cy="2243316"/>
            <a:chOff x="3172842" y="3506023"/>
            <a:chExt cx="1094443" cy="10729446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418B3947-5B98-2CCD-F9AD-F346A3F2885A}"/>
                </a:ext>
              </a:extLst>
            </p:cNvPr>
            <p:cNvSpPr/>
            <p:nvPr/>
          </p:nvSpPr>
          <p:spPr>
            <a:xfrm flipV="1">
              <a:off x="3172842" y="13720791"/>
              <a:ext cx="405385" cy="514678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E80C229-E174-5AB3-FAB3-6351B5A7160E}"/>
                </a:ext>
              </a:extLst>
            </p:cNvPr>
            <p:cNvSpPr txBox="1"/>
            <p:nvPr/>
          </p:nvSpPr>
          <p:spPr>
            <a:xfrm>
              <a:off x="3414347" y="3506023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6583240" y="3817327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THANK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C982EA-A270-FF9B-0158-0C06B32CB517}"/>
              </a:ext>
            </a:extLst>
          </p:cNvPr>
          <p:cNvSpPr txBox="1"/>
          <p:nvPr/>
        </p:nvSpPr>
        <p:spPr>
          <a:xfrm>
            <a:off x="9780487" y="4799453"/>
            <a:ext cx="9342782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baseline="0">
                <a:solidFill>
                  <a:schemeClr val="bg1"/>
                </a:solidFill>
                <a:latin typeface="Arial Black"/>
              </a:rPr>
              <a:t>YOU</a:t>
            </a:r>
            <a:endParaRPr lang="en-US" sz="6000">
              <a:solidFill>
                <a:schemeClr val="bg1"/>
              </a:solidFill>
              <a:latin typeface="Arial Black"/>
              <a:ea typeface="Calibri"/>
              <a:cs typeface="Calibri"/>
            </a:endParaRPr>
          </a:p>
          <a:p>
            <a:pPr algn="ctr"/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20D05EBA-8541-6E80-C5C7-CD03BBC1B390}"/>
              </a:ext>
            </a:extLst>
          </p:cNvPr>
          <p:cNvSpPr/>
          <p:nvPr/>
        </p:nvSpPr>
        <p:spPr>
          <a:xfrm>
            <a:off x="12095294" y="5989663"/>
            <a:ext cx="6198574" cy="126852"/>
          </a:xfrm>
          <a:custGeom>
            <a:avLst/>
            <a:gdLst/>
            <a:ahLst/>
            <a:cxnLst/>
            <a:rect l="l" t="t" r="r" b="b"/>
            <a:pathLst>
              <a:path w="852938" h="2709333">
                <a:moveTo>
                  <a:pt x="0" y="0"/>
                </a:moveTo>
                <a:lnTo>
                  <a:pt x="852938" y="0"/>
                </a:lnTo>
                <a:lnTo>
                  <a:pt x="852938" y="2709333"/>
                </a:lnTo>
                <a:lnTo>
                  <a:pt x="0" y="270933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A0D9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B070343A-E5C4-34AB-6635-A402F8FB21EE}"/>
              </a:ext>
            </a:extLst>
          </p:cNvPr>
          <p:cNvSpPr/>
          <p:nvPr/>
        </p:nvSpPr>
        <p:spPr>
          <a:xfrm flipV="1">
            <a:off x="12095304" y="6233746"/>
            <a:ext cx="6198574" cy="107609"/>
          </a:xfrm>
          <a:custGeom>
            <a:avLst/>
            <a:gdLst/>
            <a:ahLst/>
            <a:cxnLst/>
            <a:rect l="l" t="t" r="r" b="b"/>
            <a:pathLst>
              <a:path w="852938" h="2709333">
                <a:moveTo>
                  <a:pt x="0" y="0"/>
                </a:moveTo>
                <a:lnTo>
                  <a:pt x="852938" y="0"/>
                </a:lnTo>
                <a:lnTo>
                  <a:pt x="852938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 descr="A logo of a university&#10;&#10;AI-generated content may be incorrect.">
            <a:extLst>
              <a:ext uri="{FF2B5EF4-FFF2-40B4-BE49-F238E27FC236}">
                <a16:creationId xmlns:a16="http://schemas.microsoft.com/office/drawing/2014/main" id="{11206C05-1FD3-CAD0-5F64-1211FE43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053" y="8018839"/>
            <a:ext cx="1709913" cy="150055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C4B2147-C344-F8C9-8FEC-44EAA0476170}"/>
              </a:ext>
            </a:extLst>
          </p:cNvPr>
          <p:cNvSpPr txBox="1"/>
          <p:nvPr/>
        </p:nvSpPr>
        <p:spPr>
          <a:xfrm>
            <a:off x="7730806" y="9528662"/>
            <a:ext cx="296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PREMIer UNIVERSITY</a:t>
            </a:r>
          </a:p>
        </p:txBody>
      </p:sp>
    </p:spTree>
    <p:extLst>
      <p:ext uri="{BB962C8B-B14F-4D97-AF65-F5344CB8AC3E}">
        <p14:creationId xmlns:p14="http://schemas.microsoft.com/office/powerpoint/2010/main" val="61973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Innovations in Sustainable Design</dc:title>
  <dc:creator>abhi kumar</dc:creator>
  <dc:description>Presentation - Innovations in Sustainable Design</dc:description>
  <cp:revision>2</cp:revision>
  <dcterms:created xsi:type="dcterms:W3CDTF">2006-08-16T00:00:00Z</dcterms:created>
  <dcterms:modified xsi:type="dcterms:W3CDTF">2025-12-02T08:23:55Z</dcterms:modified>
  <dc:identifier>DAG6GVWpC6w</dc:identifier>
</cp:coreProperties>
</file>