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5" r:id="rId4"/>
    <p:sldId id="261" r:id="rId5"/>
    <p:sldId id="263" r:id="rId6"/>
    <p:sldId id="266" r:id="rId7"/>
    <p:sldId id="267" r:id="rId8"/>
    <p:sldId id="271" r:id="rId9"/>
    <p:sldId id="272" r:id="rId10"/>
    <p:sldId id="268" r:id="rId11"/>
    <p:sldId id="273" r:id="rId12"/>
    <p:sldId id="274" r:id="rId13"/>
    <p:sldId id="275" r:id="rId14"/>
    <p:sldId id="276" r:id="rId15"/>
    <p:sldId id="277" r:id="rId16"/>
    <p:sldId id="269" r:id="rId17"/>
  </p:sldIdLst>
  <p:sldSz cx="18288000" cy="10287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Telegraf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E44"/>
    <a:srgbClr val="2AA7E1"/>
    <a:srgbClr val="120078"/>
    <a:srgbClr val="009EC5"/>
    <a:srgbClr val="A0D9F7"/>
    <a:srgbClr val="4F81BD"/>
    <a:srgbClr val="13A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FBD08-0403-CC59-7826-7186DE28A537}" v="2" dt="2025-12-02T07:28:19.235"/>
    <p1510:client id="{92DE8C22-B854-4090-B1FC-0B81F61CF577}" v="9" dt="2025-12-02T06:03:33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ifa Hoque" userId="54e6b855e0b258e6" providerId="Windows Live" clId="Web-{194FBD08-0403-CC59-7826-7186DE28A537}"/>
    <pc:docChg chg="addSld delSld">
      <pc:chgData name="Afifa Hoque" userId="54e6b855e0b258e6" providerId="Windows Live" clId="Web-{194FBD08-0403-CC59-7826-7186DE28A537}" dt="2025-12-02T07:28:19.235" v="1"/>
      <pc:docMkLst>
        <pc:docMk/>
      </pc:docMkLst>
      <pc:sldChg chg="new del">
        <pc:chgData name="Afifa Hoque" userId="54e6b855e0b258e6" providerId="Windows Live" clId="Web-{194FBD08-0403-CC59-7826-7186DE28A537}" dt="2025-12-02T07:28:19.235" v="1"/>
        <pc:sldMkLst>
          <pc:docMk/>
          <pc:sldMk cId="479064376" sldId="278"/>
        </pc:sldMkLst>
      </pc:sldChg>
    </pc:docChg>
  </pc:docChgLst>
  <pc:docChgLst>
    <pc:chgData name="Afifa Hoque" userId="54e6b855e0b258e6" providerId="Windows Live" clId="Web-{92DE8C22-B854-4090-B1FC-0B81F61CF577}"/>
    <pc:docChg chg="modSld">
      <pc:chgData name="Afifa Hoque" userId="54e6b855e0b258e6" providerId="Windows Live" clId="Web-{92DE8C22-B854-4090-B1FC-0B81F61CF577}" dt="2025-12-02T06:03:33.863" v="8" actId="20577"/>
      <pc:docMkLst>
        <pc:docMk/>
      </pc:docMkLst>
      <pc:sldChg chg="modSp">
        <pc:chgData name="Afifa Hoque" userId="54e6b855e0b258e6" providerId="Windows Live" clId="Web-{92DE8C22-B854-4090-B1FC-0B81F61CF577}" dt="2025-12-02T06:03:33.863" v="8" actId="20577"/>
        <pc:sldMkLst>
          <pc:docMk/>
          <pc:sldMk cId="2681513990" sldId="263"/>
        </pc:sldMkLst>
        <pc:spChg chg="mod">
          <ac:chgData name="Afifa Hoque" userId="54e6b855e0b258e6" providerId="Windows Live" clId="Web-{92DE8C22-B854-4090-B1FC-0B81F61CF577}" dt="2025-12-02T06:03:33.863" v="8" actId="20577"/>
          <ac:spMkLst>
            <pc:docMk/>
            <pc:sldMk cId="2681513990" sldId="263"/>
            <ac:spMk id="18" creationId="{7D76C5C5-8B20-48E7-A3A2-2BF5EF2E4E6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0DBA7B-BF84-44C9-BFFE-81D4796495F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64B011-FC39-4117-9EE0-A0B5136BFFE2}">
      <dgm:prSet/>
      <dgm:spPr/>
      <dgm:t>
        <a:bodyPr/>
        <a:lstStyle/>
        <a:p>
          <a:r>
            <a:rPr lang="en-US"/>
            <a:t>Scene Perception</a:t>
          </a:r>
          <a:br>
            <a:rPr lang="en-US"/>
          </a:br>
          <a:r>
            <a:rPr lang="en-US"/>
            <a:t> &amp; </a:t>
          </a:r>
        </a:p>
        <a:p>
          <a:r>
            <a:rPr lang="en-US"/>
            <a:t>Object Detection </a:t>
          </a:r>
        </a:p>
      </dgm:t>
    </dgm:pt>
    <dgm:pt modelId="{DA82699F-448A-4946-8E7A-AFC979AAD811}" type="parTrans" cxnId="{B0DB9B94-E8FA-4AE2-B89E-7D6AC30026DF}">
      <dgm:prSet/>
      <dgm:spPr/>
      <dgm:t>
        <a:bodyPr/>
        <a:lstStyle/>
        <a:p>
          <a:endParaRPr lang="en-US"/>
        </a:p>
      </dgm:t>
    </dgm:pt>
    <dgm:pt modelId="{D3520F59-9D34-4227-B87C-C90A4A5208CD}" type="sibTrans" cxnId="{B0DB9B94-E8FA-4AE2-B89E-7D6AC30026DF}">
      <dgm:prSet/>
      <dgm:spPr/>
      <dgm:t>
        <a:bodyPr/>
        <a:lstStyle/>
        <a:p>
          <a:endParaRPr lang="en-US"/>
        </a:p>
      </dgm:t>
    </dgm:pt>
    <dgm:pt modelId="{070EF76D-D21E-43B2-8570-C43330EE6F02}">
      <dgm:prSet/>
      <dgm:spPr/>
      <dgm:t>
        <a:bodyPr/>
        <a:lstStyle/>
        <a:p>
          <a:r>
            <a:rPr lang="en-US"/>
            <a:t>Human Behavior Analysis</a:t>
          </a:r>
        </a:p>
      </dgm:t>
    </dgm:pt>
    <dgm:pt modelId="{FA5886A0-0A95-4FA4-AC38-5257D3DBE251}" type="parTrans" cxnId="{8B25BC5C-83AC-41D1-A141-ACE5308EB3EC}">
      <dgm:prSet/>
      <dgm:spPr/>
      <dgm:t>
        <a:bodyPr/>
        <a:lstStyle/>
        <a:p>
          <a:endParaRPr lang="en-US"/>
        </a:p>
      </dgm:t>
    </dgm:pt>
    <dgm:pt modelId="{A88D1D12-B7E4-4EED-AEEF-D2A5ABBC676A}" type="sibTrans" cxnId="{8B25BC5C-83AC-41D1-A141-ACE5308EB3EC}">
      <dgm:prSet/>
      <dgm:spPr/>
      <dgm:t>
        <a:bodyPr/>
        <a:lstStyle/>
        <a:p>
          <a:endParaRPr lang="en-US"/>
        </a:p>
      </dgm:t>
    </dgm:pt>
    <dgm:pt modelId="{8815D506-46D1-451B-A139-652927949BA9}">
      <dgm:prSet/>
      <dgm:spPr/>
      <dgm:t>
        <a:bodyPr/>
        <a:lstStyle/>
        <a:p>
          <a:r>
            <a:rPr lang="en-US"/>
            <a:t> Data Resources </a:t>
          </a:r>
          <a:br>
            <a:rPr lang="en-US"/>
          </a:br>
          <a:r>
            <a:rPr lang="en-US"/>
            <a:t>&amp; </a:t>
          </a:r>
          <a:br>
            <a:rPr lang="en-US"/>
          </a:br>
          <a:r>
            <a:rPr lang="en-US"/>
            <a:t>Geographical Adaptation</a:t>
          </a:r>
        </a:p>
      </dgm:t>
    </dgm:pt>
    <dgm:pt modelId="{F996FB66-39C6-4764-BF89-AC7DE26C3C46}" type="parTrans" cxnId="{3FC0CE82-2A5B-4F1E-816B-F603B6BD1EF5}">
      <dgm:prSet/>
      <dgm:spPr/>
      <dgm:t>
        <a:bodyPr/>
        <a:lstStyle/>
        <a:p>
          <a:endParaRPr lang="en-US"/>
        </a:p>
      </dgm:t>
    </dgm:pt>
    <dgm:pt modelId="{70A7B075-1E09-4D80-A624-AD7C04BCD18F}" type="sibTrans" cxnId="{3FC0CE82-2A5B-4F1E-816B-F603B6BD1EF5}">
      <dgm:prSet/>
      <dgm:spPr/>
      <dgm:t>
        <a:bodyPr/>
        <a:lstStyle/>
        <a:p>
          <a:endParaRPr lang="en-US"/>
        </a:p>
      </dgm:t>
    </dgm:pt>
    <dgm:pt modelId="{145CE392-2CDC-4F21-BADA-B39558C713F9}">
      <dgm:prSet/>
      <dgm:spPr/>
      <dgm:t>
        <a:bodyPr/>
        <a:lstStyle/>
        <a:p>
          <a:r>
            <a:rPr lang="en-US"/>
            <a:t>Rule Enforcement &amp;</a:t>
          </a:r>
          <a:br>
            <a:rPr lang="en-US"/>
          </a:br>
          <a:r>
            <a:rPr lang="en-US"/>
            <a:t> </a:t>
          </a:r>
          <a:r>
            <a:rPr lang="en-US" err="1"/>
            <a:t>ViolationDetection</a:t>
          </a:r>
          <a:endParaRPr lang="en-US"/>
        </a:p>
      </dgm:t>
    </dgm:pt>
    <dgm:pt modelId="{F90BF82C-404B-440D-9CC5-4BCAC1181CAF}" type="parTrans" cxnId="{0D26CC1C-817C-46BF-BC81-A3CD8CD8BA01}">
      <dgm:prSet/>
      <dgm:spPr/>
      <dgm:t>
        <a:bodyPr/>
        <a:lstStyle/>
        <a:p>
          <a:endParaRPr lang="en-US"/>
        </a:p>
      </dgm:t>
    </dgm:pt>
    <dgm:pt modelId="{631E9CD7-1A78-48B8-A1EA-51E594C6075F}" type="sibTrans" cxnId="{0D26CC1C-817C-46BF-BC81-A3CD8CD8BA01}">
      <dgm:prSet/>
      <dgm:spPr/>
      <dgm:t>
        <a:bodyPr/>
        <a:lstStyle/>
        <a:p>
          <a:endParaRPr lang="en-US"/>
        </a:p>
      </dgm:t>
    </dgm:pt>
    <dgm:pt modelId="{FA6C49A8-FE42-410C-AE13-F3D618288AFA}" type="pres">
      <dgm:prSet presAssocID="{780DBA7B-BF84-44C9-BFFE-81D4796495FB}" presName="Name0" presStyleCnt="0">
        <dgm:presLayoutVars>
          <dgm:dir/>
          <dgm:resizeHandles val="exact"/>
        </dgm:presLayoutVars>
      </dgm:prSet>
      <dgm:spPr/>
    </dgm:pt>
    <dgm:pt modelId="{6F018AF9-3BCC-464C-A099-7A760A0EBFC4}" type="pres">
      <dgm:prSet presAssocID="{DC64B011-FC39-4117-9EE0-A0B5136BFFE2}" presName="node" presStyleLbl="node1" presStyleIdx="0" presStyleCnt="4">
        <dgm:presLayoutVars>
          <dgm:bulletEnabled val="1"/>
        </dgm:presLayoutVars>
      </dgm:prSet>
      <dgm:spPr/>
    </dgm:pt>
    <dgm:pt modelId="{DCB328C6-1CE3-43D6-9027-65BE2707D653}" type="pres">
      <dgm:prSet presAssocID="{D3520F59-9D34-4227-B87C-C90A4A5208CD}" presName="sibTrans" presStyleLbl="sibTrans2D1" presStyleIdx="0" presStyleCnt="3"/>
      <dgm:spPr/>
    </dgm:pt>
    <dgm:pt modelId="{7ED645FB-8B98-4CEA-96A7-1CBEB0954439}" type="pres">
      <dgm:prSet presAssocID="{D3520F59-9D34-4227-B87C-C90A4A5208CD}" presName="connectorText" presStyleLbl="sibTrans2D1" presStyleIdx="0" presStyleCnt="3"/>
      <dgm:spPr/>
    </dgm:pt>
    <dgm:pt modelId="{4B159069-2AD0-4A8D-A367-4CDAEE7F02C8}" type="pres">
      <dgm:prSet presAssocID="{070EF76D-D21E-43B2-8570-C43330EE6F02}" presName="node" presStyleLbl="node1" presStyleIdx="1" presStyleCnt="4">
        <dgm:presLayoutVars>
          <dgm:bulletEnabled val="1"/>
        </dgm:presLayoutVars>
      </dgm:prSet>
      <dgm:spPr/>
    </dgm:pt>
    <dgm:pt modelId="{C8B637F0-6A9A-48C2-89FA-00FD6FEAFFD7}" type="pres">
      <dgm:prSet presAssocID="{A88D1D12-B7E4-4EED-AEEF-D2A5ABBC676A}" presName="sibTrans" presStyleLbl="sibTrans2D1" presStyleIdx="1" presStyleCnt="3"/>
      <dgm:spPr/>
    </dgm:pt>
    <dgm:pt modelId="{787C3682-94DC-4F4A-AB42-E37A157F1867}" type="pres">
      <dgm:prSet presAssocID="{A88D1D12-B7E4-4EED-AEEF-D2A5ABBC676A}" presName="connectorText" presStyleLbl="sibTrans2D1" presStyleIdx="1" presStyleCnt="3"/>
      <dgm:spPr/>
    </dgm:pt>
    <dgm:pt modelId="{FBEBC77A-3CC2-44FE-9FE2-87982C7ECCFF}" type="pres">
      <dgm:prSet presAssocID="{8815D506-46D1-451B-A139-652927949BA9}" presName="node" presStyleLbl="node1" presStyleIdx="2" presStyleCnt="4">
        <dgm:presLayoutVars>
          <dgm:bulletEnabled val="1"/>
        </dgm:presLayoutVars>
      </dgm:prSet>
      <dgm:spPr/>
    </dgm:pt>
    <dgm:pt modelId="{7B1A34D5-69C8-4E46-A203-409CF17A73EB}" type="pres">
      <dgm:prSet presAssocID="{70A7B075-1E09-4D80-A624-AD7C04BCD18F}" presName="sibTrans" presStyleLbl="sibTrans2D1" presStyleIdx="2" presStyleCnt="3"/>
      <dgm:spPr/>
    </dgm:pt>
    <dgm:pt modelId="{A0F5B16F-2D12-4CCF-A9D0-ECAA4E606699}" type="pres">
      <dgm:prSet presAssocID="{70A7B075-1E09-4D80-A624-AD7C04BCD18F}" presName="connectorText" presStyleLbl="sibTrans2D1" presStyleIdx="2" presStyleCnt="3"/>
      <dgm:spPr/>
    </dgm:pt>
    <dgm:pt modelId="{D4E08728-29C3-4BAB-AC67-953571A9D9EF}" type="pres">
      <dgm:prSet presAssocID="{145CE392-2CDC-4F21-BADA-B39558C713F9}" presName="node" presStyleLbl="node1" presStyleIdx="3" presStyleCnt="4">
        <dgm:presLayoutVars>
          <dgm:bulletEnabled val="1"/>
        </dgm:presLayoutVars>
      </dgm:prSet>
      <dgm:spPr/>
    </dgm:pt>
  </dgm:ptLst>
  <dgm:cxnLst>
    <dgm:cxn modelId="{FBD8F914-A9E6-4DDC-967D-B7910E8F1587}" type="presOf" srcId="{145CE392-2CDC-4F21-BADA-B39558C713F9}" destId="{D4E08728-29C3-4BAB-AC67-953571A9D9EF}" srcOrd="0" destOrd="0" presId="urn:microsoft.com/office/officeart/2005/8/layout/process1"/>
    <dgm:cxn modelId="{0D26CC1C-817C-46BF-BC81-A3CD8CD8BA01}" srcId="{780DBA7B-BF84-44C9-BFFE-81D4796495FB}" destId="{145CE392-2CDC-4F21-BADA-B39558C713F9}" srcOrd="3" destOrd="0" parTransId="{F90BF82C-404B-440D-9CC5-4BCAC1181CAF}" sibTransId="{631E9CD7-1A78-48B8-A1EA-51E594C6075F}"/>
    <dgm:cxn modelId="{338F6426-D80B-4C1A-B90D-3D843A40A5A2}" type="presOf" srcId="{70A7B075-1E09-4D80-A624-AD7C04BCD18F}" destId="{A0F5B16F-2D12-4CCF-A9D0-ECAA4E606699}" srcOrd="1" destOrd="0" presId="urn:microsoft.com/office/officeart/2005/8/layout/process1"/>
    <dgm:cxn modelId="{10F55633-006C-4609-B230-89EACAF14FE6}" type="presOf" srcId="{780DBA7B-BF84-44C9-BFFE-81D4796495FB}" destId="{FA6C49A8-FE42-410C-AE13-F3D618288AFA}" srcOrd="0" destOrd="0" presId="urn:microsoft.com/office/officeart/2005/8/layout/process1"/>
    <dgm:cxn modelId="{024DF83C-A860-4BC9-8D5C-882CE949DAD5}" type="presOf" srcId="{D3520F59-9D34-4227-B87C-C90A4A5208CD}" destId="{DCB328C6-1CE3-43D6-9027-65BE2707D653}" srcOrd="0" destOrd="0" presId="urn:microsoft.com/office/officeart/2005/8/layout/process1"/>
    <dgm:cxn modelId="{8B25BC5C-83AC-41D1-A141-ACE5308EB3EC}" srcId="{780DBA7B-BF84-44C9-BFFE-81D4796495FB}" destId="{070EF76D-D21E-43B2-8570-C43330EE6F02}" srcOrd="1" destOrd="0" parTransId="{FA5886A0-0A95-4FA4-AC38-5257D3DBE251}" sibTransId="{A88D1D12-B7E4-4EED-AEEF-D2A5ABBC676A}"/>
    <dgm:cxn modelId="{1ED2E947-1E26-45F3-81E3-ACD1B2A6C8CD}" type="presOf" srcId="{DC64B011-FC39-4117-9EE0-A0B5136BFFE2}" destId="{6F018AF9-3BCC-464C-A099-7A760A0EBFC4}" srcOrd="0" destOrd="0" presId="urn:microsoft.com/office/officeart/2005/8/layout/process1"/>
    <dgm:cxn modelId="{35BADB6D-5649-4B68-94FE-6260AEB3B734}" type="presOf" srcId="{A88D1D12-B7E4-4EED-AEEF-D2A5ABBC676A}" destId="{C8B637F0-6A9A-48C2-89FA-00FD6FEAFFD7}" srcOrd="0" destOrd="0" presId="urn:microsoft.com/office/officeart/2005/8/layout/process1"/>
    <dgm:cxn modelId="{61583D76-30D2-44F0-B0AF-8D7D977F0928}" type="presOf" srcId="{8815D506-46D1-451B-A139-652927949BA9}" destId="{FBEBC77A-3CC2-44FE-9FE2-87982C7ECCFF}" srcOrd="0" destOrd="0" presId="urn:microsoft.com/office/officeart/2005/8/layout/process1"/>
    <dgm:cxn modelId="{3ED7CD76-6126-457B-B7A0-2BD89AB80572}" type="presOf" srcId="{70A7B075-1E09-4D80-A624-AD7C04BCD18F}" destId="{7B1A34D5-69C8-4E46-A203-409CF17A73EB}" srcOrd="0" destOrd="0" presId="urn:microsoft.com/office/officeart/2005/8/layout/process1"/>
    <dgm:cxn modelId="{EB0D3480-A764-48D9-B177-9BCB98C5AD22}" type="presOf" srcId="{A88D1D12-B7E4-4EED-AEEF-D2A5ABBC676A}" destId="{787C3682-94DC-4F4A-AB42-E37A157F1867}" srcOrd="1" destOrd="0" presId="urn:microsoft.com/office/officeart/2005/8/layout/process1"/>
    <dgm:cxn modelId="{3FC0CE82-2A5B-4F1E-816B-F603B6BD1EF5}" srcId="{780DBA7B-BF84-44C9-BFFE-81D4796495FB}" destId="{8815D506-46D1-451B-A139-652927949BA9}" srcOrd="2" destOrd="0" parTransId="{F996FB66-39C6-4764-BF89-AC7DE26C3C46}" sibTransId="{70A7B075-1E09-4D80-A624-AD7C04BCD18F}"/>
    <dgm:cxn modelId="{B0DB9B94-E8FA-4AE2-B89E-7D6AC30026DF}" srcId="{780DBA7B-BF84-44C9-BFFE-81D4796495FB}" destId="{DC64B011-FC39-4117-9EE0-A0B5136BFFE2}" srcOrd="0" destOrd="0" parTransId="{DA82699F-448A-4946-8E7A-AFC979AAD811}" sibTransId="{D3520F59-9D34-4227-B87C-C90A4A5208CD}"/>
    <dgm:cxn modelId="{85D04CA1-F2B9-4D4A-897B-01054587E9C0}" type="presOf" srcId="{D3520F59-9D34-4227-B87C-C90A4A5208CD}" destId="{7ED645FB-8B98-4CEA-96A7-1CBEB0954439}" srcOrd="1" destOrd="0" presId="urn:microsoft.com/office/officeart/2005/8/layout/process1"/>
    <dgm:cxn modelId="{37DE0AF7-B14A-4868-8BE3-9E9D4E7588F8}" type="presOf" srcId="{070EF76D-D21E-43B2-8570-C43330EE6F02}" destId="{4B159069-2AD0-4A8D-A367-4CDAEE7F02C8}" srcOrd="0" destOrd="0" presId="urn:microsoft.com/office/officeart/2005/8/layout/process1"/>
    <dgm:cxn modelId="{FF8335AE-4C7A-437F-84EE-0D4698EB79A6}" type="presParOf" srcId="{FA6C49A8-FE42-410C-AE13-F3D618288AFA}" destId="{6F018AF9-3BCC-464C-A099-7A760A0EBFC4}" srcOrd="0" destOrd="0" presId="urn:microsoft.com/office/officeart/2005/8/layout/process1"/>
    <dgm:cxn modelId="{E12DDB91-6737-43F4-9D87-036601D29859}" type="presParOf" srcId="{FA6C49A8-FE42-410C-AE13-F3D618288AFA}" destId="{DCB328C6-1CE3-43D6-9027-65BE2707D653}" srcOrd="1" destOrd="0" presId="urn:microsoft.com/office/officeart/2005/8/layout/process1"/>
    <dgm:cxn modelId="{D8B8AD51-85F5-48B4-A33E-1E890FD77A13}" type="presParOf" srcId="{DCB328C6-1CE3-43D6-9027-65BE2707D653}" destId="{7ED645FB-8B98-4CEA-96A7-1CBEB0954439}" srcOrd="0" destOrd="0" presId="urn:microsoft.com/office/officeart/2005/8/layout/process1"/>
    <dgm:cxn modelId="{8470D4AD-74BA-4136-A452-E1332E704FFC}" type="presParOf" srcId="{FA6C49A8-FE42-410C-AE13-F3D618288AFA}" destId="{4B159069-2AD0-4A8D-A367-4CDAEE7F02C8}" srcOrd="2" destOrd="0" presId="urn:microsoft.com/office/officeart/2005/8/layout/process1"/>
    <dgm:cxn modelId="{F9C213BB-B5D6-4AD5-8311-A2B8C68CBD90}" type="presParOf" srcId="{FA6C49A8-FE42-410C-AE13-F3D618288AFA}" destId="{C8B637F0-6A9A-48C2-89FA-00FD6FEAFFD7}" srcOrd="3" destOrd="0" presId="urn:microsoft.com/office/officeart/2005/8/layout/process1"/>
    <dgm:cxn modelId="{2A289710-8B1C-4725-9F6B-CD51C41C1D42}" type="presParOf" srcId="{C8B637F0-6A9A-48C2-89FA-00FD6FEAFFD7}" destId="{787C3682-94DC-4F4A-AB42-E37A157F1867}" srcOrd="0" destOrd="0" presId="urn:microsoft.com/office/officeart/2005/8/layout/process1"/>
    <dgm:cxn modelId="{7A0BC182-D401-4837-82C0-FBB7AAF93350}" type="presParOf" srcId="{FA6C49A8-FE42-410C-AE13-F3D618288AFA}" destId="{FBEBC77A-3CC2-44FE-9FE2-87982C7ECCFF}" srcOrd="4" destOrd="0" presId="urn:microsoft.com/office/officeart/2005/8/layout/process1"/>
    <dgm:cxn modelId="{A21B2CE9-D881-48AD-B848-ECDEBD92B327}" type="presParOf" srcId="{FA6C49A8-FE42-410C-AE13-F3D618288AFA}" destId="{7B1A34D5-69C8-4E46-A203-409CF17A73EB}" srcOrd="5" destOrd="0" presId="urn:microsoft.com/office/officeart/2005/8/layout/process1"/>
    <dgm:cxn modelId="{EE9F4FBB-E84E-483F-9FCD-C208F822A04D}" type="presParOf" srcId="{7B1A34D5-69C8-4E46-A203-409CF17A73EB}" destId="{A0F5B16F-2D12-4CCF-A9D0-ECAA4E606699}" srcOrd="0" destOrd="0" presId="urn:microsoft.com/office/officeart/2005/8/layout/process1"/>
    <dgm:cxn modelId="{2E073042-E0E8-49CE-B526-4240A22E701B}" type="presParOf" srcId="{FA6C49A8-FE42-410C-AE13-F3D618288AFA}" destId="{D4E08728-29C3-4BAB-AC67-953571A9D9E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D97318-0BDC-4870-BFD2-83086623619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9C022C9-5654-4774-A8A2-4222A5A9804B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Real-time Vehicle &amp; Pedestrian Detection </a:t>
          </a:r>
        </a:p>
      </dgm:t>
    </dgm:pt>
    <dgm:pt modelId="{3C15160C-1577-4222-8571-32DF69EE80C7}" type="parTrans" cxnId="{ABA65946-29DE-45EE-9A75-94806F37D78C}">
      <dgm:prSet/>
      <dgm:spPr/>
      <dgm:t>
        <a:bodyPr/>
        <a:lstStyle/>
        <a:p>
          <a:endParaRPr lang="en-US"/>
        </a:p>
      </dgm:t>
    </dgm:pt>
    <dgm:pt modelId="{FF64945C-0DE2-4E47-A0BB-C13EC555AD18}" type="sibTrans" cxnId="{ABA65946-29DE-45EE-9A75-94806F37D78C}">
      <dgm:prSet/>
      <dgm:spPr/>
      <dgm:t>
        <a:bodyPr/>
        <a:lstStyle/>
        <a:p>
          <a:endParaRPr lang="en-US"/>
        </a:p>
      </dgm:t>
    </dgm:pt>
    <dgm:pt modelId="{3EAD1668-09D5-4521-85F2-37AD6F9C188A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Traffic Violation &amp; Driver Behavior Analysis </a:t>
          </a:r>
        </a:p>
      </dgm:t>
    </dgm:pt>
    <dgm:pt modelId="{E6198238-4FE0-4BA8-8CBE-317135DE9085}" type="parTrans" cxnId="{99E980EC-F9B4-4CC8-B372-4107DAFEF8CD}">
      <dgm:prSet/>
      <dgm:spPr/>
      <dgm:t>
        <a:bodyPr/>
        <a:lstStyle/>
        <a:p>
          <a:endParaRPr lang="en-US"/>
        </a:p>
      </dgm:t>
    </dgm:pt>
    <dgm:pt modelId="{EA1C8FD2-5AB9-4C36-AE36-D0AC8F4D7938}" type="sibTrans" cxnId="{99E980EC-F9B4-4CC8-B372-4107DAFEF8CD}">
      <dgm:prSet/>
      <dgm:spPr/>
      <dgm:t>
        <a:bodyPr/>
        <a:lstStyle/>
        <a:p>
          <a:endParaRPr lang="en-US"/>
        </a:p>
      </dgm:t>
    </dgm:pt>
    <dgm:pt modelId="{9E2D3277-12C4-4476-82B4-16FD502B6DD8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Urban Scene Understanding &amp; Dataset Utility </a:t>
          </a:r>
        </a:p>
      </dgm:t>
    </dgm:pt>
    <dgm:pt modelId="{FEAFA035-2749-40E3-BBF8-3DC7EE58AAB3}" type="parTrans" cxnId="{4FAF3343-3E5B-49FF-875B-AA9458B60C56}">
      <dgm:prSet/>
      <dgm:spPr/>
      <dgm:t>
        <a:bodyPr/>
        <a:lstStyle/>
        <a:p>
          <a:endParaRPr lang="en-US"/>
        </a:p>
      </dgm:t>
    </dgm:pt>
    <dgm:pt modelId="{EF21E558-A6D1-4642-A72E-2F8D1D1D772F}" type="sibTrans" cxnId="{4FAF3343-3E5B-49FF-875B-AA9458B60C56}">
      <dgm:prSet/>
      <dgm:spPr/>
      <dgm:t>
        <a:bodyPr/>
        <a:lstStyle/>
        <a:p>
          <a:endParaRPr lang="en-US"/>
        </a:p>
      </dgm:t>
    </dgm:pt>
    <dgm:pt modelId="{129E9467-FA05-4222-A0CC-3A7DA8C95C6F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Explainable &amp; Adaptive AI Models </a:t>
          </a:r>
        </a:p>
      </dgm:t>
    </dgm:pt>
    <dgm:pt modelId="{E1B059FF-8955-40F9-91FF-592E00875105}" type="parTrans" cxnId="{7226E609-7BFB-4EB5-BAC3-342D98160A83}">
      <dgm:prSet/>
      <dgm:spPr/>
      <dgm:t>
        <a:bodyPr/>
        <a:lstStyle/>
        <a:p>
          <a:endParaRPr lang="en-US"/>
        </a:p>
      </dgm:t>
    </dgm:pt>
    <dgm:pt modelId="{FB71CD91-5033-4B75-A3A7-C795B5F4D3F1}" type="sibTrans" cxnId="{7226E609-7BFB-4EB5-BAC3-342D98160A83}">
      <dgm:prSet/>
      <dgm:spPr/>
      <dgm:t>
        <a:bodyPr/>
        <a:lstStyle/>
        <a:p>
          <a:endParaRPr lang="en-US"/>
        </a:p>
      </dgm:t>
    </dgm:pt>
    <dgm:pt modelId="{D056EEB3-B8C2-4FBB-8769-6FCAC0BF8875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cs typeface="Arial" panose="020B0604020202020204" pitchFamily="34" charset="0"/>
            </a:rPr>
            <a:t>Traffic Monitoring &amp; Enforcement Automation</a:t>
          </a:r>
        </a:p>
      </dgm:t>
    </dgm:pt>
    <dgm:pt modelId="{5DE886BB-9043-47F4-9A84-32D6574658FF}" type="parTrans" cxnId="{1868163D-5CE8-41DB-8671-5AA6898260CA}">
      <dgm:prSet/>
      <dgm:spPr/>
      <dgm:t>
        <a:bodyPr/>
        <a:lstStyle/>
        <a:p>
          <a:endParaRPr lang="en-US"/>
        </a:p>
      </dgm:t>
    </dgm:pt>
    <dgm:pt modelId="{7E523ACE-C693-4F76-8B19-CEC70B812C00}" type="sibTrans" cxnId="{1868163D-5CE8-41DB-8671-5AA6898260CA}">
      <dgm:prSet/>
      <dgm:spPr/>
      <dgm:t>
        <a:bodyPr/>
        <a:lstStyle/>
        <a:p>
          <a:endParaRPr lang="en-US"/>
        </a:p>
      </dgm:t>
    </dgm:pt>
    <dgm:pt modelId="{27C10C6E-EDF0-4899-BF0D-0DBA24AD3DE4}" type="pres">
      <dgm:prSet presAssocID="{ADD97318-0BDC-4870-BFD2-83086623619E}" presName="cycle" presStyleCnt="0">
        <dgm:presLayoutVars>
          <dgm:dir/>
          <dgm:resizeHandles val="exact"/>
        </dgm:presLayoutVars>
      </dgm:prSet>
      <dgm:spPr/>
    </dgm:pt>
    <dgm:pt modelId="{6AA193EF-9425-4498-A0CB-E73623C00911}" type="pres">
      <dgm:prSet presAssocID="{89C022C9-5654-4774-A8A2-4222A5A9804B}" presName="node" presStyleLbl="node1" presStyleIdx="0" presStyleCnt="5">
        <dgm:presLayoutVars>
          <dgm:bulletEnabled val="1"/>
        </dgm:presLayoutVars>
      </dgm:prSet>
      <dgm:spPr/>
    </dgm:pt>
    <dgm:pt modelId="{E65C0595-B4CE-4E5D-9AA8-5AD69418013E}" type="pres">
      <dgm:prSet presAssocID="{FF64945C-0DE2-4E47-A0BB-C13EC555AD18}" presName="sibTrans" presStyleLbl="sibTrans2D1" presStyleIdx="0" presStyleCnt="5"/>
      <dgm:spPr/>
    </dgm:pt>
    <dgm:pt modelId="{418159CB-D52D-4721-8945-2B170C783ECA}" type="pres">
      <dgm:prSet presAssocID="{FF64945C-0DE2-4E47-A0BB-C13EC555AD18}" presName="connectorText" presStyleLbl="sibTrans2D1" presStyleIdx="0" presStyleCnt="5"/>
      <dgm:spPr/>
    </dgm:pt>
    <dgm:pt modelId="{B2082C46-70DC-45D3-B93D-7056A9075895}" type="pres">
      <dgm:prSet presAssocID="{3EAD1668-09D5-4521-85F2-37AD6F9C188A}" presName="node" presStyleLbl="node1" presStyleIdx="1" presStyleCnt="5">
        <dgm:presLayoutVars>
          <dgm:bulletEnabled val="1"/>
        </dgm:presLayoutVars>
      </dgm:prSet>
      <dgm:spPr/>
    </dgm:pt>
    <dgm:pt modelId="{E683F299-5DDC-4D53-8386-4FFD7C86CD18}" type="pres">
      <dgm:prSet presAssocID="{EA1C8FD2-5AB9-4C36-AE36-D0AC8F4D7938}" presName="sibTrans" presStyleLbl="sibTrans2D1" presStyleIdx="1" presStyleCnt="5"/>
      <dgm:spPr/>
    </dgm:pt>
    <dgm:pt modelId="{567C16DC-21F1-49FE-A7AF-FA39CE8BB34A}" type="pres">
      <dgm:prSet presAssocID="{EA1C8FD2-5AB9-4C36-AE36-D0AC8F4D7938}" presName="connectorText" presStyleLbl="sibTrans2D1" presStyleIdx="1" presStyleCnt="5"/>
      <dgm:spPr/>
    </dgm:pt>
    <dgm:pt modelId="{9CC32E2A-569F-4F4C-97C2-D68E043279B3}" type="pres">
      <dgm:prSet presAssocID="{9E2D3277-12C4-4476-82B4-16FD502B6DD8}" presName="node" presStyleLbl="node1" presStyleIdx="2" presStyleCnt="5">
        <dgm:presLayoutVars>
          <dgm:bulletEnabled val="1"/>
        </dgm:presLayoutVars>
      </dgm:prSet>
      <dgm:spPr/>
    </dgm:pt>
    <dgm:pt modelId="{446D56F0-0F45-4FA9-B39F-B8F07EAC93FA}" type="pres">
      <dgm:prSet presAssocID="{EF21E558-A6D1-4642-A72E-2F8D1D1D772F}" presName="sibTrans" presStyleLbl="sibTrans2D1" presStyleIdx="2" presStyleCnt="5"/>
      <dgm:spPr/>
    </dgm:pt>
    <dgm:pt modelId="{900A66DF-D1CE-48AD-99E4-6C6AEF36967D}" type="pres">
      <dgm:prSet presAssocID="{EF21E558-A6D1-4642-A72E-2F8D1D1D772F}" presName="connectorText" presStyleLbl="sibTrans2D1" presStyleIdx="2" presStyleCnt="5"/>
      <dgm:spPr/>
    </dgm:pt>
    <dgm:pt modelId="{FC688A21-4A9A-40CF-9FE1-CA72B9931F6D}" type="pres">
      <dgm:prSet presAssocID="{129E9467-FA05-4222-A0CC-3A7DA8C95C6F}" presName="node" presStyleLbl="node1" presStyleIdx="3" presStyleCnt="5">
        <dgm:presLayoutVars>
          <dgm:bulletEnabled val="1"/>
        </dgm:presLayoutVars>
      </dgm:prSet>
      <dgm:spPr/>
    </dgm:pt>
    <dgm:pt modelId="{3635F28F-1A4D-4432-A4AE-B73E23C2655E}" type="pres">
      <dgm:prSet presAssocID="{FB71CD91-5033-4B75-A3A7-C795B5F4D3F1}" presName="sibTrans" presStyleLbl="sibTrans2D1" presStyleIdx="3" presStyleCnt="5"/>
      <dgm:spPr/>
    </dgm:pt>
    <dgm:pt modelId="{FFCCF6C7-BCA4-4A94-9A7E-D369B87E8893}" type="pres">
      <dgm:prSet presAssocID="{FB71CD91-5033-4B75-A3A7-C795B5F4D3F1}" presName="connectorText" presStyleLbl="sibTrans2D1" presStyleIdx="3" presStyleCnt="5"/>
      <dgm:spPr/>
    </dgm:pt>
    <dgm:pt modelId="{6B3E6720-2C85-4EA7-8ED7-D81B9BE5CB91}" type="pres">
      <dgm:prSet presAssocID="{D056EEB3-B8C2-4FBB-8769-6FCAC0BF8875}" presName="node" presStyleLbl="node1" presStyleIdx="4" presStyleCnt="5">
        <dgm:presLayoutVars>
          <dgm:bulletEnabled val="1"/>
        </dgm:presLayoutVars>
      </dgm:prSet>
      <dgm:spPr/>
    </dgm:pt>
    <dgm:pt modelId="{6F31A215-12F8-46EA-B655-B36435D1F11A}" type="pres">
      <dgm:prSet presAssocID="{7E523ACE-C693-4F76-8B19-CEC70B812C00}" presName="sibTrans" presStyleLbl="sibTrans2D1" presStyleIdx="4" presStyleCnt="5"/>
      <dgm:spPr/>
    </dgm:pt>
    <dgm:pt modelId="{53F07CBD-C9C5-4FE7-AC7A-A0DB68BADE15}" type="pres">
      <dgm:prSet presAssocID="{7E523ACE-C693-4F76-8B19-CEC70B812C00}" presName="connectorText" presStyleLbl="sibTrans2D1" presStyleIdx="4" presStyleCnt="5"/>
      <dgm:spPr/>
    </dgm:pt>
  </dgm:ptLst>
  <dgm:cxnLst>
    <dgm:cxn modelId="{7226E609-7BFB-4EB5-BAC3-342D98160A83}" srcId="{ADD97318-0BDC-4870-BFD2-83086623619E}" destId="{129E9467-FA05-4222-A0CC-3A7DA8C95C6F}" srcOrd="3" destOrd="0" parTransId="{E1B059FF-8955-40F9-91FF-592E00875105}" sibTransId="{FB71CD91-5033-4B75-A3A7-C795B5F4D3F1}"/>
    <dgm:cxn modelId="{E91D1B0F-A538-4F84-955B-2B82E77044D4}" type="presOf" srcId="{EA1C8FD2-5AB9-4C36-AE36-D0AC8F4D7938}" destId="{567C16DC-21F1-49FE-A7AF-FA39CE8BB34A}" srcOrd="1" destOrd="0" presId="urn:microsoft.com/office/officeart/2005/8/layout/cycle2"/>
    <dgm:cxn modelId="{F1BC501C-FE1F-4EBC-A7FE-B727814FBAE9}" type="presOf" srcId="{7E523ACE-C693-4F76-8B19-CEC70B812C00}" destId="{6F31A215-12F8-46EA-B655-B36435D1F11A}" srcOrd="0" destOrd="0" presId="urn:microsoft.com/office/officeart/2005/8/layout/cycle2"/>
    <dgm:cxn modelId="{8FBD491D-8C39-4F92-A0B5-661A153B3511}" type="presOf" srcId="{D056EEB3-B8C2-4FBB-8769-6FCAC0BF8875}" destId="{6B3E6720-2C85-4EA7-8ED7-D81B9BE5CB91}" srcOrd="0" destOrd="0" presId="urn:microsoft.com/office/officeart/2005/8/layout/cycle2"/>
    <dgm:cxn modelId="{8BE6BB26-971A-4708-BDE9-3FC31C7D2C1C}" type="presOf" srcId="{129E9467-FA05-4222-A0CC-3A7DA8C95C6F}" destId="{FC688A21-4A9A-40CF-9FE1-CA72B9931F6D}" srcOrd="0" destOrd="0" presId="urn:microsoft.com/office/officeart/2005/8/layout/cycle2"/>
    <dgm:cxn modelId="{37994433-0B2A-499D-A7E4-45E6F6BA9D8F}" type="presOf" srcId="{9E2D3277-12C4-4476-82B4-16FD502B6DD8}" destId="{9CC32E2A-569F-4F4C-97C2-D68E043279B3}" srcOrd="0" destOrd="0" presId="urn:microsoft.com/office/officeart/2005/8/layout/cycle2"/>
    <dgm:cxn modelId="{1868163D-5CE8-41DB-8671-5AA6898260CA}" srcId="{ADD97318-0BDC-4870-BFD2-83086623619E}" destId="{D056EEB3-B8C2-4FBB-8769-6FCAC0BF8875}" srcOrd="4" destOrd="0" parTransId="{5DE886BB-9043-47F4-9A84-32D6574658FF}" sibTransId="{7E523ACE-C693-4F76-8B19-CEC70B812C00}"/>
    <dgm:cxn modelId="{AC157461-3F5E-48BF-8008-1739FBC06A05}" type="presOf" srcId="{3EAD1668-09D5-4521-85F2-37AD6F9C188A}" destId="{B2082C46-70DC-45D3-B93D-7056A9075895}" srcOrd="0" destOrd="0" presId="urn:microsoft.com/office/officeart/2005/8/layout/cycle2"/>
    <dgm:cxn modelId="{4FAF3343-3E5B-49FF-875B-AA9458B60C56}" srcId="{ADD97318-0BDC-4870-BFD2-83086623619E}" destId="{9E2D3277-12C4-4476-82B4-16FD502B6DD8}" srcOrd="2" destOrd="0" parTransId="{FEAFA035-2749-40E3-BBF8-3DC7EE58AAB3}" sibTransId="{EF21E558-A6D1-4642-A72E-2F8D1D1D772F}"/>
    <dgm:cxn modelId="{ABA65946-29DE-45EE-9A75-94806F37D78C}" srcId="{ADD97318-0BDC-4870-BFD2-83086623619E}" destId="{89C022C9-5654-4774-A8A2-4222A5A9804B}" srcOrd="0" destOrd="0" parTransId="{3C15160C-1577-4222-8571-32DF69EE80C7}" sibTransId="{FF64945C-0DE2-4E47-A0BB-C13EC555AD18}"/>
    <dgm:cxn modelId="{18079055-1E7E-441E-A193-19DFF65DD363}" type="presOf" srcId="{FB71CD91-5033-4B75-A3A7-C795B5F4D3F1}" destId="{FFCCF6C7-BCA4-4A94-9A7E-D369B87E8893}" srcOrd="1" destOrd="0" presId="urn:microsoft.com/office/officeart/2005/8/layout/cycle2"/>
    <dgm:cxn modelId="{B373FD76-6311-4E9F-988B-3C43233A06F2}" type="presOf" srcId="{ADD97318-0BDC-4870-BFD2-83086623619E}" destId="{27C10C6E-EDF0-4899-BF0D-0DBA24AD3DE4}" srcOrd="0" destOrd="0" presId="urn:microsoft.com/office/officeart/2005/8/layout/cycle2"/>
    <dgm:cxn modelId="{419F4381-4447-4451-90F0-7C71B2B533F2}" type="presOf" srcId="{7E523ACE-C693-4F76-8B19-CEC70B812C00}" destId="{53F07CBD-C9C5-4FE7-AC7A-A0DB68BADE15}" srcOrd="1" destOrd="0" presId="urn:microsoft.com/office/officeart/2005/8/layout/cycle2"/>
    <dgm:cxn modelId="{47EAF298-C0F5-4942-A757-47AB81DD788F}" type="presOf" srcId="{FF64945C-0DE2-4E47-A0BB-C13EC555AD18}" destId="{418159CB-D52D-4721-8945-2B170C783ECA}" srcOrd="1" destOrd="0" presId="urn:microsoft.com/office/officeart/2005/8/layout/cycle2"/>
    <dgm:cxn modelId="{3695C4A7-360B-4C3A-AC12-0F94527F3651}" type="presOf" srcId="{EF21E558-A6D1-4642-A72E-2F8D1D1D772F}" destId="{446D56F0-0F45-4FA9-B39F-B8F07EAC93FA}" srcOrd="0" destOrd="0" presId="urn:microsoft.com/office/officeart/2005/8/layout/cycle2"/>
    <dgm:cxn modelId="{6C72EFDB-76C6-4F1F-8634-589950C70FDE}" type="presOf" srcId="{FB71CD91-5033-4B75-A3A7-C795B5F4D3F1}" destId="{3635F28F-1A4D-4432-A4AE-B73E23C2655E}" srcOrd="0" destOrd="0" presId="urn:microsoft.com/office/officeart/2005/8/layout/cycle2"/>
    <dgm:cxn modelId="{99E980EC-F9B4-4CC8-B372-4107DAFEF8CD}" srcId="{ADD97318-0BDC-4870-BFD2-83086623619E}" destId="{3EAD1668-09D5-4521-85F2-37AD6F9C188A}" srcOrd="1" destOrd="0" parTransId="{E6198238-4FE0-4BA8-8CBE-317135DE9085}" sibTransId="{EA1C8FD2-5AB9-4C36-AE36-D0AC8F4D7938}"/>
    <dgm:cxn modelId="{2F7B97EC-278E-4DB2-B2CF-D8AEB92F2713}" type="presOf" srcId="{EF21E558-A6D1-4642-A72E-2F8D1D1D772F}" destId="{900A66DF-D1CE-48AD-99E4-6C6AEF36967D}" srcOrd="1" destOrd="0" presId="urn:microsoft.com/office/officeart/2005/8/layout/cycle2"/>
    <dgm:cxn modelId="{623917F1-A9B0-458D-B2CF-D73DC91579EA}" type="presOf" srcId="{EA1C8FD2-5AB9-4C36-AE36-D0AC8F4D7938}" destId="{E683F299-5DDC-4D53-8386-4FFD7C86CD18}" srcOrd="0" destOrd="0" presId="urn:microsoft.com/office/officeart/2005/8/layout/cycle2"/>
    <dgm:cxn modelId="{11CF96F4-BEF3-47BE-B7A8-3EF9DFE51083}" type="presOf" srcId="{FF64945C-0DE2-4E47-A0BB-C13EC555AD18}" destId="{E65C0595-B4CE-4E5D-9AA8-5AD69418013E}" srcOrd="0" destOrd="0" presId="urn:microsoft.com/office/officeart/2005/8/layout/cycle2"/>
    <dgm:cxn modelId="{DE6AE8F5-E3C0-46A7-AB43-41BABEAC3D42}" type="presOf" srcId="{89C022C9-5654-4774-A8A2-4222A5A9804B}" destId="{6AA193EF-9425-4498-A0CB-E73623C00911}" srcOrd="0" destOrd="0" presId="urn:microsoft.com/office/officeart/2005/8/layout/cycle2"/>
    <dgm:cxn modelId="{21791914-D929-42A4-8641-7A058B94F2B8}" type="presParOf" srcId="{27C10C6E-EDF0-4899-BF0D-0DBA24AD3DE4}" destId="{6AA193EF-9425-4498-A0CB-E73623C00911}" srcOrd="0" destOrd="0" presId="urn:microsoft.com/office/officeart/2005/8/layout/cycle2"/>
    <dgm:cxn modelId="{FF063E01-444E-453C-9DB5-0C961C97C3D9}" type="presParOf" srcId="{27C10C6E-EDF0-4899-BF0D-0DBA24AD3DE4}" destId="{E65C0595-B4CE-4E5D-9AA8-5AD69418013E}" srcOrd="1" destOrd="0" presId="urn:microsoft.com/office/officeart/2005/8/layout/cycle2"/>
    <dgm:cxn modelId="{5C18B810-4730-44F9-BA28-2FE97E6DEF38}" type="presParOf" srcId="{E65C0595-B4CE-4E5D-9AA8-5AD69418013E}" destId="{418159CB-D52D-4721-8945-2B170C783ECA}" srcOrd="0" destOrd="0" presId="urn:microsoft.com/office/officeart/2005/8/layout/cycle2"/>
    <dgm:cxn modelId="{5A81E919-7B87-4F66-8A18-4BDD1C878B67}" type="presParOf" srcId="{27C10C6E-EDF0-4899-BF0D-0DBA24AD3DE4}" destId="{B2082C46-70DC-45D3-B93D-7056A9075895}" srcOrd="2" destOrd="0" presId="urn:microsoft.com/office/officeart/2005/8/layout/cycle2"/>
    <dgm:cxn modelId="{2B256024-25B2-442A-8FA7-61C045750EA8}" type="presParOf" srcId="{27C10C6E-EDF0-4899-BF0D-0DBA24AD3DE4}" destId="{E683F299-5DDC-4D53-8386-4FFD7C86CD18}" srcOrd="3" destOrd="0" presId="urn:microsoft.com/office/officeart/2005/8/layout/cycle2"/>
    <dgm:cxn modelId="{CDC6CFE7-4102-4954-BEDB-C112DB704CC0}" type="presParOf" srcId="{E683F299-5DDC-4D53-8386-4FFD7C86CD18}" destId="{567C16DC-21F1-49FE-A7AF-FA39CE8BB34A}" srcOrd="0" destOrd="0" presId="urn:microsoft.com/office/officeart/2005/8/layout/cycle2"/>
    <dgm:cxn modelId="{15408E4C-49BE-4E33-9632-301B017AF7D9}" type="presParOf" srcId="{27C10C6E-EDF0-4899-BF0D-0DBA24AD3DE4}" destId="{9CC32E2A-569F-4F4C-97C2-D68E043279B3}" srcOrd="4" destOrd="0" presId="urn:microsoft.com/office/officeart/2005/8/layout/cycle2"/>
    <dgm:cxn modelId="{BDE92278-3418-42D1-B0D6-EAEA1CD4A7BC}" type="presParOf" srcId="{27C10C6E-EDF0-4899-BF0D-0DBA24AD3DE4}" destId="{446D56F0-0F45-4FA9-B39F-B8F07EAC93FA}" srcOrd="5" destOrd="0" presId="urn:microsoft.com/office/officeart/2005/8/layout/cycle2"/>
    <dgm:cxn modelId="{0035AB9C-30B2-4E67-898F-231D2B4ED053}" type="presParOf" srcId="{446D56F0-0F45-4FA9-B39F-B8F07EAC93FA}" destId="{900A66DF-D1CE-48AD-99E4-6C6AEF36967D}" srcOrd="0" destOrd="0" presId="urn:microsoft.com/office/officeart/2005/8/layout/cycle2"/>
    <dgm:cxn modelId="{2A89D083-3EF2-40F0-8CA0-DB5DA754EFCA}" type="presParOf" srcId="{27C10C6E-EDF0-4899-BF0D-0DBA24AD3DE4}" destId="{FC688A21-4A9A-40CF-9FE1-CA72B9931F6D}" srcOrd="6" destOrd="0" presId="urn:microsoft.com/office/officeart/2005/8/layout/cycle2"/>
    <dgm:cxn modelId="{DD427CBE-B437-41B6-B040-C7842546038D}" type="presParOf" srcId="{27C10C6E-EDF0-4899-BF0D-0DBA24AD3DE4}" destId="{3635F28F-1A4D-4432-A4AE-B73E23C2655E}" srcOrd="7" destOrd="0" presId="urn:microsoft.com/office/officeart/2005/8/layout/cycle2"/>
    <dgm:cxn modelId="{3E415071-8E43-4FD1-B46D-F8774E92EFC6}" type="presParOf" srcId="{3635F28F-1A4D-4432-A4AE-B73E23C2655E}" destId="{FFCCF6C7-BCA4-4A94-9A7E-D369B87E8893}" srcOrd="0" destOrd="0" presId="urn:microsoft.com/office/officeart/2005/8/layout/cycle2"/>
    <dgm:cxn modelId="{B21A23EF-C813-4248-A18A-74ADEB6D1398}" type="presParOf" srcId="{27C10C6E-EDF0-4899-BF0D-0DBA24AD3DE4}" destId="{6B3E6720-2C85-4EA7-8ED7-D81B9BE5CB91}" srcOrd="8" destOrd="0" presId="urn:microsoft.com/office/officeart/2005/8/layout/cycle2"/>
    <dgm:cxn modelId="{5EF15DB3-8957-4B59-A0B8-3B2D7A6898A2}" type="presParOf" srcId="{27C10C6E-EDF0-4899-BF0D-0DBA24AD3DE4}" destId="{6F31A215-12F8-46EA-B655-B36435D1F11A}" srcOrd="9" destOrd="0" presId="urn:microsoft.com/office/officeart/2005/8/layout/cycle2"/>
    <dgm:cxn modelId="{026D2C6C-EA19-4163-AE97-4123D7A4961C}" type="presParOf" srcId="{6F31A215-12F8-46EA-B655-B36435D1F11A}" destId="{53F07CBD-C9C5-4FE7-AC7A-A0DB68BADE1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18AF9-3BCC-464C-A099-7A760A0EBFC4}">
      <dsp:nvSpPr>
        <dsp:cNvPr id="0" name=""/>
        <dsp:cNvSpPr/>
      </dsp:nvSpPr>
      <dsp:spPr>
        <a:xfrm>
          <a:off x="6001" y="1306368"/>
          <a:ext cx="2623923" cy="1574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Scene Perception</a:t>
          </a:r>
          <a:br>
            <a:rPr lang="en-US" sz="2300" kern="1200"/>
          </a:br>
          <a:r>
            <a:rPr lang="en-US" sz="2300" kern="1200"/>
            <a:t> &amp;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Object Detection </a:t>
          </a:r>
        </a:p>
      </dsp:txBody>
      <dsp:txXfrm>
        <a:off x="52112" y="1352479"/>
        <a:ext cx="2531701" cy="1482132"/>
      </dsp:txXfrm>
    </dsp:sp>
    <dsp:sp modelId="{DCB328C6-1CE3-43D6-9027-65BE2707D653}">
      <dsp:nvSpPr>
        <dsp:cNvPr id="0" name=""/>
        <dsp:cNvSpPr/>
      </dsp:nvSpPr>
      <dsp:spPr>
        <a:xfrm>
          <a:off x="2892317" y="1768179"/>
          <a:ext cx="556271" cy="650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892317" y="1898326"/>
        <a:ext cx="389390" cy="390439"/>
      </dsp:txXfrm>
    </dsp:sp>
    <dsp:sp modelId="{4B159069-2AD0-4A8D-A367-4CDAEE7F02C8}">
      <dsp:nvSpPr>
        <dsp:cNvPr id="0" name=""/>
        <dsp:cNvSpPr/>
      </dsp:nvSpPr>
      <dsp:spPr>
        <a:xfrm>
          <a:off x="3679494" y="1306368"/>
          <a:ext cx="2623923" cy="1574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Human Behavior Analysis</a:t>
          </a:r>
        </a:p>
      </dsp:txBody>
      <dsp:txXfrm>
        <a:off x="3725605" y="1352479"/>
        <a:ext cx="2531701" cy="1482132"/>
      </dsp:txXfrm>
    </dsp:sp>
    <dsp:sp modelId="{C8B637F0-6A9A-48C2-89FA-00FD6FEAFFD7}">
      <dsp:nvSpPr>
        <dsp:cNvPr id="0" name=""/>
        <dsp:cNvSpPr/>
      </dsp:nvSpPr>
      <dsp:spPr>
        <a:xfrm>
          <a:off x="6565811" y="1768179"/>
          <a:ext cx="556271" cy="650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565811" y="1898326"/>
        <a:ext cx="389390" cy="390439"/>
      </dsp:txXfrm>
    </dsp:sp>
    <dsp:sp modelId="{FBEBC77A-3CC2-44FE-9FE2-87982C7ECCFF}">
      <dsp:nvSpPr>
        <dsp:cNvPr id="0" name=""/>
        <dsp:cNvSpPr/>
      </dsp:nvSpPr>
      <dsp:spPr>
        <a:xfrm>
          <a:off x="7352988" y="1306368"/>
          <a:ext cx="2623923" cy="1574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 Data Resources </a:t>
          </a:r>
          <a:br>
            <a:rPr lang="en-US" sz="2300" kern="1200"/>
          </a:br>
          <a:r>
            <a:rPr lang="en-US" sz="2300" kern="1200"/>
            <a:t>&amp; </a:t>
          </a:r>
          <a:br>
            <a:rPr lang="en-US" sz="2300" kern="1200"/>
          </a:br>
          <a:r>
            <a:rPr lang="en-US" sz="2300" kern="1200"/>
            <a:t>Geographical Adaptation</a:t>
          </a:r>
        </a:p>
      </dsp:txBody>
      <dsp:txXfrm>
        <a:off x="7399099" y="1352479"/>
        <a:ext cx="2531701" cy="1482132"/>
      </dsp:txXfrm>
    </dsp:sp>
    <dsp:sp modelId="{7B1A34D5-69C8-4E46-A203-409CF17A73EB}">
      <dsp:nvSpPr>
        <dsp:cNvPr id="0" name=""/>
        <dsp:cNvSpPr/>
      </dsp:nvSpPr>
      <dsp:spPr>
        <a:xfrm>
          <a:off x="10239304" y="1768179"/>
          <a:ext cx="556271" cy="6507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0239304" y="1898326"/>
        <a:ext cx="389390" cy="390439"/>
      </dsp:txXfrm>
    </dsp:sp>
    <dsp:sp modelId="{D4E08728-29C3-4BAB-AC67-953571A9D9EF}">
      <dsp:nvSpPr>
        <dsp:cNvPr id="0" name=""/>
        <dsp:cNvSpPr/>
      </dsp:nvSpPr>
      <dsp:spPr>
        <a:xfrm>
          <a:off x="11026481" y="1306368"/>
          <a:ext cx="2623923" cy="1574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Rule Enforcement &amp;</a:t>
          </a:r>
          <a:br>
            <a:rPr lang="en-US" sz="2300" kern="1200"/>
          </a:br>
          <a:r>
            <a:rPr lang="en-US" sz="2300" kern="1200"/>
            <a:t> </a:t>
          </a:r>
          <a:r>
            <a:rPr lang="en-US" sz="2300" kern="1200" err="1"/>
            <a:t>ViolationDetection</a:t>
          </a:r>
          <a:endParaRPr lang="en-US" sz="2300" kern="1200"/>
        </a:p>
      </dsp:txBody>
      <dsp:txXfrm>
        <a:off x="11072592" y="1352479"/>
        <a:ext cx="2531701" cy="1482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A193EF-9425-4498-A0CB-E73623C00911}">
      <dsp:nvSpPr>
        <dsp:cNvPr id="0" name=""/>
        <dsp:cNvSpPr/>
      </dsp:nvSpPr>
      <dsp:spPr>
        <a:xfrm>
          <a:off x="4770530" y="2034"/>
          <a:ext cx="1802969" cy="1802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Real-time Vehicle &amp; Pedestrian Detection </a:t>
          </a:r>
        </a:p>
      </dsp:txBody>
      <dsp:txXfrm>
        <a:off x="5034569" y="266073"/>
        <a:ext cx="1274891" cy="1274891"/>
      </dsp:txXfrm>
    </dsp:sp>
    <dsp:sp modelId="{E65C0595-B4CE-4E5D-9AA8-5AD69418013E}">
      <dsp:nvSpPr>
        <dsp:cNvPr id="0" name=""/>
        <dsp:cNvSpPr/>
      </dsp:nvSpPr>
      <dsp:spPr>
        <a:xfrm rot="2160000">
          <a:off x="6516176" y="1386182"/>
          <a:ext cx="477866" cy="6085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529866" y="1465750"/>
        <a:ext cx="334506" cy="365102"/>
      </dsp:txXfrm>
    </dsp:sp>
    <dsp:sp modelId="{B2082C46-70DC-45D3-B93D-7056A9075895}">
      <dsp:nvSpPr>
        <dsp:cNvPr id="0" name=""/>
        <dsp:cNvSpPr/>
      </dsp:nvSpPr>
      <dsp:spPr>
        <a:xfrm>
          <a:off x="6958602" y="1591761"/>
          <a:ext cx="1802969" cy="1802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Traffic Violation &amp; Driver Behavior Analysis </a:t>
          </a:r>
        </a:p>
      </dsp:txBody>
      <dsp:txXfrm>
        <a:off x="7222641" y="1855800"/>
        <a:ext cx="1274891" cy="1274891"/>
      </dsp:txXfrm>
    </dsp:sp>
    <dsp:sp modelId="{E683F299-5DDC-4D53-8386-4FFD7C86CD18}">
      <dsp:nvSpPr>
        <dsp:cNvPr id="0" name=""/>
        <dsp:cNvSpPr/>
      </dsp:nvSpPr>
      <dsp:spPr>
        <a:xfrm rot="6480000">
          <a:off x="7207448" y="3462249"/>
          <a:ext cx="477866" cy="6085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7301278" y="3515777"/>
        <a:ext cx="334506" cy="365102"/>
      </dsp:txXfrm>
    </dsp:sp>
    <dsp:sp modelId="{9CC32E2A-569F-4F4C-97C2-D68E043279B3}">
      <dsp:nvSpPr>
        <dsp:cNvPr id="0" name=""/>
        <dsp:cNvSpPr/>
      </dsp:nvSpPr>
      <dsp:spPr>
        <a:xfrm>
          <a:off x="6122833" y="4163994"/>
          <a:ext cx="1802969" cy="1802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Urban Scene Understanding &amp; Dataset Utility </a:t>
          </a:r>
        </a:p>
      </dsp:txBody>
      <dsp:txXfrm>
        <a:off x="6386872" y="4428033"/>
        <a:ext cx="1274891" cy="1274891"/>
      </dsp:txXfrm>
    </dsp:sp>
    <dsp:sp modelId="{446D56F0-0F45-4FA9-B39F-B8F07EAC93FA}">
      <dsp:nvSpPr>
        <dsp:cNvPr id="0" name=""/>
        <dsp:cNvSpPr/>
      </dsp:nvSpPr>
      <dsp:spPr>
        <a:xfrm rot="10800000">
          <a:off x="5446606" y="4761228"/>
          <a:ext cx="477866" cy="6085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5589966" y="4882928"/>
        <a:ext cx="334506" cy="365102"/>
      </dsp:txXfrm>
    </dsp:sp>
    <dsp:sp modelId="{FC688A21-4A9A-40CF-9FE1-CA72B9931F6D}">
      <dsp:nvSpPr>
        <dsp:cNvPr id="0" name=""/>
        <dsp:cNvSpPr/>
      </dsp:nvSpPr>
      <dsp:spPr>
        <a:xfrm>
          <a:off x="3418227" y="4163994"/>
          <a:ext cx="1802969" cy="1802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Explainable &amp; Adaptive AI Models </a:t>
          </a:r>
        </a:p>
      </dsp:txBody>
      <dsp:txXfrm>
        <a:off x="3682266" y="4428033"/>
        <a:ext cx="1274891" cy="1274891"/>
      </dsp:txXfrm>
    </dsp:sp>
    <dsp:sp modelId="{3635F28F-1A4D-4432-A4AE-B73E23C2655E}">
      <dsp:nvSpPr>
        <dsp:cNvPr id="0" name=""/>
        <dsp:cNvSpPr/>
      </dsp:nvSpPr>
      <dsp:spPr>
        <a:xfrm rot="15120000">
          <a:off x="3667074" y="3487974"/>
          <a:ext cx="477866" cy="6085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3760904" y="3677846"/>
        <a:ext cx="334506" cy="365102"/>
      </dsp:txXfrm>
    </dsp:sp>
    <dsp:sp modelId="{6B3E6720-2C85-4EA7-8ED7-D81B9BE5CB91}">
      <dsp:nvSpPr>
        <dsp:cNvPr id="0" name=""/>
        <dsp:cNvSpPr/>
      </dsp:nvSpPr>
      <dsp:spPr>
        <a:xfrm>
          <a:off x="2582458" y="1591761"/>
          <a:ext cx="1802969" cy="1802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cs typeface="Arial" panose="020B0604020202020204" pitchFamily="34" charset="0"/>
            </a:rPr>
            <a:t>Traffic Monitoring &amp; Enforcement Automation</a:t>
          </a:r>
        </a:p>
      </dsp:txBody>
      <dsp:txXfrm>
        <a:off x="2846497" y="1855800"/>
        <a:ext cx="1274891" cy="1274891"/>
      </dsp:txXfrm>
    </dsp:sp>
    <dsp:sp modelId="{6F31A215-12F8-46EA-B655-B36435D1F11A}">
      <dsp:nvSpPr>
        <dsp:cNvPr id="0" name=""/>
        <dsp:cNvSpPr/>
      </dsp:nvSpPr>
      <dsp:spPr>
        <a:xfrm rot="19440000">
          <a:off x="4328104" y="1402081"/>
          <a:ext cx="477866" cy="6085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341794" y="1565913"/>
        <a:ext cx="334506" cy="365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26" y="0"/>
            <a:ext cx="2224257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69352" y="0"/>
            <a:ext cx="8324850" cy="4943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6000" b="1" spc="-89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 </a:t>
            </a:r>
            <a:r>
              <a:rPr lang="en-US" sz="5400" b="1" spc="-89">
                <a:solidFill>
                  <a:srgbClr val="FFFFFF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latin typeface="Arial Black"/>
                <a:ea typeface="Telegraf Bold"/>
                <a:cs typeface="Telegraf Bold"/>
                <a:sym typeface="Telegraf Bold"/>
              </a:rPr>
              <a:t>“An Overview of Research Papers Analysis Regarding Road Scene Analysis”</a:t>
            </a:r>
            <a:endParaRPr lang="en-US" sz="5400">
              <a:effectLst>
                <a:outerShdw blurRad="50800" dist="50800" dir="1800000" algn="ctr" rotWithShape="0">
                  <a:srgbClr val="000000">
                    <a:alpha val="43137"/>
                  </a:srgbClr>
                </a:outerShdw>
              </a:effectLst>
              <a:latin typeface="Arial Blac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33B07-D651-4A95-8DE1-608F09EF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5" y="632229"/>
            <a:ext cx="3736764" cy="3158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A858A-FB01-8042-5622-006D173E1CC2}"/>
              </a:ext>
            </a:extLst>
          </p:cNvPr>
          <p:cNvSpPr txBox="1"/>
          <p:nvPr/>
        </p:nvSpPr>
        <p:spPr>
          <a:xfrm>
            <a:off x="9343562" y="8583864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Presented By : Sourina Dutta Oishi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B78C4-A645-4D31-CD1E-04B69EF01842}"/>
              </a:ext>
            </a:extLst>
          </p:cNvPr>
          <p:cNvSpPr txBox="1"/>
          <p:nvPr/>
        </p:nvSpPr>
        <p:spPr>
          <a:xfrm>
            <a:off x="9343561" y="7550623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Supervisor : MD Tamim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553516"/>
            <a:ext cx="14265272" cy="889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Studied Papers &amp; Identified Categories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3C61801-988B-4234-816B-4F302699FE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7469912"/>
              </p:ext>
            </p:extLst>
          </p:nvPr>
        </p:nvGraphicFramePr>
        <p:xfrm>
          <a:off x="3018693" y="3077308"/>
          <a:ext cx="13656407" cy="4187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35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863728" y="315917"/>
            <a:ext cx="6886575" cy="94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 </a:t>
            </a:r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Identified Patterns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B21DA41-4C62-45A5-9253-43E1C189CE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5340308"/>
              </p:ext>
            </p:extLst>
          </p:nvPr>
        </p:nvGraphicFramePr>
        <p:xfrm>
          <a:off x="3883269" y="2006600"/>
          <a:ext cx="11344031" cy="5968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471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724655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840526"/>
            <a:ext cx="16102618" cy="2634534"/>
            <a:chOff x="452318" y="117597"/>
            <a:chExt cx="21470160" cy="3512711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117597"/>
              <a:ext cx="21470160" cy="24888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/>
              <a:r>
                <a:rPr lang="en-US" sz="4400" b="1">
                  <a:solidFill>
                    <a:srgbClr val="0070C0"/>
                  </a:solidFill>
                  <a:latin typeface="Arial Black" panose="020B0A04020102020204" pitchFamily="34" charset="0"/>
                </a:rPr>
                <a:t>Category 1:</a:t>
              </a:r>
              <a:r>
                <a:rPr lang="en-US" sz="6000" b="1">
                  <a:solidFill>
                    <a:srgbClr val="0070C0"/>
                  </a:solidFill>
                </a:rPr>
                <a:t> </a:t>
              </a:r>
              <a:r>
                <a:rPr lang="en-US" sz="4400">
                  <a:solidFill>
                    <a:srgbClr val="0070C0"/>
                  </a:solidFill>
                  <a:latin typeface="Arial Black" panose="020B0A04020102020204" pitchFamily="34" charset="0"/>
                </a:rPr>
                <a:t>Scene Perception &amp; Object Detection </a:t>
              </a:r>
            </a:p>
            <a:p>
              <a:pPr marL="0" lvl="0" indent="0" algn="l">
                <a:lnSpc>
                  <a:spcPts val="7699"/>
                </a:lnSpc>
              </a:pPr>
              <a:endParaRPr lang="en-US" sz="6000" b="1" spc="-69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185958" y="3066051"/>
              <a:ext cx="9182100" cy="5642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>
                  <a:solidFill>
                    <a:srgbClr val="246E44"/>
                  </a:solidFill>
                  <a:latin typeface="Arial Black" panose="020B0A04020102020204" pitchFamily="34" charset="0"/>
                  <a:ea typeface="Telegraf Bold"/>
                  <a:cs typeface="Arial" panose="020B0604020202020204" pitchFamily="34" charset="0"/>
                  <a:sym typeface="Telegraf Bold"/>
                </a:rPr>
                <a:t>Key Insights and Findings</a:t>
              </a:r>
              <a:r>
                <a:rPr lang="en-US" sz="3000" b="1" spc="-30">
                  <a:solidFill>
                    <a:srgbClr val="246E44"/>
                  </a:solidFill>
                  <a:latin typeface="Arial Black" panose="020B0A04020102020204" pitchFamily="34" charset="0"/>
                  <a:ea typeface="Telegraf Bold"/>
                  <a:cs typeface="Arial" panose="020B0604020202020204" pitchFamily="34" charset="0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97180B3A-6218-4B69-899E-DDFC38A2D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7270" y="3848057"/>
            <a:ext cx="1557999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Real-time detection of vehicles, pedestrians, and motorbikes using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deep learning (YOLO/CNN) and sensor     fusion (camera + LiDAR + radar)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Multi-object tracking enables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accurate environment mapping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, even in dense urban traffic.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Robust detection techniques handle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occlusions, overlaps, and chaotic traffic scenarios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foundation for autonomous traffic monitoring and AI traffic systems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7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616788" y="6581739"/>
            <a:ext cx="7018605" cy="187792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800" b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System output examples:</a:t>
            </a: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 Object detection for sequence(a) and close-up examples (b, c) </a:t>
            </a:r>
            <a:b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2400" b="1" err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a,b</a:t>
            </a: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) Vehicle detection on the road sequence</a:t>
            </a:r>
            <a:endParaRPr sz="2400" b="1">
              <a:solidFill>
                <a:schemeClr val="bg1">
                  <a:lumMod val="9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329556" y="497864"/>
            <a:ext cx="822324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</a:rPr>
              <a:t>Example &amp; Findings (Category 1)</a:t>
            </a:r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  <a:ea typeface="Calibri"/>
                <a:cs typeface="Calibri"/>
              </a:rPr>
              <a:t>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531918" y="2464656"/>
            <a:ext cx="7496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bg1"/>
                </a:solidFill>
              </a:rPr>
              <a:t>Example Outputs:</a:t>
            </a:r>
            <a:br>
              <a:rPr lang="en-US" sz="3000" b="1">
                <a:solidFill>
                  <a:schemeClr val="bg1"/>
                </a:solidFill>
              </a:rPr>
            </a:br>
            <a:endParaRPr lang="en-US" sz="3000" b="1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2DFF97-2B94-467D-AD68-4B1B39FA9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12" y="868135"/>
            <a:ext cx="5170955" cy="4079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96EA06-D874-4BE7-9FDE-2BB37FC18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12" y="5339630"/>
            <a:ext cx="5294780" cy="3869683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9DB45D4D-EBDC-4234-9220-08B93CEF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210" y="3157631"/>
            <a:ext cx="878685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Real-time detection of vehicles, pedestrians, and motorbikes using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YOLO/CNN and sensor fusion (camera + LiDAR + radar)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Multi-object tracking ensures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accurate mapping in dense urban traffic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Robust detection handles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occlusions, overlaps, and chaotic environments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15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451003"/>
            <a:ext cx="6886573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Conclusion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285717"/>
            <a:ext cx="93345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Enables accurate real-time detection and tracking of vehicles, pedestrians, and motorbikes. Forms the foundation for AI-based traffic monitoring.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000" b="1">
              <a:solidFill>
                <a:srgbClr val="246E44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BF081C7-85EA-4354-B768-F8547A69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5708738"/>
            <a:ext cx="1374594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Provides the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foundation for real-time road scene analysis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using camera/LiDAR/radar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accurate detection of vehicles, pedestrians, and motorbikes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for monitoring traffic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Forms the basis for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AI traffic surveillance systems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and autonomous monitoring.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E7FB1-F607-4F5E-84D2-1826E9264DDD}"/>
              </a:ext>
            </a:extLst>
          </p:cNvPr>
          <p:cNvSpPr txBox="1"/>
          <p:nvPr/>
        </p:nvSpPr>
        <p:spPr>
          <a:xfrm>
            <a:off x="1855182" y="4614118"/>
            <a:ext cx="9339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Implementation:</a:t>
            </a:r>
            <a:endParaRPr lang="en-US" sz="440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24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80582" y="440837"/>
            <a:ext cx="13943618" cy="2693632"/>
            <a:chOff x="486185" y="-415321"/>
            <a:chExt cx="18591494" cy="3591510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86185" y="-415321"/>
              <a:ext cx="18591494" cy="25742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99"/>
                </a:lnSpc>
              </a:pPr>
              <a:r>
                <a:rPr lang="en-US" sz="4400" b="1">
                  <a:solidFill>
                    <a:srgbClr val="0070C0"/>
                  </a:solidFill>
                  <a:latin typeface="Arial Black" panose="020B0A04020102020204" pitchFamily="34" charset="0"/>
                </a:rPr>
                <a:t>Category 2:</a:t>
              </a:r>
              <a:r>
                <a:rPr lang="en-US" sz="6000" b="1">
                  <a:solidFill>
                    <a:srgbClr val="0070C0"/>
                  </a:solidFill>
                </a:rPr>
                <a:t> </a:t>
              </a:r>
              <a:r>
                <a:rPr lang="en-US" sz="4400">
                  <a:solidFill>
                    <a:srgbClr val="0070C0"/>
                  </a:solidFill>
                  <a:latin typeface="Arial Black" panose="020B0A04020102020204" pitchFamily="34" charset="0"/>
                </a:rPr>
                <a:t>Human Behavior Analysis</a:t>
              </a:r>
            </a:p>
            <a:p>
              <a:pPr marL="0" lvl="0" indent="0" algn="l">
                <a:lnSpc>
                  <a:spcPts val="7699"/>
                </a:lnSpc>
              </a:pPr>
              <a:endParaRPr lang="en-US" sz="6000" b="1" spc="-69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850202" y="2611932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>
                  <a:solidFill>
                    <a:srgbClr val="246E44"/>
                  </a:solidFill>
                  <a:latin typeface="Arial Black" panose="020B0A04020102020204" pitchFamily="34" charset="0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>
                  <a:solidFill>
                    <a:srgbClr val="246E44"/>
                  </a:solidFill>
                  <a:latin typeface="Arial Black" panose="020B0A04020102020204" pitchFamily="34" charset="0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F8346294-B298-40AD-A8A5-94E47FBDD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995" y="3756278"/>
            <a:ext cx="124638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Pedestrian behavior modeling improves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crossing prediction and collision avoidance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Use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neural-symbolic/fuzzy approaches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provides explainable and interpretable predictions.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Predicts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driver/rider behaviors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such as lane changes, rash driving, and risky maneuvers.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Behavioral datasets (e.g., CS-MRBD) allow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training models for chaotic traffic environments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323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616788" y="6581739"/>
            <a:ext cx="7018605" cy="187792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***System output examples: a)Pedestrian crossing behavior, 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Overtaking with passing through Obstructions,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lane change,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2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595214"/>
            <a:ext cx="822324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</a:rPr>
              <a:t>Example &amp; Findings (Category 2)</a:t>
            </a:r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  <a:ea typeface="Calibri"/>
                <a:cs typeface="Calibri"/>
              </a:rPr>
              <a:t>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414438" y="2535643"/>
            <a:ext cx="7496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bg1"/>
                </a:solidFill>
              </a:rPr>
              <a:t>Example Outputs:</a:t>
            </a:r>
            <a:br>
              <a:rPr lang="en-US" sz="3000" b="1">
                <a:solidFill>
                  <a:schemeClr val="bg1"/>
                </a:solidFill>
              </a:rPr>
            </a:br>
            <a:endParaRPr lang="en-US" sz="3000" b="1">
              <a:solidFill>
                <a:schemeClr val="bg1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DB45D4D-EBDC-4234-9220-08B93CEF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877" y="4004561"/>
            <a:ext cx="8786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5F9CB0C-05B4-444C-B490-414C5A571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38" y="3345437"/>
            <a:ext cx="926706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Predicts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driver/rider behaviors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lane changes, rash driving, risky maneuvers.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Models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pedestrian crossing and movement patterns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for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Explainable AI (neural + symbolic/fuzzy) enables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interpretable behavior prediction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975678-52A6-4070-A59C-7C1423BE6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7086" y="244811"/>
            <a:ext cx="6315075" cy="37610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2128CF-37F7-4A2F-B5A2-E42744E8E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883" y="7270889"/>
            <a:ext cx="6237480" cy="26870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E3E6B6-C82E-4116-9B20-28B4B4FB3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882" y="4252527"/>
            <a:ext cx="6237481" cy="26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451003"/>
            <a:ext cx="6886573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Conclusion: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285717"/>
            <a:ext cx="9334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Predicts driver, rider, and pedestrian behaviors to enhance road safety. Supports proactive interventions in risky traffic scenarios.</a:t>
            </a:r>
            <a:endParaRPr lang="en-US" sz="3000" b="1">
              <a:solidFill>
                <a:srgbClr val="246E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BF081C7-85EA-4354-B768-F8547A69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5699105"/>
            <a:ext cx="1312474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Predicts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risky driver and rider behaviors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proactive safety measures.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Pedestrian movement modeling supports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 avoidance and crowd management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 ensures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trustworthy predictions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decision-making in enforcement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246E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E7FB1-F607-4F5E-84D2-1826E9264DDD}"/>
              </a:ext>
            </a:extLst>
          </p:cNvPr>
          <p:cNvSpPr txBox="1"/>
          <p:nvPr/>
        </p:nvSpPr>
        <p:spPr>
          <a:xfrm>
            <a:off x="1855182" y="4614118"/>
            <a:ext cx="9339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Implementation:</a:t>
            </a:r>
            <a:endParaRPr lang="en-US" sz="440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743141" y="503079"/>
            <a:ext cx="16733395" cy="3743734"/>
            <a:chOff x="302930" y="-332332"/>
            <a:chExt cx="22311197" cy="6831622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302930" y="-332332"/>
              <a:ext cx="22311197" cy="38188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99"/>
                </a:lnSpc>
              </a:pPr>
              <a:r>
                <a:rPr lang="en-US" sz="4400" b="1">
                  <a:solidFill>
                    <a:srgbClr val="0070C0"/>
                  </a:solidFill>
                  <a:latin typeface="Arial Black" panose="020B0A04020102020204" pitchFamily="34" charset="0"/>
                </a:rPr>
                <a:t>Category 3: </a:t>
              </a:r>
              <a:r>
                <a:rPr lang="en-US" sz="4400">
                  <a:solidFill>
                    <a:srgbClr val="0070C0"/>
                  </a:solidFill>
                  <a:latin typeface="Arial Black" panose="020B0A04020102020204" pitchFamily="34" charset="0"/>
                </a:rPr>
                <a:t>Data Resources &amp; Geographical 				  				Adaptation</a:t>
              </a:r>
            </a:p>
            <a:p>
              <a:pPr marL="0" lvl="0" indent="0" algn="l">
                <a:lnSpc>
                  <a:spcPts val="7699"/>
                </a:lnSpc>
              </a:pPr>
              <a:endParaRPr lang="en-US" sz="4400" b="1" spc="-69">
                <a:solidFill>
                  <a:srgbClr val="0070C0"/>
                </a:solidFill>
                <a:latin typeface="Arial Black" panose="020B0A04020102020204" pitchFamily="34" charset="0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714735" y="5935032"/>
              <a:ext cx="9182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1ADF596-C85B-4EBF-A698-BC551AE0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995" y="5001866"/>
            <a:ext cx="1464233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Multi-object urban datasets with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annotations for vehicles, pedestrians, motorbikes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support model training.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local traffic patterns and geographic context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improves model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Dataset curation and feature selection guide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adaptation to specific urban environments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Sensor fusion and mapping techniques enable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scalable scene understanding across regions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906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561437" y="6673179"/>
            <a:ext cx="7018605" cy="187792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***System output examples: a) multi-objects,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Systematic Method to Model High-Fidelity Digital Twin for Real-World Locations,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Images are captured from the driving perspective of diverse road scenes, objects from</a:t>
            </a:r>
          </a:p>
          <a:p>
            <a:pPr>
              <a:lnSpc>
                <a:spcPts val="2800"/>
              </a:lnSpc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viewpoints</a:t>
            </a:r>
            <a:endParaRPr sz="2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724769" y="2381091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595214"/>
            <a:ext cx="822324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</a:rPr>
              <a:t>Example &amp; Findings (Category 3)</a:t>
            </a:r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  <a:ea typeface="Calibri"/>
                <a:cs typeface="Calibri"/>
              </a:rPr>
              <a:t>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414438" y="2535643"/>
            <a:ext cx="7496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bg1"/>
                </a:solidFill>
              </a:rPr>
              <a:t>Example Outputs:</a:t>
            </a:r>
            <a:br>
              <a:rPr lang="en-US" sz="3000" b="1">
                <a:solidFill>
                  <a:schemeClr val="bg1"/>
                </a:solidFill>
              </a:rPr>
            </a:br>
            <a:endParaRPr lang="en-US" sz="3000" b="1">
              <a:solidFill>
                <a:schemeClr val="bg1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DB45D4D-EBDC-4234-9220-08B93CEF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877" y="4004561"/>
            <a:ext cx="8786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2ACE7C3-77B7-4B71-9DBE-CD4E3A8C1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38" y="3173617"/>
            <a:ext cx="90358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Multi-object urban datasets provide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annotated vehicles, pedestrians, motorbikes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for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Local traffic patterns and geographic context improve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model performance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Data curation supports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adaptation to chaotic urban environments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18B0C8-0BCC-4E5E-92DE-C1BF26E4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618" y="595214"/>
            <a:ext cx="3761276" cy="25044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0C9201-E785-4D61-B9D5-FEAC79CC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9894" y="595214"/>
            <a:ext cx="2143469" cy="250447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9270CB-D3FF-4419-BF4E-209F6E36D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884" y="3370511"/>
            <a:ext cx="6276278" cy="37433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7421A84-E44F-4D1A-8241-43E3B5F0F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884" y="7415497"/>
            <a:ext cx="6281039" cy="251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8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622789"/>
            <a:ext cx="6886573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Conclusion: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128748"/>
            <a:ext cx="9334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annotated datasets and local traffic adaptation for effective model training. Ensures scalable deployment across urban environments.</a:t>
            </a:r>
            <a:endParaRPr lang="en-US" sz="3000" b="1">
              <a:solidFill>
                <a:srgbClr val="246E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E7FB1-F607-4F5E-84D2-1826E9264DDD}"/>
              </a:ext>
            </a:extLst>
          </p:cNvPr>
          <p:cNvSpPr txBox="1"/>
          <p:nvPr/>
        </p:nvSpPr>
        <p:spPr>
          <a:xfrm>
            <a:off x="1855182" y="4614118"/>
            <a:ext cx="9339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Implementation:</a:t>
            </a:r>
            <a:endParaRPr lang="en-US" sz="4400">
              <a:latin typeface="Arial Black" panose="020B0A040201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8D13016-10AC-45B4-BE30-3013B5372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5652938"/>
            <a:ext cx="124059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Ready-to-use urban datasets accelerate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model training and testing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Geographic adaptation improves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local traffic condition understanding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Multi-sensor and multi-object data allow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scalable deployment across different cities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1533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717741" y="759146"/>
            <a:ext cx="15998759" cy="3314526"/>
            <a:chOff x="269063" y="134943"/>
            <a:chExt cx="21331682" cy="6048396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269063" y="134943"/>
              <a:ext cx="21331682" cy="52264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7699"/>
                </a:lnSpc>
              </a:pPr>
              <a:r>
                <a:rPr lang="en-US" sz="4400" b="1">
                  <a:solidFill>
                    <a:srgbClr val="0070C0"/>
                  </a:solidFill>
                  <a:latin typeface="Arial Black" panose="020B0A04020102020204" pitchFamily="34" charset="0"/>
                </a:rPr>
                <a:t>Category 4: </a:t>
              </a:r>
              <a:r>
                <a:rPr lang="en-US" sz="4400">
                  <a:solidFill>
                    <a:srgbClr val="0070C0"/>
                  </a:solidFill>
                  <a:latin typeface="Arial Black" panose="020B0A04020102020204" pitchFamily="34" charset="0"/>
                </a:rPr>
                <a:t>Rule Enforcement &amp; Violation Detection</a:t>
              </a:r>
            </a:p>
            <a:p>
              <a:pPr>
                <a:lnSpc>
                  <a:spcPts val="7699"/>
                </a:lnSpc>
              </a:pPr>
              <a:endParaRPr lang="en-US" sz="4400">
                <a:solidFill>
                  <a:srgbClr val="0070C0"/>
                </a:solidFill>
                <a:latin typeface="Arial Black" panose="020B0A04020102020204" pitchFamily="34" charset="0"/>
              </a:endParaRPr>
            </a:p>
            <a:p>
              <a:pPr marL="0" lvl="0" indent="0" algn="l">
                <a:lnSpc>
                  <a:spcPts val="7699"/>
                </a:lnSpc>
              </a:pPr>
              <a:endParaRPr lang="en-US" sz="4400" b="1" spc="-69">
                <a:solidFill>
                  <a:srgbClr val="0070C0"/>
                </a:solidFill>
                <a:latin typeface="Arial Black" panose="020B0A04020102020204" pitchFamily="34" charset="0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714735" y="5619081"/>
              <a:ext cx="9182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1ADF596-C85B-4EBF-A698-BC551AE0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995" y="4796147"/>
            <a:ext cx="1459770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license plate recognition and traffic violation detection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reduces manual policing effort.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of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red-light violations, illegal lane changes, blocks the </a:t>
            </a:r>
            <a:r>
              <a:rPr lang="en-US" sz="2400" b="1" err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padestrian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lane and reckless driving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video feeds.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Genetic algorithms and optimization techniques improve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 efficiency and system reliability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the backbone for </a:t>
            </a:r>
            <a:r>
              <a:rPr lang="en-US" sz="2400" b="1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traffic police and automated enforcement systems</a:t>
            </a: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rgbClr val="246E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03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-859302" y="-144661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561437" y="6673179"/>
            <a:ext cx="7018605" cy="187792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***System output examples: 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a)License plate recognition,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b) Violation: Swerving,</a:t>
            </a:r>
            <a:b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c) Violation: Blocking the pedestrian lane</a:t>
            </a:r>
            <a:endParaRPr sz="2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724769" y="2381091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595214"/>
            <a:ext cx="8223249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</a:rPr>
              <a:t>Example &amp; Findings (Category 4)</a:t>
            </a:r>
            <a:r>
              <a:rPr lang="en-US" sz="4400" b="1">
                <a:solidFill>
                  <a:schemeClr val="bg1"/>
                </a:solidFill>
                <a:latin typeface="Arial Black" panose="020B0A04020102020204" pitchFamily="34" charset="0"/>
                <a:ea typeface="Calibri"/>
                <a:cs typeface="Calibri"/>
              </a:rPr>
              <a:t>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94410" y="2406870"/>
            <a:ext cx="74960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bg1"/>
                </a:solidFill>
              </a:rPr>
              <a:t>Example Outputs:</a:t>
            </a:r>
            <a:br>
              <a:rPr lang="en-US" sz="3000" b="1">
                <a:solidFill>
                  <a:schemeClr val="bg1"/>
                </a:solidFill>
              </a:rPr>
            </a:br>
            <a:endParaRPr lang="en-US" sz="3000" b="1">
              <a:solidFill>
                <a:schemeClr val="bg1"/>
              </a:solidFill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DB45D4D-EBDC-4234-9220-08B93CEF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877" y="4004561"/>
            <a:ext cx="87868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F813A33-5246-4762-AF60-680527FBA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527" y="3081231"/>
            <a:ext cx="92871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Automated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license plate recognition and violation detection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reduces manual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Detects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red-light violations, illegal lane changes, and reckless driving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Optimization methods (e.g., genetic algorithms) improve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detection efficiency and reliability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09278E-2F8C-4181-8F98-584E5ED3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67" y="842856"/>
            <a:ext cx="6276278" cy="25122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1B4F35-6D29-474B-9266-9179DF08E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769" y="3710904"/>
            <a:ext cx="6225776" cy="29622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D119042-A53C-4241-8D92-381121DE7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769" y="7065199"/>
            <a:ext cx="621939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4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55182" y="622789"/>
            <a:ext cx="6886573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>
                <a:solidFill>
                  <a:srgbClr val="0070C0"/>
                </a:solidFill>
              </a:rPr>
              <a:t>Conclusion:</a:t>
            </a:r>
            <a:endParaRPr lang="en-US" sz="6000" b="1" spc="-69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55182" y="2128748"/>
            <a:ext cx="93345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246E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Automates detection of traffic violations, reducing manual effort. Forms the backbone of AI traffic police and enforcement systems.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000" b="1">
              <a:solidFill>
                <a:srgbClr val="246E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5E7FB1-F607-4F5E-84D2-1826E9264DDD}"/>
              </a:ext>
            </a:extLst>
          </p:cNvPr>
          <p:cNvSpPr txBox="1"/>
          <p:nvPr/>
        </p:nvSpPr>
        <p:spPr>
          <a:xfrm>
            <a:off x="1855182" y="4634062"/>
            <a:ext cx="93399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rgbClr val="0070C0"/>
                </a:solidFill>
                <a:latin typeface="Arial Black" panose="020B0A04020102020204" pitchFamily="34" charset="0"/>
              </a:rPr>
              <a:t>Implementation:</a:t>
            </a:r>
            <a:endParaRPr lang="en-US" sz="4400">
              <a:latin typeface="Arial Black" panose="020B0A040201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649C72-F8A1-4DEF-B76D-E2386D999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5628874"/>
            <a:ext cx="150813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Automates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license plate recognition and traffic violation detection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, reducing manual effort.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AI traffic police systems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 to detect red-light violations, illegal lane changes, and reckless driving.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Optimization techniques improve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system efficiency, reliability, and real-time response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246E44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9034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146538" y="-142784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537504-2527-1616-797E-F8202DD8C744}"/>
              </a:ext>
            </a:extLst>
          </p:cNvPr>
          <p:cNvGrpSpPr/>
          <p:nvPr/>
        </p:nvGrpSpPr>
        <p:grpSpPr>
          <a:xfrm>
            <a:off x="9" y="3506023"/>
            <a:ext cx="16588144" cy="1329746"/>
            <a:chOff x="3182425" y="3506023"/>
            <a:chExt cx="1084860" cy="6359977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0966A004-6C73-ED32-89FF-9E77E20E7BE8}"/>
                </a:ext>
              </a:extLst>
            </p:cNvPr>
            <p:cNvSpPr/>
            <p:nvPr/>
          </p:nvSpPr>
          <p:spPr>
            <a:xfrm>
              <a:off x="3182425" y="9259286"/>
              <a:ext cx="405385" cy="606714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A0D9F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7D76C5C5-8B20-48E7-A3A2-2BF5EF2E4E6A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B5A4E3-7598-584E-FDF0-61F079D2445E}"/>
              </a:ext>
            </a:extLst>
          </p:cNvPr>
          <p:cNvGrpSpPr/>
          <p:nvPr/>
        </p:nvGrpSpPr>
        <p:grpSpPr>
          <a:xfrm>
            <a:off x="19" y="2377677"/>
            <a:ext cx="16734674" cy="2243316"/>
            <a:chOff x="3172842" y="3506023"/>
            <a:chExt cx="1094443" cy="10729446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18B3947-5B98-2CCD-F9AD-F346A3F2885A}"/>
                </a:ext>
              </a:extLst>
            </p:cNvPr>
            <p:cNvSpPr/>
            <p:nvPr/>
          </p:nvSpPr>
          <p:spPr>
            <a:xfrm flipV="1">
              <a:off x="3172842" y="13720791"/>
              <a:ext cx="405385" cy="514678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E80C229-E174-5AB3-FAB3-6351B5A7160E}"/>
                </a:ext>
              </a:extLst>
            </p:cNvPr>
            <p:cNvSpPr txBox="1"/>
            <p:nvPr/>
          </p:nvSpPr>
          <p:spPr>
            <a:xfrm>
              <a:off x="3414347" y="3506023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6583240" y="3817327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solidFill>
                  <a:schemeClr val="bg1"/>
                </a:solidFill>
                <a:latin typeface="Arial Black"/>
                <a:ea typeface="Calibri"/>
                <a:cs typeface="Calibri"/>
              </a:rPr>
              <a:t>THANK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982EA-A270-FF9B-0158-0C06B32CB517}"/>
              </a:ext>
            </a:extLst>
          </p:cNvPr>
          <p:cNvSpPr txBox="1"/>
          <p:nvPr/>
        </p:nvSpPr>
        <p:spPr>
          <a:xfrm>
            <a:off x="9780487" y="4799453"/>
            <a:ext cx="934278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baseline="0">
                <a:solidFill>
                  <a:schemeClr val="bg1"/>
                </a:solidFill>
                <a:latin typeface="Arial Black"/>
              </a:rPr>
              <a:t>YOU</a:t>
            </a:r>
            <a:endParaRPr lang="en-US" sz="6000">
              <a:solidFill>
                <a:schemeClr val="bg1"/>
              </a:solidFill>
              <a:latin typeface="Arial Black"/>
              <a:ea typeface="Calibri"/>
              <a:cs typeface="Calibri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20D05EBA-8541-6E80-C5C7-CD03BBC1B390}"/>
              </a:ext>
            </a:extLst>
          </p:cNvPr>
          <p:cNvSpPr/>
          <p:nvPr/>
        </p:nvSpPr>
        <p:spPr>
          <a:xfrm>
            <a:off x="12095294" y="5989663"/>
            <a:ext cx="6198574" cy="126852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A0D9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B070343A-E5C4-34AB-6635-A402F8FB21EE}"/>
              </a:ext>
            </a:extLst>
          </p:cNvPr>
          <p:cNvSpPr/>
          <p:nvPr/>
        </p:nvSpPr>
        <p:spPr>
          <a:xfrm flipV="1">
            <a:off x="12095304" y="6233746"/>
            <a:ext cx="6198574" cy="107609"/>
          </a:xfrm>
          <a:custGeom>
            <a:avLst/>
            <a:gdLst/>
            <a:ahLst/>
            <a:cxnLst/>
            <a:rect l="l" t="t" r="r" b="b"/>
            <a:pathLst>
              <a:path w="852938" h="2709333">
                <a:moveTo>
                  <a:pt x="0" y="0"/>
                </a:moveTo>
                <a:lnTo>
                  <a:pt x="852938" y="0"/>
                </a:lnTo>
                <a:lnTo>
                  <a:pt x="852938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00B050"/>
          </a:solidFill>
          <a:ln>
            <a:solidFill>
              <a:srgbClr val="00B050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 descr="A logo of a university&#10;&#10;AI-generated content may be incorrect.">
            <a:extLst>
              <a:ext uri="{FF2B5EF4-FFF2-40B4-BE49-F238E27FC236}">
                <a16:creationId xmlns:a16="http://schemas.microsoft.com/office/drawing/2014/main" id="{11206C05-1FD3-CAD0-5F64-1211FE4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3" y="8018839"/>
            <a:ext cx="1709913" cy="15005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4B2147-C344-F8C9-8FEC-44EAA0476170}"/>
              </a:ext>
            </a:extLst>
          </p:cNvPr>
          <p:cNvSpPr txBox="1"/>
          <p:nvPr/>
        </p:nvSpPr>
        <p:spPr>
          <a:xfrm>
            <a:off x="7657537" y="9528662"/>
            <a:ext cx="296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PREMIERE UNIVERSITY</a:t>
            </a:r>
          </a:p>
        </p:txBody>
      </p:sp>
    </p:spTree>
    <p:extLst>
      <p:ext uri="{BB962C8B-B14F-4D97-AF65-F5344CB8AC3E}">
        <p14:creationId xmlns:p14="http://schemas.microsoft.com/office/powerpoint/2010/main" val="61973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Innovations in Sustainable Design</dc:title>
  <dc:creator>hp</dc:creator>
  <dc:description>Presentation - Innovations in Sustainable Design</dc:description>
  <cp:revision>1</cp:revision>
  <dcterms:created xsi:type="dcterms:W3CDTF">2006-08-16T00:00:00Z</dcterms:created>
  <dcterms:modified xsi:type="dcterms:W3CDTF">2025-12-02T07:28:33Z</dcterms:modified>
  <dc:identifier>DAG6GVWpC6w</dc:identifier>
</cp:coreProperties>
</file>