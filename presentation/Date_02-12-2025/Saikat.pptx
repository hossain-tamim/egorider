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8DEAEE-6261-4A23-B8B0-AA7F3CC1199A}" v="1000" dt="2025-12-02T06:12:15.9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12/2/2025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884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630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273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12/2/2025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95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0745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5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772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572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591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76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12/2/2025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156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12/2/2025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145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1424-8220/20/18/5139" TargetMode="External"/><Relationship Id="rId2" Type="http://schemas.openxmlformats.org/officeDocument/2006/relationships/hyperlink" Target="https://www.sciencedirect.com/science/article/abs/pii/S000145752500051X?via%3Dihub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7118" y="-524902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0000"/>
                </a:solidFill>
                <a:ea typeface="+mj-lt"/>
                <a:cs typeface="+mj-lt"/>
              </a:rPr>
              <a:t>Research Paper Analysis</a:t>
            </a:r>
            <a:endParaRPr lang="en-US" sz="4000" dirty="0"/>
          </a:p>
          <a:p>
            <a:r>
              <a:rPr lang="en-US" sz="1800" dirty="0">
                <a:ea typeface="+mj-lt"/>
                <a:cs typeface="+mj-lt"/>
              </a:rPr>
              <a:t>Integrating System Analysis &amp; Vision-Based Detection for Road Safety</a:t>
            </a:r>
            <a:endParaRPr 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137614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1600" dirty="0">
                <a:ea typeface="+mn-lt"/>
                <a:cs typeface="+mn-lt"/>
              </a:rPr>
            </a:br>
            <a:endParaRPr lang="en-US" sz="1600">
              <a:ea typeface="+mn-lt"/>
              <a:cs typeface="+mn-lt"/>
            </a:endParaRPr>
          </a:p>
          <a:p>
            <a:endParaRPr lang="en-US" sz="1600">
              <a:ea typeface="+mn-lt"/>
              <a:cs typeface="+mn-lt"/>
            </a:endParaRPr>
          </a:p>
          <a:p>
            <a:endParaRPr lang="en-US" sz="1600">
              <a:ea typeface="+mn-lt"/>
              <a:cs typeface="+mn-lt"/>
            </a:endParaRPr>
          </a:p>
          <a:p>
            <a:br>
              <a:rPr lang="en-US" sz="1200" dirty="0">
                <a:ea typeface="+mn-lt"/>
                <a:cs typeface="+mn-lt"/>
              </a:rPr>
            </a:br>
            <a:r>
              <a:rPr lang="en-US" sz="1200" dirty="0">
                <a:ea typeface="+mn-lt"/>
                <a:cs typeface="+mn-lt"/>
              </a:rPr>
              <a:t>Both papers address road safety from complementary perspectives: systemic causes vs. technical solutions</a:t>
            </a:r>
            <a:endParaRPr lang="en-US" sz="1200"/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EDDA9D-398E-E5D7-143E-94C1E5060712}"/>
              </a:ext>
            </a:extLst>
          </p:cNvPr>
          <p:cNvSpPr/>
          <p:nvPr/>
        </p:nvSpPr>
        <p:spPr>
          <a:xfrm>
            <a:off x="1368093" y="2056382"/>
            <a:ext cx="9453281" cy="13962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00000"/>
                </a:solidFill>
              </a:rPr>
              <a:t>Paper 1: System-Level Analysis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0000"/>
                </a:solidFill>
              </a:rPr>
              <a:t>Integrating design and system approaches for analyzing road traffic collisions in low-income settings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0000"/>
                </a:solidFill>
              </a:rPr>
              <a:t>Source:</a:t>
            </a:r>
            <a:r>
              <a:rPr lang="en-US" sz="1200" dirty="0">
                <a:solidFill>
                  <a:srgbClr val="000000"/>
                </a:solidFill>
                <a:ea typeface="+mn-lt"/>
                <a:cs typeface="+mn-lt"/>
                <a:hlinkClick r:id="rId2"/>
              </a:rPr>
              <a:t>https://www.sciencedirect.com/science/article/abs/pii/S000145752500051X?via%3Dihub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248932-0F43-0A73-9F78-0EED034F2B28}"/>
              </a:ext>
            </a:extLst>
          </p:cNvPr>
          <p:cNvSpPr/>
          <p:nvPr/>
        </p:nvSpPr>
        <p:spPr>
          <a:xfrm>
            <a:off x="1374107" y="3603890"/>
            <a:ext cx="9458905" cy="13829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000000"/>
                </a:solidFill>
              </a:rPr>
              <a:t>Paper 2: Technical Detection</a:t>
            </a:r>
            <a:endParaRPr lang="en-US" sz="1500" dirty="0">
              <a:solidFill>
                <a:srgbClr val="000000"/>
              </a:solidFill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000000"/>
                </a:solidFill>
              </a:rPr>
              <a:t>A Vision-Based Driver Assistance System with Forward Collision and Overtaking Detection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000000"/>
                </a:solidFill>
              </a:rPr>
              <a:t>Source:</a:t>
            </a:r>
            <a:r>
              <a:rPr lang="en-US" sz="1200" dirty="0">
                <a:solidFill>
                  <a:srgbClr val="000000"/>
                </a:solidFill>
                <a:ea typeface="+mn-lt"/>
                <a:cs typeface="+mn-lt"/>
                <a:hlinkClick r:id="rId3"/>
              </a:rPr>
              <a:t>https://www.mdpi.com/1424-8220/20/18/5139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1500"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FD613-8CA0-9187-9F5A-F88846738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6E3AE-A6E3-4AE0-5260-CB2F745BD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7118" y="-524902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1F2937"/>
                </a:solidFill>
              </a:rPr>
              <a:t>Paper 1: System Analysis Approach</a:t>
            </a:r>
            <a:endParaRPr lang="en-US" sz="4000"/>
          </a:p>
          <a:p>
            <a:r>
              <a:rPr lang="en-US" sz="4000" dirty="0">
                <a:ea typeface="+mj-lt"/>
                <a:cs typeface="+mj-lt"/>
              </a:rPr>
              <a:t>STAMP-STPA Framework for Bangladesh Traffic</a:t>
            </a:r>
            <a:endParaRPr lang="en-US" sz="4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D4653-369C-4249-6F0D-4AC00C1D9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137614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1600" dirty="0">
                <a:ea typeface="+mn-lt"/>
                <a:cs typeface="+mn-lt"/>
              </a:rPr>
            </a:br>
            <a:endParaRPr lang="en-US" sz="1600">
              <a:ea typeface="+mn-lt"/>
              <a:cs typeface="+mn-lt"/>
            </a:endParaRPr>
          </a:p>
          <a:p>
            <a:endParaRPr lang="en-US" sz="1600">
              <a:ea typeface="+mn-lt"/>
              <a:cs typeface="+mn-lt"/>
            </a:endParaRPr>
          </a:p>
          <a:p>
            <a:endParaRPr lang="en-US" sz="160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EF1144-6A97-1304-7629-E2CB00FC2B08}"/>
              </a:ext>
            </a:extLst>
          </p:cNvPr>
          <p:cNvSpPr/>
          <p:nvPr/>
        </p:nvSpPr>
        <p:spPr>
          <a:xfrm>
            <a:off x="1368093" y="2056382"/>
            <a:ext cx="9453281" cy="13962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Case Study</a:t>
            </a:r>
            <a:endParaRPr lang="en-US" b="1"/>
          </a:p>
          <a:p>
            <a:pPr algn="ctr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2010 </a:t>
            </a:r>
            <a:r>
              <a:rPr lang="en-US" sz="1600" dirty="0" err="1">
                <a:solidFill>
                  <a:srgbClr val="000000"/>
                </a:solidFill>
                <a:ea typeface="+mn-lt"/>
                <a:cs typeface="+mn-lt"/>
              </a:rPr>
              <a:t>Uthali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 intersection crash: Bus vs SUV</a:t>
            </a:r>
            <a:endParaRPr lang="en-US" dirty="0"/>
          </a:p>
          <a:p>
            <a:pPr algn="ctr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Result: 2 deaths, 2 injuries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AB563-78D7-2F24-9043-EE7E7FD4FE3D}"/>
              </a:ext>
            </a:extLst>
          </p:cNvPr>
          <p:cNvSpPr/>
          <p:nvPr/>
        </p:nvSpPr>
        <p:spPr>
          <a:xfrm>
            <a:off x="1374107" y="3603890"/>
            <a:ext cx="4730023" cy="29405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500" b="1" dirty="0">
                <a:solidFill>
                  <a:srgbClr val="000000"/>
                </a:solidFill>
                <a:ea typeface="+mn-lt"/>
                <a:cs typeface="+mn-lt"/>
              </a:rPr>
              <a:t>Methodology</a:t>
            </a:r>
            <a:endParaRPr lang="en-US" b="1" dirty="0"/>
          </a:p>
          <a:p>
            <a:pPr algn="just"/>
            <a:r>
              <a:rPr lang="en-US" sz="1500" dirty="0">
                <a:solidFill>
                  <a:srgbClr val="000000"/>
                </a:solidFill>
                <a:ea typeface="+mn-lt"/>
                <a:cs typeface="+mn-lt"/>
              </a:rPr>
              <a:t>• STAMP-STPA mapping</a:t>
            </a:r>
            <a:endParaRPr lang="en-US" dirty="0"/>
          </a:p>
          <a:p>
            <a:pPr algn="just"/>
            <a:r>
              <a:rPr lang="en-US" sz="1500" dirty="0">
                <a:solidFill>
                  <a:srgbClr val="000000"/>
                </a:solidFill>
                <a:ea typeface="+mn-lt"/>
                <a:cs typeface="+mn-lt"/>
              </a:rPr>
              <a:t>• Design workshops (20 experts)</a:t>
            </a:r>
            <a:endParaRPr lang="en-US" dirty="0"/>
          </a:p>
          <a:p>
            <a:pPr algn="just"/>
            <a:r>
              <a:rPr lang="en-US" sz="1500" dirty="0">
                <a:solidFill>
                  <a:srgbClr val="000000"/>
                </a:solidFill>
                <a:ea typeface="+mn-lt"/>
                <a:cs typeface="+mn-lt"/>
              </a:rPr>
              <a:t>• NLP text analysis</a:t>
            </a:r>
            <a:endParaRPr lang="en-US" dirty="0"/>
          </a:p>
          <a:p>
            <a:pPr algn="just"/>
            <a:r>
              <a:rPr lang="en-US" sz="1500" dirty="0">
                <a:solidFill>
                  <a:srgbClr val="000000"/>
                </a:solidFill>
                <a:ea typeface="+mn-lt"/>
                <a:cs typeface="+mn-lt"/>
              </a:rPr>
              <a:t>• 6-layer control model</a:t>
            </a:r>
            <a:endParaRPr lang="en-US" dirty="0"/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1500" dirty="0">
              <a:solidFill>
                <a:srgbClr val="000000"/>
              </a:solidFill>
              <a:latin typeface="Neue Haas Grotesk Text Pro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C9E04-1679-2F37-306A-7054989C78AD}"/>
              </a:ext>
            </a:extLst>
          </p:cNvPr>
          <p:cNvSpPr/>
          <p:nvPr/>
        </p:nvSpPr>
        <p:spPr>
          <a:xfrm>
            <a:off x="6349518" y="3603890"/>
            <a:ext cx="4472287" cy="29405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500" b="1" dirty="0">
                <a:solidFill>
                  <a:srgbClr val="000000"/>
                </a:solidFill>
                <a:ea typeface="+mn-lt"/>
                <a:cs typeface="+mn-lt"/>
              </a:rPr>
              <a:t>Key Findings</a:t>
            </a:r>
            <a:endParaRPr lang="en-US" b="1" dirty="0"/>
          </a:p>
          <a:p>
            <a:pPr algn="just"/>
            <a:r>
              <a:rPr lang="en-US" sz="1500" dirty="0">
                <a:solidFill>
                  <a:srgbClr val="000000"/>
                </a:solidFill>
                <a:ea typeface="+mn-lt"/>
                <a:cs typeface="+mn-lt"/>
              </a:rPr>
              <a:t>• 90 safety ideas generated</a:t>
            </a:r>
            <a:endParaRPr lang="en-US" dirty="0"/>
          </a:p>
          <a:p>
            <a:pPr algn="just"/>
            <a:r>
              <a:rPr lang="en-US" sz="1500" dirty="0">
                <a:solidFill>
                  <a:srgbClr val="000000"/>
                </a:solidFill>
                <a:ea typeface="+mn-lt"/>
                <a:cs typeface="+mn-lt"/>
              </a:rPr>
              <a:t>• Problems at ALL levels</a:t>
            </a:r>
            <a:endParaRPr lang="en-US" dirty="0"/>
          </a:p>
          <a:p>
            <a:pPr algn="just"/>
            <a:r>
              <a:rPr lang="en-US" sz="1500" dirty="0">
                <a:solidFill>
                  <a:srgbClr val="000000"/>
                </a:solidFill>
                <a:ea typeface="+mn-lt"/>
                <a:cs typeface="+mn-lt"/>
              </a:rPr>
              <a:t>• Policy to driver failures</a:t>
            </a:r>
            <a:endParaRPr lang="en-US" dirty="0"/>
          </a:p>
          <a:p>
            <a:pPr algn="just"/>
            <a:r>
              <a:rPr lang="en-US" sz="1500" dirty="0">
                <a:solidFill>
                  <a:srgbClr val="000000"/>
                </a:solidFill>
                <a:ea typeface="+mn-lt"/>
                <a:cs typeface="+mn-lt"/>
              </a:rPr>
              <a:t>• 4 main solution categories</a:t>
            </a:r>
            <a:endParaRPr lang="en-US" dirty="0"/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1500" b="1"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729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99E09-F9B9-6400-CF33-3BC132ADE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96A61-3D66-B3B1-B794-4E5AF0FCD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7118" y="-524902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1F2937"/>
                </a:solidFill>
              </a:rPr>
              <a:t>Paper 1: Root Causes Identified</a:t>
            </a:r>
            <a:endParaRPr lang="en-US" sz="4000"/>
          </a:p>
          <a:p>
            <a:r>
              <a:rPr lang="en-US" sz="4000" dirty="0">
                <a:solidFill>
                  <a:srgbClr val="000000"/>
                </a:solidFill>
                <a:ea typeface="+mj-lt"/>
                <a:cs typeface="+mj-lt"/>
              </a:rPr>
              <a:t>Multi-Level System Failures</a:t>
            </a:r>
            <a:endParaRPr lang="en-US" sz="400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9642F64-7F2E-50F9-AEB0-9196A64874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89CA1F-96BB-D3DB-5A7C-C38A22456A2C}"/>
              </a:ext>
            </a:extLst>
          </p:cNvPr>
          <p:cNvSpPr/>
          <p:nvPr/>
        </p:nvSpPr>
        <p:spPr>
          <a:xfrm>
            <a:off x="1368093" y="1945948"/>
            <a:ext cx="9453281" cy="112568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algn="just"/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algn="just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Infrastructure Design</a:t>
            </a:r>
            <a:endParaRPr lang="en-US" b="1" dirty="0"/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Confusing 3-way junction appearing as simple curve 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• No road markings or signs 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• Fresh pavement misleading visual cues</a:t>
            </a:r>
            <a:endParaRPr lang="en-US"/>
          </a:p>
          <a:p>
            <a:pPr algn="just"/>
            <a:endParaRPr lang="en-US"/>
          </a:p>
          <a:p>
            <a:pPr algn="just"/>
            <a:endParaRPr lang="en-US" sz="1600" b="1" dirty="0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0D9849-019C-4237-2E75-9767E9244DEC}"/>
              </a:ext>
            </a:extLst>
          </p:cNvPr>
          <p:cNvSpPr/>
          <p:nvPr/>
        </p:nvSpPr>
        <p:spPr>
          <a:xfrm>
            <a:off x="1368093" y="3166577"/>
            <a:ext cx="9453281" cy="113851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algn="just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Environmental Hazards</a:t>
            </a:r>
            <a:endParaRPr lang="en-US" b="1"/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Water on road forcing lane changes 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• Trees and billboards blocking visibility</a:t>
            </a:r>
            <a:endParaRPr lang="en-US" dirty="0"/>
          </a:p>
          <a:p>
            <a:pPr algn="just"/>
            <a:endParaRPr lang="en-US"/>
          </a:p>
          <a:p>
            <a:pPr algn="just"/>
            <a:endParaRPr lang="en-US" sz="1600" b="1" dirty="0">
              <a:solidFill>
                <a:srgbClr val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665D21-5BD6-8B7E-C1BA-CB6D2A7758FA}"/>
              </a:ext>
            </a:extLst>
          </p:cNvPr>
          <p:cNvSpPr/>
          <p:nvPr/>
        </p:nvSpPr>
        <p:spPr>
          <a:xfrm>
            <a:off x="1368092" y="5687575"/>
            <a:ext cx="9453281" cy="104838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sz="16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algn="just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Human Factors</a:t>
            </a:r>
            <a:endParaRPr lang="en-US" b="1" dirty="0"/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Driver inexperienced with highway conditions 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• Unfamiliar with route</a:t>
            </a:r>
            <a:endParaRPr lang="en-US" dirty="0"/>
          </a:p>
          <a:p>
            <a:pPr algn="just"/>
            <a:endParaRPr lang="en-US"/>
          </a:p>
          <a:p>
            <a:pPr algn="just"/>
            <a:endParaRPr lang="en-US" sz="1600" b="1" dirty="0">
              <a:solidFill>
                <a:srgbClr val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B42049-71C8-463D-E859-C5F9A3900A88}"/>
              </a:ext>
            </a:extLst>
          </p:cNvPr>
          <p:cNvSpPr/>
          <p:nvPr/>
        </p:nvSpPr>
        <p:spPr>
          <a:xfrm>
            <a:off x="1368093" y="4411566"/>
            <a:ext cx="9453281" cy="113851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algn="just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Vehicle Safety</a:t>
            </a:r>
            <a:endParaRPr lang="en-US" b="1" dirty="0"/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Illegal AC installation blocking driver vision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 • No rear seatbelts in SUV</a:t>
            </a:r>
            <a:endParaRPr lang="en-US" dirty="0"/>
          </a:p>
          <a:p>
            <a:pPr algn="just"/>
            <a:endParaRPr lang="en-US"/>
          </a:p>
          <a:p>
            <a:pPr algn="just"/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473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31910-82D4-0F4D-52C1-14429A35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49050-7CB6-D184-BCA9-1BB319492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7118" y="-524902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1F2937"/>
                </a:solidFill>
              </a:rPr>
              <a:t>Paper 1: Solution Framework</a:t>
            </a:r>
            <a:endParaRPr lang="en-US" sz="4000"/>
          </a:p>
          <a:p>
            <a:r>
              <a:rPr lang="en-US" sz="4000" dirty="0">
                <a:ea typeface="+mj-lt"/>
                <a:cs typeface="+mj-lt"/>
              </a:rPr>
              <a:t>Four Categories from Workshop Analysis</a:t>
            </a:r>
            <a:endParaRPr lang="en-US" sz="4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E63A37-E9A3-BD9A-0647-E8E32E625F6B}"/>
              </a:ext>
            </a:extLst>
          </p:cNvPr>
          <p:cNvSpPr/>
          <p:nvPr/>
        </p:nvSpPr>
        <p:spPr>
          <a:xfrm>
            <a:off x="1997570" y="2208879"/>
            <a:ext cx="3567108" cy="181038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sz="1600" dirty="0">
              <a:solidFill>
                <a:schemeClr val="tx1"/>
              </a:solidFill>
            </a:endParaRPr>
          </a:p>
          <a:p>
            <a:pPr algn="just"/>
            <a:endParaRPr lang="en-US" sz="1600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endParaRPr lang="en-US" sz="1600" b="1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endParaRPr lang="en-US" sz="1600" b="1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Traffic Control</a:t>
            </a:r>
            <a:endParaRPr lang="en-US" b="1" dirty="0">
              <a:solidFill>
                <a:schemeClr val="tx1"/>
              </a:solidFill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Better signals, 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road markings, 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intersection design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/>
          </a:p>
          <a:p>
            <a:pPr algn="just"/>
            <a:endParaRPr lang="en-US" sz="1600" dirty="0">
              <a:solidFill>
                <a:schemeClr val="tx1"/>
              </a:solidFill>
            </a:endParaRPr>
          </a:p>
          <a:p>
            <a:pPr algn="just"/>
            <a:endParaRPr lang="en-US" sz="1600" dirty="0">
              <a:solidFill>
                <a:schemeClr val="tx1"/>
              </a:solidFill>
            </a:endParaRP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C22CC7-D1F6-AC55-8F52-F3A3824FAB0C}"/>
              </a:ext>
            </a:extLst>
          </p:cNvPr>
          <p:cNvSpPr/>
          <p:nvPr/>
        </p:nvSpPr>
        <p:spPr>
          <a:xfrm>
            <a:off x="5940091" y="2208879"/>
            <a:ext cx="3567108" cy="181038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Driver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Training</a:t>
            </a:r>
            <a:endParaRPr lang="en-US" b="1">
              <a:solidFill>
                <a:schemeClr val="tx1"/>
              </a:solidFill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Enhanced education, 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licensing standards, 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safety 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awareness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A5C0D4-4BEE-AAA7-D6C5-806945FF5A94}"/>
              </a:ext>
            </a:extLst>
          </p:cNvPr>
          <p:cNvSpPr/>
          <p:nvPr/>
        </p:nvSpPr>
        <p:spPr>
          <a:xfrm>
            <a:off x="1997570" y="4384444"/>
            <a:ext cx="3567108" cy="181038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Navigation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Help</a:t>
            </a:r>
            <a:endParaRPr lang="en-US" b="1">
              <a:solidFill>
                <a:schemeClr val="tx1"/>
              </a:solidFill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Clear signage</a:t>
            </a:r>
            <a:r>
              <a:rPr lang="en-US" sz="1600" baseline="0" dirty="0">
                <a:solidFill>
                  <a:schemeClr val="tx1"/>
                </a:solidFill>
                <a:ea typeface="+mn-lt"/>
                <a:cs typeface="+mn-lt"/>
              </a:rPr>
              <a:t>, 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route guidance</a:t>
            </a:r>
            <a:r>
              <a:rPr lang="en-US" sz="1600" baseline="0" dirty="0">
                <a:solidFill>
                  <a:schemeClr val="tx1"/>
                </a:solidFill>
                <a:ea typeface="+mn-lt"/>
                <a:cs typeface="+mn-lt"/>
              </a:rPr>
              <a:t>,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baseline="0" dirty="0">
                <a:solidFill>
                  <a:schemeClr val="tx1"/>
                </a:solidFill>
                <a:ea typeface="+mn-lt"/>
                <a:cs typeface="+mn-lt"/>
              </a:rPr>
              <a:t>intersection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 warnings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F22AE0-32A4-C6EF-F2CE-0D708F0FD42D}"/>
              </a:ext>
            </a:extLst>
          </p:cNvPr>
          <p:cNvSpPr/>
          <p:nvPr/>
        </p:nvSpPr>
        <p:spPr>
          <a:xfrm>
            <a:off x="5940091" y="4384444"/>
            <a:ext cx="3567108" cy="181038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Warning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 Signs</a:t>
            </a:r>
            <a:endParaRPr lang="en-US" b="1">
              <a:solidFill>
                <a:schemeClr val="tx1"/>
              </a:solidFill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Hazard alerts</a:t>
            </a:r>
            <a:r>
              <a:rPr lang="en-US" sz="1600" baseline="0" dirty="0">
                <a:solidFill>
                  <a:schemeClr val="tx1"/>
                </a:solidFill>
                <a:ea typeface="+mn-lt"/>
                <a:cs typeface="+mn-lt"/>
              </a:rPr>
              <a:t>, 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danger notifications</a:t>
            </a:r>
            <a:r>
              <a:rPr lang="en-US" sz="1600" baseline="0" dirty="0">
                <a:solidFill>
                  <a:schemeClr val="tx1"/>
                </a:solidFill>
                <a:ea typeface="+mn-lt"/>
                <a:cs typeface="+mn-lt"/>
              </a:rPr>
              <a:t>,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risk 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communication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09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9448C-6955-3D18-DADC-6F0D54794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D4FFF-521B-1AE7-C7DC-308B62E30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7118" y="-524902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1F2937"/>
                </a:solidFill>
              </a:rPr>
              <a:t>Paper 2: Vision-Based Detection System</a:t>
            </a:r>
            <a:endParaRPr lang="en-US" sz="4000"/>
          </a:p>
          <a:p>
            <a:r>
              <a:rPr lang="en-US" sz="4000" dirty="0">
                <a:ea typeface="+mj-lt"/>
                <a:cs typeface="+mj-lt"/>
              </a:rPr>
              <a:t>Low-Cost Camera Solution for ADAS</a:t>
            </a:r>
            <a:endParaRPr lang="en-US" sz="4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DB79B-63C7-6472-21EF-DDF7A63ABDEE}"/>
              </a:ext>
            </a:extLst>
          </p:cNvPr>
          <p:cNvSpPr/>
          <p:nvPr/>
        </p:nvSpPr>
        <p:spPr>
          <a:xfrm>
            <a:off x="1368093" y="2208879"/>
            <a:ext cx="9453280" cy="214168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System Capabilities</a:t>
            </a:r>
            <a:endParaRPr lang="en-US" b="1">
              <a:solidFill>
                <a:schemeClr val="tx1"/>
              </a:solidFill>
            </a:endParaRPr>
          </a:p>
          <a:p>
            <a:pPr algn="just"/>
            <a:endParaRPr lang="en-US" sz="1600" dirty="0">
              <a:solidFill>
                <a:schemeClr val="tx1"/>
              </a:solidFill>
            </a:endParaRPr>
          </a:p>
          <a:p>
            <a:pPr algn="just"/>
            <a:endParaRPr lang="en-US" sz="1600" b="1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endParaRPr lang="en-US" sz="1600" b="1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endParaRPr lang="en-US" sz="1600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endParaRPr lang="en-US" sz="1600" dirty="0">
              <a:solidFill>
                <a:schemeClr val="tx1"/>
              </a:solidFill>
            </a:endParaRP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4020AF-46E3-0C05-2AD5-C97F12F1160F}"/>
              </a:ext>
            </a:extLst>
          </p:cNvPr>
          <p:cNvSpPr/>
          <p:nvPr/>
        </p:nvSpPr>
        <p:spPr>
          <a:xfrm>
            <a:off x="1368093" y="4461748"/>
            <a:ext cx="9453280" cy="157846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Key Advantage</a:t>
            </a:r>
            <a:endParaRPr lang="en-US" b="1" dirty="0">
              <a:solidFill>
                <a:schemeClr val="tx1"/>
              </a:solidFill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Uses only monocular cameras (no LiDAR/Radar)</a:t>
            </a:r>
            <a:endParaRPr lang="en-US" dirty="0"/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Works in: 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Daytime , Nighttime , City , Highway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CD24DE-09C1-1B6A-7C68-C86E241B3D55}"/>
              </a:ext>
            </a:extLst>
          </p:cNvPr>
          <p:cNvSpPr/>
          <p:nvPr/>
        </p:nvSpPr>
        <p:spPr>
          <a:xfrm>
            <a:off x="1470714" y="2655399"/>
            <a:ext cx="2834890" cy="158987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Lane Change Detection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2,738 images tested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133604-79FC-55AC-2A11-B3D9CA071DBA}"/>
              </a:ext>
            </a:extLst>
          </p:cNvPr>
          <p:cNvSpPr/>
          <p:nvPr/>
        </p:nvSpPr>
        <p:spPr>
          <a:xfrm>
            <a:off x="4463497" y="2655399"/>
            <a:ext cx="2945325" cy="157882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Forward Collision</a:t>
            </a:r>
            <a:endParaRPr lang="en-US" dirty="0"/>
          </a:p>
          <a:p>
            <a:pPr algn="ctr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3,464 images tested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rgbClr val="000000"/>
              </a:solidFill>
            </a:endParaRPr>
          </a:p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9ACEE3-3D6C-A1EC-BA41-90F8B08E8E6E}"/>
              </a:ext>
            </a:extLst>
          </p:cNvPr>
          <p:cNvSpPr/>
          <p:nvPr/>
        </p:nvSpPr>
        <p:spPr>
          <a:xfrm>
            <a:off x="7599844" y="2655399"/>
            <a:ext cx="3044717" cy="157882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Overtaking Detection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50 video sequences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rgbClr val="000000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just"/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860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93EBE-D84D-6D6B-3A10-05E383718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9447F-A79C-FB60-8456-6C2276F83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7118" y="-524902"/>
            <a:ext cx="9144000" cy="238760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000" dirty="0">
                <a:solidFill>
                  <a:srgbClr val="1F2937"/>
                </a:solidFill>
                <a:ea typeface="+mj-lt"/>
                <a:cs typeface="+mj-lt"/>
              </a:rPr>
              <a:t>Paper 2: Technical Methods</a:t>
            </a:r>
            <a:endParaRPr lang="en-US" sz="4000"/>
          </a:p>
          <a:p>
            <a:r>
              <a:rPr lang="en-US" sz="4000" dirty="0">
                <a:ea typeface="+mj-lt"/>
                <a:cs typeface="+mj-lt"/>
              </a:rPr>
              <a:t>Computer Vision Techniques</a:t>
            </a:r>
            <a:endParaRPr lang="en-US" sz="4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85EA43-1246-83AF-9756-58D796795514}"/>
              </a:ext>
            </a:extLst>
          </p:cNvPr>
          <p:cNvSpPr/>
          <p:nvPr/>
        </p:nvSpPr>
        <p:spPr>
          <a:xfrm>
            <a:off x="1997570" y="2208879"/>
            <a:ext cx="3567108" cy="181038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Lane Detection</a:t>
            </a:r>
            <a:endParaRPr lang="en-US" b="1">
              <a:solidFill>
                <a:schemeClr val="tx1"/>
              </a:solidFill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Trapezoid ROIs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Sobel edge detection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Gradient filtering</a:t>
            </a:r>
            <a:endParaRPr lang="en-US">
              <a:solidFill>
                <a:schemeClr val="tx1"/>
              </a:solidFill>
            </a:endParaRPr>
          </a:p>
          <a:p>
            <a:pPr algn="just"/>
            <a:endParaRPr lang="en-US"/>
          </a:p>
          <a:p>
            <a:pPr algn="just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B6B253-0E87-AE02-7ECD-7658F6FDF851}"/>
              </a:ext>
            </a:extLst>
          </p:cNvPr>
          <p:cNvSpPr/>
          <p:nvPr/>
        </p:nvSpPr>
        <p:spPr>
          <a:xfrm>
            <a:off x="5940091" y="2208879"/>
            <a:ext cx="3567108" cy="181038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Vehicle Detection</a:t>
            </a:r>
            <a:endParaRPr lang="en-US" b="1" dirty="0">
              <a:solidFill>
                <a:schemeClr val="tx1"/>
              </a:solidFill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CDF shadow analysis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SURF symmetry check</a:t>
            </a:r>
            <a:endParaRPr lang="en-US">
              <a:solidFill>
                <a:schemeClr val="tx1"/>
              </a:solidFill>
            </a:endParaRPr>
          </a:p>
          <a:p>
            <a:pPr algn="just"/>
            <a:endParaRPr lang="en-US"/>
          </a:p>
          <a:p>
            <a:pPr algn="just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F0D896-8999-B263-C2C7-83597536B299}"/>
              </a:ext>
            </a:extLst>
          </p:cNvPr>
          <p:cNvSpPr/>
          <p:nvPr/>
        </p:nvSpPr>
        <p:spPr>
          <a:xfrm>
            <a:off x="1997570" y="4384444"/>
            <a:ext cx="3567108" cy="181038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Overtaking Detection</a:t>
            </a:r>
            <a:endParaRPr lang="en-US" b="1">
              <a:solidFill>
                <a:schemeClr val="tx1"/>
              </a:solidFill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Lucas-Kanade optical flow 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Forward-backward consistency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/>
          </a:p>
          <a:p>
            <a:pPr algn="just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F55294-3EA0-CDE7-8B74-E71CF10A26BE}"/>
              </a:ext>
            </a:extLst>
          </p:cNvPr>
          <p:cNvSpPr/>
          <p:nvPr/>
        </p:nvSpPr>
        <p:spPr>
          <a:xfrm>
            <a:off x="5940091" y="4384444"/>
            <a:ext cx="3567108" cy="181038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False Positive Filtering</a:t>
            </a:r>
            <a:endParaRPr lang="en-US" b="1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CNN (</a:t>
            </a:r>
            <a:r>
              <a:rPr lang="en-US" sz="1600" dirty="0" err="1">
                <a:solidFill>
                  <a:schemeClr val="tx1"/>
                </a:solidFill>
                <a:ea typeface="+mn-lt"/>
                <a:cs typeface="+mn-lt"/>
              </a:rPr>
              <a:t>CaffeNet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) 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Removes repetitive patterns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endParaRPr lang="en-US"/>
          </a:p>
          <a:p>
            <a:pPr algn="just"/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431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50960-7D46-5DE5-BA94-CCFE602B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41E30-A6FE-05E6-E221-9454F1076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7118" y="-524902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1F2937"/>
                </a:solidFill>
              </a:rPr>
              <a:t>Paper 2: Performance Results</a:t>
            </a:r>
            <a:endParaRPr lang="en-US" sz="4000"/>
          </a:p>
          <a:p>
            <a:r>
              <a:rPr lang="en-US" sz="4000" dirty="0">
                <a:ea typeface="+mj-lt"/>
                <a:cs typeface="+mj-lt"/>
              </a:rPr>
              <a:t>Strengths | Limitations</a:t>
            </a:r>
            <a:endParaRPr lang="en-US" sz="4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EA8459-E62C-674D-4E84-F491800D1315}"/>
              </a:ext>
            </a:extLst>
          </p:cNvPr>
          <p:cNvSpPr/>
          <p:nvPr/>
        </p:nvSpPr>
        <p:spPr>
          <a:xfrm>
            <a:off x="1997570" y="2208879"/>
            <a:ext cx="3567108" cy="6397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sz="1600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High accuracy in lane detection with occlusion</a:t>
            </a:r>
            <a:endParaRPr lang="en-US">
              <a:solidFill>
                <a:schemeClr val="tx1"/>
              </a:solidFill>
            </a:endParaRPr>
          </a:p>
          <a:p>
            <a:pPr algn="just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B8387B-3295-D91D-685B-A00062D7818E}"/>
              </a:ext>
            </a:extLst>
          </p:cNvPr>
          <p:cNvSpPr/>
          <p:nvPr/>
        </p:nvSpPr>
        <p:spPr>
          <a:xfrm>
            <a:off x="1997570" y="3103400"/>
            <a:ext cx="3567108" cy="6397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dirty="0">
                <a:solidFill>
                  <a:schemeClr val="tx1"/>
                </a:solidFill>
              </a:rPr>
              <a:t>Zero false alarms in collision detection</a:t>
            </a:r>
            <a:endParaRPr lang="en-US" sz="1600" dirty="0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61BFA4-E7FD-6342-49B4-05EAEB58D64C}"/>
              </a:ext>
            </a:extLst>
          </p:cNvPr>
          <p:cNvSpPr/>
          <p:nvPr/>
        </p:nvSpPr>
        <p:spPr>
          <a:xfrm>
            <a:off x="1997570" y="4031052"/>
            <a:ext cx="3567108" cy="6397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sz="1600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Excellent overtaking detection (city/highway)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25E691-6D2D-51FD-4532-6727037723C5}"/>
              </a:ext>
            </a:extLst>
          </p:cNvPr>
          <p:cNvSpPr/>
          <p:nvPr/>
        </p:nvSpPr>
        <p:spPr>
          <a:xfrm>
            <a:off x="1997569" y="4914530"/>
            <a:ext cx="3567108" cy="6397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sz="1600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Handles shadows, reflections, illumination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175245-D573-3B34-2BF0-B13CE2C16805}"/>
              </a:ext>
            </a:extLst>
          </p:cNvPr>
          <p:cNvSpPr/>
          <p:nvPr/>
        </p:nvSpPr>
        <p:spPr>
          <a:xfrm>
            <a:off x="1997569" y="5853226"/>
            <a:ext cx="3567108" cy="6397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Low-cost, camera-only solution</a:t>
            </a:r>
            <a:endParaRPr lang="en-US" dirty="0"/>
          </a:p>
          <a:p>
            <a:pPr algn="just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8A4E78-CA38-3A64-ABB2-BC6FE45D471E}"/>
              </a:ext>
            </a:extLst>
          </p:cNvPr>
          <p:cNvSpPr/>
          <p:nvPr/>
        </p:nvSpPr>
        <p:spPr>
          <a:xfrm>
            <a:off x="6061570" y="2186792"/>
            <a:ext cx="3567108" cy="6397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Misses distant/small vehicles</a:t>
            </a:r>
            <a:endParaRPr lang="en-US" dirty="0"/>
          </a:p>
          <a:p>
            <a:pPr algn="just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81C2DF-FAB0-2B91-9B13-0C3223778C29}"/>
              </a:ext>
            </a:extLst>
          </p:cNvPr>
          <p:cNvSpPr/>
          <p:nvPr/>
        </p:nvSpPr>
        <p:spPr>
          <a:xfrm>
            <a:off x="6061570" y="3081313"/>
            <a:ext cx="3567108" cy="6397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sz="1600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Night performance affected by glare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66289D-547D-7A1A-49F8-2162EEFD3DE3}"/>
              </a:ext>
            </a:extLst>
          </p:cNvPr>
          <p:cNvSpPr/>
          <p:nvPr/>
        </p:nvSpPr>
        <p:spPr>
          <a:xfrm>
            <a:off x="6061570" y="4008965"/>
            <a:ext cx="3567108" cy="6397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sz="1600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Camera tilt during turns affects stability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9BF4F1-A963-F207-8301-8298949A37C2}"/>
              </a:ext>
            </a:extLst>
          </p:cNvPr>
          <p:cNvSpPr/>
          <p:nvPr/>
        </p:nvSpPr>
        <p:spPr>
          <a:xfrm>
            <a:off x="6061569" y="4892443"/>
            <a:ext cx="3567108" cy="6397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Repetitive patterns (railings, poles)</a:t>
            </a:r>
            <a:endParaRPr lang="en-US" dirty="0"/>
          </a:p>
          <a:p>
            <a:pPr algn="just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A39B13-FC24-5762-397B-171F4F497B11}"/>
              </a:ext>
            </a:extLst>
          </p:cNvPr>
          <p:cNvSpPr/>
          <p:nvPr/>
        </p:nvSpPr>
        <p:spPr>
          <a:xfrm>
            <a:off x="6061569" y="5831139"/>
            <a:ext cx="3567108" cy="6397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sz="1600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Requires robust multi-stage filtering</a:t>
            </a:r>
            <a:endParaRPr lang="en-US" sz="1600">
              <a:solidFill>
                <a:schemeClr val="tx1"/>
              </a:solidFill>
            </a:endParaRPr>
          </a:p>
          <a:p>
            <a:pPr algn="just"/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493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BFE84-F77D-1778-7DEA-8DC9FD898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1240-BFE6-52B4-7F1F-CC0297211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7118" y="-524902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1F2937"/>
                </a:solidFill>
              </a:rPr>
              <a:t>Integration Opportunities</a:t>
            </a:r>
            <a:endParaRPr lang="en-US" sz="4000"/>
          </a:p>
          <a:p>
            <a:r>
              <a:rPr lang="en-US" sz="4000" dirty="0">
                <a:ea typeface="+mj-lt"/>
                <a:cs typeface="+mj-lt"/>
              </a:rPr>
              <a:t>How These Papers Complement Each Other</a:t>
            </a:r>
            <a:endParaRPr lang="en-US" sz="4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53FA5-3777-4339-CA92-E52434B91AF5}"/>
              </a:ext>
            </a:extLst>
          </p:cNvPr>
          <p:cNvSpPr/>
          <p:nvPr/>
        </p:nvSpPr>
        <p:spPr>
          <a:xfrm>
            <a:off x="1213484" y="1868644"/>
            <a:ext cx="9453281" cy="1247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Paper 1 → Paper 2: System Context</a:t>
            </a:r>
            <a:endParaRPr lang="en-US" b="1" dirty="0"/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STAMP framework identifies WHY accidents happen (infrastructure, policy, training) → Vision system provides technical HOW to prevent them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318E42-8BCA-F6A7-679B-6FCC353F3596}"/>
              </a:ext>
            </a:extLst>
          </p:cNvPr>
          <p:cNvSpPr/>
          <p:nvPr/>
        </p:nvSpPr>
        <p:spPr>
          <a:xfrm>
            <a:off x="1213484" y="3210751"/>
            <a:ext cx="9453281" cy="14808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Paper 2 → Paper 1: Data Collection</a:t>
            </a:r>
            <a:endParaRPr lang="en-US" b="1" dirty="0"/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Camera-based detection captures real-time risk behaviors → Feeds into workshop analysis and STAMP mapping for systemic improvements</a:t>
            </a:r>
            <a:endParaRPr lang="en-US" dirty="0"/>
          </a:p>
          <a:p>
            <a:pPr algn="just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7E9F4F-0000-0184-0BFA-5D3EAAE85649}"/>
              </a:ext>
            </a:extLst>
          </p:cNvPr>
          <p:cNvSpPr/>
          <p:nvPr/>
        </p:nvSpPr>
        <p:spPr>
          <a:xfrm>
            <a:off x="1213484" y="4787044"/>
            <a:ext cx="9453281" cy="15692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Combined Approach</a:t>
            </a:r>
            <a:endParaRPr lang="en-US" b="1" dirty="0"/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Use ego-view cameras on bikes/vehicles → Detect risky behaviors automatically → Map to system-level failures → Generate targeted interventions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290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D8C91-F5D4-585C-26AB-FEB9A8053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DA505-D5D6-7AC6-9FF5-398E861D7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7118" y="-524902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1F2937"/>
                </a:solidFill>
              </a:rPr>
              <a:t>Application to Bike Safety Research</a:t>
            </a:r>
            <a:endParaRPr lang="en-US" sz="4000"/>
          </a:p>
          <a:p>
            <a:r>
              <a:rPr lang="en-US" sz="4000" dirty="0">
                <a:ea typeface="+mj-lt"/>
                <a:cs typeface="+mj-lt"/>
              </a:rPr>
              <a:t>Using Both Frameworks Together</a:t>
            </a:r>
            <a:endParaRPr lang="en-US" sz="4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FD380-D4DD-3DC2-1897-C874448EDDCF}"/>
              </a:ext>
            </a:extLst>
          </p:cNvPr>
          <p:cNvSpPr/>
          <p:nvPr/>
        </p:nvSpPr>
        <p:spPr>
          <a:xfrm>
            <a:off x="1213484" y="1868644"/>
            <a:ext cx="9453281" cy="14349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algn="just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From Paper 1: STAMP Categories</a:t>
            </a:r>
            <a:endParaRPr lang="en-US" b="1"/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✓ Traffic control problems</a:t>
            </a:r>
            <a:endParaRPr lang="en-US" dirty="0"/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✓ Risky rider/driver behavior</a:t>
            </a:r>
            <a:endParaRPr lang="en-US" dirty="0"/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✓ Navigation confusion</a:t>
            </a:r>
            <a:endParaRPr lang="en-US" dirty="0"/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✓ Missing warning signs</a:t>
            </a:r>
            <a:endParaRPr lang="en-US" dirty="0"/>
          </a:p>
          <a:p>
            <a:pPr algn="just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F141B4-2B0F-B0A3-AFBE-A7A4BB84CB8D}"/>
              </a:ext>
            </a:extLst>
          </p:cNvPr>
          <p:cNvSpPr/>
          <p:nvPr/>
        </p:nvSpPr>
        <p:spPr>
          <a:xfrm>
            <a:off x="1213484" y="3425774"/>
            <a:ext cx="9453281" cy="14349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r>
              <a:rPr lang="en-US" sz="1600" b="1" dirty="0">
                <a:solidFill>
                  <a:schemeClr val="tx1"/>
                </a:solidFill>
              </a:rPr>
              <a:t>From Paper 2: Detection Events</a:t>
            </a:r>
          </a:p>
          <a:p>
            <a:pPr algn="just"/>
            <a:r>
              <a:rPr lang="en-US" sz="1600" dirty="0">
                <a:solidFill>
                  <a:srgbClr val="030712"/>
                </a:solidFill>
                <a:ea typeface="+mn-lt"/>
                <a:cs typeface="+mn-lt"/>
              </a:rPr>
              <a:t>✓ Speed dynamics analysis</a:t>
            </a:r>
            <a:endParaRPr lang="en-US" dirty="0"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30712"/>
                </a:solidFill>
                <a:ea typeface="+mn-lt"/>
                <a:cs typeface="+mn-lt"/>
              </a:rPr>
              <a:t>✓ Blind-spot movements</a:t>
            </a:r>
            <a:endParaRPr lang="en-US" dirty="0"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30712"/>
                </a:solidFill>
                <a:ea typeface="+mn-lt"/>
                <a:cs typeface="+mn-lt"/>
              </a:rPr>
              <a:t>✓ Pedestrian ambiguity</a:t>
            </a:r>
            <a:endParaRPr lang="en-US" dirty="0"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30712"/>
                </a:solidFill>
                <a:ea typeface="+mn-lt"/>
                <a:cs typeface="+mn-lt"/>
              </a:rPr>
              <a:t>✓ Wrong-side entry detection</a:t>
            </a:r>
            <a:endParaRPr lang="en-US" dirty="0">
              <a:ea typeface="+mn-lt"/>
              <a:cs typeface="+mn-lt"/>
            </a:endParaRPr>
          </a:p>
          <a:p>
            <a:pPr algn="just"/>
            <a:br>
              <a:rPr lang="en-US" dirty="0"/>
            </a:br>
            <a:endParaRPr lang="en-US" dirty="0"/>
          </a:p>
          <a:p>
            <a:pPr algn="just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EBCE09-FF68-4D31-508F-E4303F90677F}"/>
              </a:ext>
            </a:extLst>
          </p:cNvPr>
          <p:cNvSpPr/>
          <p:nvPr/>
        </p:nvSpPr>
        <p:spPr>
          <a:xfrm>
            <a:off x="1213484" y="4993947"/>
            <a:ext cx="9453281" cy="100420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Shared Environment Challenges</a:t>
            </a:r>
            <a:endParaRPr lang="en-US" b="1" dirty="0"/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Messy intersections, Billboards, Water on roads,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Illegal vehicle modifications , Shadows &amp; glare, Occlusion, Unpredictable lane changes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15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6C958-E223-4CD7-2FAD-D2FAB25B1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F361-BF59-FAEC-3FF9-1F329EB82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7118" y="-524902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1F2937"/>
                </a:solidFill>
              </a:rPr>
              <a:t>Research Methodology Synthesis</a:t>
            </a:r>
            <a:endParaRPr lang="en-US" sz="4000"/>
          </a:p>
          <a:p>
            <a:r>
              <a:rPr lang="en-US" sz="4000" dirty="0">
                <a:ea typeface="+mj-lt"/>
                <a:cs typeface="+mj-lt"/>
              </a:rPr>
              <a:t>Combined Analytical Framework</a:t>
            </a:r>
            <a:endParaRPr lang="en-US" sz="4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5DFDF-68FA-307B-F00D-07B4CA19DB35}"/>
              </a:ext>
            </a:extLst>
          </p:cNvPr>
          <p:cNvSpPr/>
          <p:nvPr/>
        </p:nvSpPr>
        <p:spPr>
          <a:xfrm>
            <a:off x="1213484" y="1868644"/>
            <a:ext cx="9453281" cy="12692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Phase 1: Data Collection (Paper 2)</a:t>
            </a:r>
            <a:endParaRPr lang="en-US" b="1"/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Deploy bike-mounted cameras 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Collect ego-view footage 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Detect risky events automatically </a:t>
            </a:r>
            <a:endParaRPr lang="en-US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Tag incidents by type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041DA9-6391-5D9A-D9F0-954511F3D7AF}"/>
              </a:ext>
            </a:extLst>
          </p:cNvPr>
          <p:cNvSpPr/>
          <p:nvPr/>
        </p:nvSpPr>
        <p:spPr>
          <a:xfrm>
            <a:off x="1213484" y="3238035"/>
            <a:ext cx="9453281" cy="14349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Phase 2: System Analysis (Paper 1)</a:t>
            </a:r>
            <a:endParaRPr lang="en-US" sz="1600" b="1">
              <a:solidFill>
                <a:schemeClr val="tx1"/>
              </a:solidFill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Apply STAMP-STPA to incidents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Map 6-layer control structure 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Identify system-level failures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Trace root causes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829D58-41DC-B041-4A4D-33A91F306EFC}"/>
              </a:ext>
            </a:extLst>
          </p:cNvPr>
          <p:cNvSpPr/>
          <p:nvPr/>
        </p:nvSpPr>
        <p:spPr>
          <a:xfrm>
            <a:off x="1213484" y="4795165"/>
            <a:ext cx="9453281" cy="14349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Phase 3: Solution Generation (Paper 1)</a:t>
            </a:r>
            <a:endParaRPr lang="en-US" b="1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Conduct design workshops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Show video evidence 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Generate interventions 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Use NLP for thematic analysis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531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1DE2D-C0F5-71DC-D362-F8BB413F8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B676B-A9BD-3D35-EFC6-DCF8FA91F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7118" y="-524902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1F2937"/>
                </a:solidFill>
              </a:rPr>
              <a:t>Research Methodology Synthesis</a:t>
            </a:r>
            <a:endParaRPr lang="en-US" sz="4000"/>
          </a:p>
          <a:p>
            <a:r>
              <a:rPr lang="en-US" sz="4000" dirty="0">
                <a:ea typeface="+mj-lt"/>
                <a:cs typeface="+mj-lt"/>
              </a:rPr>
              <a:t>Combined Analytical Framework</a:t>
            </a:r>
            <a:endParaRPr lang="en-US" sz="4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355DA4-1ADC-A249-4182-54676589A7F4}"/>
              </a:ext>
            </a:extLst>
          </p:cNvPr>
          <p:cNvSpPr/>
          <p:nvPr/>
        </p:nvSpPr>
        <p:spPr>
          <a:xfrm>
            <a:off x="1213484" y="1868644"/>
            <a:ext cx="9453281" cy="214168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Phase 4: Technical Implementation (Paper 2)</a:t>
            </a:r>
            <a:endParaRPr lang="en-US" b="1" dirty="0"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Develop vision-based warnings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Real-time risk alerts 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Low-cost deployment 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Validate effectiveness</a:t>
            </a:r>
            <a:endParaRPr lang="en-US"/>
          </a:p>
          <a:p>
            <a:pPr algn="just"/>
            <a:endParaRPr lang="en-US"/>
          </a:p>
          <a:p>
            <a:pPr algn="just"/>
            <a:endParaRPr lang="en-US" sz="16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862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DA4CE-F90A-8ADC-F5B2-CEDCC2A0F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2467-A133-65C7-0F52-02AC39681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7118" y="-524902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1F2937"/>
                </a:solidFill>
              </a:rPr>
              <a:t>Key </a:t>
            </a:r>
            <a:r>
              <a:rPr lang="en-US" sz="4000" dirty="0"/>
              <a:t>Takeaways</a:t>
            </a:r>
          </a:p>
          <a:p>
            <a:r>
              <a:rPr lang="en-US" sz="4000" dirty="0">
                <a:ea typeface="+mj-lt"/>
                <a:cs typeface="+mj-lt"/>
              </a:rPr>
              <a:t>Why Both Papers Matter</a:t>
            </a:r>
            <a:endParaRPr lang="en-US" sz="4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E322E3-9D18-A3A1-FF77-C5CC5E84E3C3}"/>
              </a:ext>
            </a:extLst>
          </p:cNvPr>
          <p:cNvSpPr/>
          <p:nvPr/>
        </p:nvSpPr>
        <p:spPr>
          <a:xfrm>
            <a:off x="1213484" y="1868644"/>
            <a:ext cx="9453281" cy="12692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sz="16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algn="just"/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Paper 1 Contribution</a:t>
            </a:r>
            <a:endParaRPr lang="en-US" b="1" dirty="0"/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Provides systematic framework to understand accidents holistically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Proves workshop-based solutions are effective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Applicable to low-income settings like Bangladesh</a:t>
            </a:r>
            <a:endParaRPr lang="en-US"/>
          </a:p>
          <a:p>
            <a:pPr algn="just"/>
            <a:endParaRPr lang="en-US"/>
          </a:p>
          <a:p>
            <a:pPr algn="just"/>
            <a:endParaRPr lang="en-US" sz="1600" b="1" dirty="0">
              <a:solidFill>
                <a:srgbClr val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280EBE-CCF2-861D-EA60-01E30888B675}"/>
              </a:ext>
            </a:extLst>
          </p:cNvPr>
          <p:cNvSpPr/>
          <p:nvPr/>
        </p:nvSpPr>
        <p:spPr>
          <a:xfrm>
            <a:off x="1213484" y="3238035"/>
            <a:ext cx="9453281" cy="14349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Paper 2 Contribution</a:t>
            </a:r>
            <a:endParaRPr lang="en-US" b="1" dirty="0">
              <a:solidFill>
                <a:schemeClr val="tx1"/>
              </a:solidFill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Demonstrates feasibility of low-cost camera solutions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Validates ego-view detection methods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Shows vision-only ADAS can work in complex environments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C94B4E-8FA5-82A7-9011-5491976A6F82}"/>
              </a:ext>
            </a:extLst>
          </p:cNvPr>
          <p:cNvSpPr/>
          <p:nvPr/>
        </p:nvSpPr>
        <p:spPr>
          <a:xfrm>
            <a:off x="1213484" y="4795165"/>
            <a:ext cx="9453281" cy="14349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Combined Impact</a:t>
            </a:r>
            <a:endParaRPr lang="en-US" b="1" dirty="0">
              <a:solidFill>
                <a:schemeClr val="tx1"/>
              </a:solidFill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Together they enable systematic safety research from the rider's perspective 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Technical detection + systemic analysis = comprehensive road safety improvement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220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04A94-0F59-5A46-3876-4D01423F6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3877A-6325-A85C-E79A-4D3B14924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7118" y="-524902"/>
            <a:ext cx="9144000" cy="7500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1F2937"/>
                </a:solidFill>
              </a:rPr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250032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JuxtaposeVTI</vt:lpstr>
      <vt:lpstr>Research Paper Analysis Integrating System Analysis &amp; Vision-Based Detection for Road Safety</vt:lpstr>
      <vt:lpstr>Paper 1: System Analysis Approach STAMP-STPA Framework for Bangladesh Traffic</vt:lpstr>
      <vt:lpstr>Paper 1: Root Causes Identified Multi-Level System Failures</vt:lpstr>
      <vt:lpstr>Paper 1: Solution Framework Four Categories from Workshop Analysis</vt:lpstr>
      <vt:lpstr>Paper 2: Vision-Based Detection System Low-Cost Camera Solution for ADAS</vt:lpstr>
      <vt:lpstr>Paper 2: Technical Methods Computer Vision Techniques</vt:lpstr>
      <vt:lpstr>Paper 2: Performance Results Strengths | Limitations</vt:lpstr>
      <vt:lpstr>Integration Opportunities How These Papers Complement Each Other</vt:lpstr>
      <vt:lpstr>Application to Bike Safety Research Using Both Frameworks Together</vt:lpstr>
      <vt:lpstr>Research Methodology Synthesis Combined Analytical Framework</vt:lpstr>
      <vt:lpstr>Research Methodology Synthesis Combined Analytical Framework</vt:lpstr>
      <vt:lpstr>Key Takeaways Why Both Papers Matter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493</cp:revision>
  <dcterms:created xsi:type="dcterms:W3CDTF">2025-12-02T04:42:23Z</dcterms:created>
  <dcterms:modified xsi:type="dcterms:W3CDTF">2025-12-02T15:29:43Z</dcterms:modified>
</cp:coreProperties>
</file>