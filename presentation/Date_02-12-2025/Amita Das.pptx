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0" r:id="rId3"/>
    <p:sldId id="265" r:id="rId4"/>
    <p:sldId id="261" r:id="rId5"/>
    <p:sldId id="263" r:id="rId6"/>
    <p:sldId id="266" r:id="rId7"/>
    <p:sldId id="267" r:id="rId8"/>
    <p:sldId id="270" r:id="rId9"/>
    <p:sldId id="271" r:id="rId10"/>
    <p:sldId id="268" r:id="rId11"/>
    <p:sldId id="272" r:id="rId12"/>
    <p:sldId id="273" r:id="rId13"/>
    <p:sldId id="274" r:id="rId14"/>
    <p:sldId id="275" r:id="rId15"/>
    <p:sldId id="276" r:id="rId16"/>
    <p:sldId id="269" r:id="rId17"/>
  </p:sldIdLst>
  <p:sldSz cx="18288000" cy="10287000"/>
  <p:notesSz cx="6858000" cy="9144000"/>
  <p:embeddedFontLst>
    <p:embeddedFont>
      <p:font typeface="Arial Black" panose="020B0A04020102020204" pitchFamily="34" charset="0"/>
      <p:bold r:id="rId18"/>
    </p:embeddedFont>
    <p:embeddedFont>
      <p:font typeface="Telegraf Bold" panose="020B0604020202020204" charset="0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A7E1"/>
    <a:srgbClr val="246E44"/>
    <a:srgbClr val="120078"/>
    <a:srgbClr val="009EC5"/>
    <a:srgbClr val="A0D9F7"/>
    <a:srgbClr val="4F81BD"/>
    <a:srgbClr val="13A4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71866A-B215-AE14-5FAF-9EB2A663B561}" v="99" dt="2025-11-30T05:41:58.905"/>
    <p1510:client id="{B14CEC58-6729-DF71-EA9B-78EC12728ECD}" v="308" dt="2025-11-29T18:31:18.150"/>
    <p1510:client id="{B84C2C66-51B1-8C68-12AC-223CE984C990}" v="5" dt="2025-11-29T18:39:30.254"/>
    <p1510:client id="{C3EEEBF2-CA32-4E86-94A7-F3355C984C1B}" v="559" dt="2025-11-29T18:00:19.9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3" autoAdjust="0"/>
    <p:restoredTop sz="94660"/>
  </p:normalViewPr>
  <p:slideViewPr>
    <p:cSldViewPr snapToGrid="0">
      <p:cViewPr varScale="1">
        <p:scale>
          <a:sx n="53" d="100"/>
          <a:sy n="53" d="100"/>
        </p:scale>
        <p:origin x="58" y="1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302995-AFB9-4CBA-9972-40069DE0136B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2357CE-2544-4546-AF4B-95A5414FEFF0}">
      <dgm:prSet custT="1"/>
      <dgm:spPr>
        <a:solidFill>
          <a:srgbClr val="0070C0"/>
        </a:solidFill>
      </dgm:spPr>
      <dgm:t>
        <a:bodyPr/>
        <a:lstStyle/>
        <a:p>
          <a:r>
            <a:rPr lang="en-US" sz="1600" b="1" dirty="0" smtClean="0">
              <a:latin typeface="Arial" panose="020B0604020202020204" pitchFamily="34" charset="0"/>
              <a:cs typeface="Arial" panose="020B0604020202020204" pitchFamily="34" charset="0"/>
            </a:rPr>
            <a:t>OBJECT DETECTION &amp; TRACKING (Helmet, Vehicles, Pedestrians, Obstacles</a:t>
          </a:r>
          <a:r>
            <a:rPr lang="en-US" sz="1600" b="1" dirty="0" smtClean="0"/>
            <a:t>)</a:t>
          </a:r>
          <a:endParaRPr lang="en-US" sz="16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B4A8F1-0F70-4002-A74A-964A367FE6C8}" type="parTrans" cxnId="{4C1FAA21-7B16-4A4A-9FC1-6F934C26D441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813530F-9237-4251-B59C-279FFDDF5674}" type="sibTrans" cxnId="{4C1FAA21-7B16-4A4A-9FC1-6F934C26D441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1C06201-374A-4E64-9327-FD024BF91807}">
      <dgm:prSet custT="1"/>
      <dgm:spPr>
        <a:solidFill>
          <a:srgbClr val="0070C0"/>
        </a:solidFill>
      </dgm:spPr>
      <dgm:t>
        <a:bodyPr/>
        <a:lstStyle/>
        <a:p>
          <a:r>
            <a:rPr lang="en-US" sz="2000" b="1" dirty="0" smtClean="0">
              <a:latin typeface="Arial" panose="020B0604020202020204" pitchFamily="34" charset="0"/>
              <a:cs typeface="Arial" panose="020B0604020202020204" pitchFamily="34" charset="0"/>
            </a:rPr>
            <a:t>ROAD SCENE UNDERSTANDING (Road Surface, Lane Counting, Road Type, Weather)</a:t>
          </a:r>
          <a:endParaRPr lang="en-US" sz="2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03767E2-55AD-4809-BD64-798ED4E92FC8}" type="parTrans" cxnId="{F2525EF3-6F45-4211-896A-955F0EC076D4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D026800-916A-4B51-8FD7-169F5EF5358C}" type="sibTrans" cxnId="{F2525EF3-6F45-4211-896A-955F0EC076D4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55315F0-F8E2-40EB-B041-103082B68AAB}">
      <dgm:prSet custT="1"/>
      <dgm:spPr>
        <a:solidFill>
          <a:srgbClr val="0070C0"/>
        </a:solidFill>
      </dgm:spPr>
      <dgm:t>
        <a:bodyPr/>
        <a:lstStyle/>
        <a:p>
          <a:r>
            <a:rPr lang="en-US" sz="2000" b="1" dirty="0" smtClean="0">
              <a:latin typeface="Arial" panose="020B0604020202020204" pitchFamily="34" charset="0"/>
              <a:cs typeface="Arial" panose="020B0604020202020204" pitchFamily="34" charset="0"/>
            </a:rPr>
            <a:t>TRAFFIC ANALYSIS &amp; DENSITY ESTIMATION</a:t>
          </a:r>
          <a:endParaRPr lang="en-US" sz="2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CA943D7-6BBA-4DD3-8197-4FD93024804D}" type="parTrans" cxnId="{8E3BABE5-F066-4FB6-9A85-8B38E5D01392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FC7DDA2-FBB7-432F-9BBB-2DDE5A740EF0}" type="sibTrans" cxnId="{8E3BABE5-F066-4FB6-9A85-8B38E5D01392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B185548-5E62-4346-AA27-8AF604C42F69}">
      <dgm:prSet custT="1"/>
      <dgm:spPr>
        <a:solidFill>
          <a:srgbClr val="0070C0"/>
        </a:solidFill>
      </dgm:spPr>
      <dgm:t>
        <a:bodyPr/>
        <a:lstStyle/>
        <a:p>
          <a:r>
            <a:rPr lang="en-US" sz="1600" b="1" dirty="0" smtClean="0">
              <a:latin typeface="Arial" panose="020B0604020202020204" pitchFamily="34" charset="0"/>
              <a:cs typeface="Arial" panose="020B0604020202020204" pitchFamily="34" charset="0"/>
            </a:rPr>
            <a:t>CONNECTIVITY &amp; </a:t>
          </a:r>
          <a:r>
            <a:rPr lang="en-US" sz="1600" b="1" dirty="0" err="1" smtClean="0">
              <a:latin typeface="Arial" panose="020B0604020202020204" pitchFamily="34" charset="0"/>
              <a:cs typeface="Arial" panose="020B0604020202020204" pitchFamily="34" charset="0"/>
            </a:rPr>
            <a:t>IoV</a:t>
          </a:r>
          <a:r>
            <a:rPr lang="en-US" sz="1600" b="1" dirty="0" smtClean="0">
              <a:latin typeface="Arial" panose="020B0604020202020204" pitchFamily="34" charset="0"/>
              <a:cs typeface="Arial" panose="020B0604020202020204" pitchFamily="34" charset="0"/>
            </a:rPr>
            <a:t> (Internet of Vehicles)</a:t>
          </a:r>
          <a:endParaRPr lang="en-US" sz="16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5C3E2A-ECD8-47F0-9A3A-4CBF46051B57}" type="parTrans" cxnId="{7C056887-7C3A-432F-84A5-AAA35D6E3519}">
      <dgm:prSet/>
      <dgm:spPr/>
      <dgm:t>
        <a:bodyPr/>
        <a:lstStyle/>
        <a:p>
          <a:endParaRPr lang="en-US"/>
        </a:p>
      </dgm:t>
    </dgm:pt>
    <dgm:pt modelId="{BBAC8388-9F8E-4E7D-A9FD-4E593093FA77}" type="sibTrans" cxnId="{7C056887-7C3A-432F-84A5-AAA35D6E3519}">
      <dgm:prSet/>
      <dgm:spPr/>
      <dgm:t>
        <a:bodyPr/>
        <a:lstStyle/>
        <a:p>
          <a:endParaRPr lang="en-US"/>
        </a:p>
      </dgm:t>
    </dgm:pt>
    <dgm:pt modelId="{A3073A93-C056-4A3B-A2D7-B87F729FA25A}" type="pres">
      <dgm:prSet presAssocID="{48302995-AFB9-4CBA-9972-40069DE0136B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1741076-E827-4D90-89A8-83C813C771FB}" type="pres">
      <dgm:prSet presAssocID="{8E2357CE-2544-4546-AF4B-95A5414FEFF0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F58153-AB3D-4274-B9EA-154D6158FB96}" type="pres">
      <dgm:prSet presAssocID="{C813530F-9237-4251-B59C-279FFDDF5674}" presName="sibTrans" presStyleLbl="sibTrans2D1" presStyleIdx="0" presStyleCnt="3"/>
      <dgm:spPr/>
      <dgm:t>
        <a:bodyPr/>
        <a:lstStyle/>
        <a:p>
          <a:endParaRPr lang="en-US"/>
        </a:p>
      </dgm:t>
    </dgm:pt>
    <dgm:pt modelId="{CC3F5679-7A6F-417D-B42F-1B40DE41F994}" type="pres">
      <dgm:prSet presAssocID="{C813530F-9237-4251-B59C-279FFDDF5674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52FCA1D4-A8CB-40C5-9C39-006E69FFA924}" type="pres">
      <dgm:prSet presAssocID="{91C06201-374A-4E64-9327-FD024BF91807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28FB20-5158-4039-8EBA-EAD51805C0D2}" type="pres">
      <dgm:prSet presAssocID="{8D026800-916A-4B51-8FD7-169F5EF5358C}" presName="sibTrans" presStyleLbl="sibTrans2D1" presStyleIdx="1" presStyleCnt="3"/>
      <dgm:spPr/>
      <dgm:t>
        <a:bodyPr/>
        <a:lstStyle/>
        <a:p>
          <a:endParaRPr lang="en-US"/>
        </a:p>
      </dgm:t>
    </dgm:pt>
    <dgm:pt modelId="{FFAB7904-B928-4755-AE6C-F593E7035C70}" type="pres">
      <dgm:prSet presAssocID="{8D026800-916A-4B51-8FD7-169F5EF5358C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90CA437B-C385-4233-9584-E158DC45D018}" type="pres">
      <dgm:prSet presAssocID="{555315F0-F8E2-40EB-B041-103082B68AAB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B223F8-F719-4403-842C-BA59D78D6F0B}" type="pres">
      <dgm:prSet presAssocID="{6FC7DDA2-FBB7-432F-9BBB-2DDE5A740EF0}" presName="sibTrans" presStyleLbl="sibTrans2D1" presStyleIdx="2" presStyleCnt="3"/>
      <dgm:spPr/>
      <dgm:t>
        <a:bodyPr/>
        <a:lstStyle/>
        <a:p>
          <a:endParaRPr lang="en-US"/>
        </a:p>
      </dgm:t>
    </dgm:pt>
    <dgm:pt modelId="{CD964C8E-8E69-46E1-B1B6-03EDB3968BAA}" type="pres">
      <dgm:prSet presAssocID="{6FC7DDA2-FBB7-432F-9BBB-2DDE5A740EF0}" presName="connectorText" presStyleLbl="sibTrans2D1" presStyleIdx="2" presStyleCnt="3"/>
      <dgm:spPr/>
      <dgm:t>
        <a:bodyPr/>
        <a:lstStyle/>
        <a:p>
          <a:endParaRPr lang="en-US"/>
        </a:p>
      </dgm:t>
    </dgm:pt>
    <dgm:pt modelId="{B3580C7E-02AE-4F73-9734-2EFAB5F3EF8C}" type="pres">
      <dgm:prSet presAssocID="{6B185548-5E62-4346-AA27-8AF604C42F69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6D2311B-6FAF-4F93-BF47-6B13B4747AD7}" type="presOf" srcId="{C813530F-9237-4251-B59C-279FFDDF5674}" destId="{C8F58153-AB3D-4274-B9EA-154D6158FB96}" srcOrd="0" destOrd="0" presId="urn:microsoft.com/office/officeart/2005/8/layout/process1"/>
    <dgm:cxn modelId="{B4FF00D1-518F-475F-BAA0-A7BFA7110A70}" type="presOf" srcId="{6FC7DDA2-FBB7-432F-9BBB-2DDE5A740EF0}" destId="{CD964C8E-8E69-46E1-B1B6-03EDB3968BAA}" srcOrd="1" destOrd="0" presId="urn:microsoft.com/office/officeart/2005/8/layout/process1"/>
    <dgm:cxn modelId="{5DFC35BE-96D7-4511-BBAB-FCEB3649F267}" type="presOf" srcId="{555315F0-F8E2-40EB-B041-103082B68AAB}" destId="{90CA437B-C385-4233-9584-E158DC45D018}" srcOrd="0" destOrd="0" presId="urn:microsoft.com/office/officeart/2005/8/layout/process1"/>
    <dgm:cxn modelId="{42A88553-E7C2-4611-98FA-7E81CD0B1538}" type="presOf" srcId="{8D026800-916A-4B51-8FD7-169F5EF5358C}" destId="{FFAB7904-B928-4755-AE6C-F593E7035C70}" srcOrd="1" destOrd="0" presId="urn:microsoft.com/office/officeart/2005/8/layout/process1"/>
    <dgm:cxn modelId="{05C3EB27-7102-4C30-A7DD-6AA59EEBC7AD}" type="presOf" srcId="{8D026800-916A-4B51-8FD7-169F5EF5358C}" destId="{B728FB20-5158-4039-8EBA-EAD51805C0D2}" srcOrd="0" destOrd="0" presId="urn:microsoft.com/office/officeart/2005/8/layout/process1"/>
    <dgm:cxn modelId="{38C25AA8-747D-4C70-997D-3D9180922F1C}" type="presOf" srcId="{6B185548-5E62-4346-AA27-8AF604C42F69}" destId="{B3580C7E-02AE-4F73-9734-2EFAB5F3EF8C}" srcOrd="0" destOrd="0" presId="urn:microsoft.com/office/officeart/2005/8/layout/process1"/>
    <dgm:cxn modelId="{8E3BABE5-F066-4FB6-9A85-8B38E5D01392}" srcId="{48302995-AFB9-4CBA-9972-40069DE0136B}" destId="{555315F0-F8E2-40EB-B041-103082B68AAB}" srcOrd="2" destOrd="0" parTransId="{FCA943D7-6BBA-4DD3-8197-4FD93024804D}" sibTransId="{6FC7DDA2-FBB7-432F-9BBB-2DDE5A740EF0}"/>
    <dgm:cxn modelId="{D6F5B048-1F7A-42C6-B1A8-1742C685B89A}" type="presOf" srcId="{C813530F-9237-4251-B59C-279FFDDF5674}" destId="{CC3F5679-7A6F-417D-B42F-1B40DE41F994}" srcOrd="1" destOrd="0" presId="urn:microsoft.com/office/officeart/2005/8/layout/process1"/>
    <dgm:cxn modelId="{F81F75B5-9845-42C9-9231-5200B700086D}" type="presOf" srcId="{6FC7DDA2-FBB7-432F-9BBB-2DDE5A740EF0}" destId="{E8B223F8-F719-4403-842C-BA59D78D6F0B}" srcOrd="0" destOrd="0" presId="urn:microsoft.com/office/officeart/2005/8/layout/process1"/>
    <dgm:cxn modelId="{481825BE-2899-4608-AA80-785450ADE1EF}" type="presOf" srcId="{8E2357CE-2544-4546-AF4B-95A5414FEFF0}" destId="{61741076-E827-4D90-89A8-83C813C771FB}" srcOrd="0" destOrd="0" presId="urn:microsoft.com/office/officeart/2005/8/layout/process1"/>
    <dgm:cxn modelId="{07930FA9-B78C-4DF6-931A-F97E92197F08}" type="presOf" srcId="{48302995-AFB9-4CBA-9972-40069DE0136B}" destId="{A3073A93-C056-4A3B-A2D7-B87F729FA25A}" srcOrd="0" destOrd="0" presId="urn:microsoft.com/office/officeart/2005/8/layout/process1"/>
    <dgm:cxn modelId="{4C1FAA21-7B16-4A4A-9FC1-6F934C26D441}" srcId="{48302995-AFB9-4CBA-9972-40069DE0136B}" destId="{8E2357CE-2544-4546-AF4B-95A5414FEFF0}" srcOrd="0" destOrd="0" parTransId="{86B4A8F1-0F70-4002-A74A-964A367FE6C8}" sibTransId="{C813530F-9237-4251-B59C-279FFDDF5674}"/>
    <dgm:cxn modelId="{8EF8753E-EC68-42E8-8C72-2E498B865D9C}" type="presOf" srcId="{91C06201-374A-4E64-9327-FD024BF91807}" destId="{52FCA1D4-A8CB-40C5-9C39-006E69FFA924}" srcOrd="0" destOrd="0" presId="urn:microsoft.com/office/officeart/2005/8/layout/process1"/>
    <dgm:cxn modelId="{7C056887-7C3A-432F-84A5-AAA35D6E3519}" srcId="{48302995-AFB9-4CBA-9972-40069DE0136B}" destId="{6B185548-5E62-4346-AA27-8AF604C42F69}" srcOrd="3" destOrd="0" parTransId="{EC5C3E2A-ECD8-47F0-9A3A-4CBF46051B57}" sibTransId="{BBAC8388-9F8E-4E7D-A9FD-4E593093FA77}"/>
    <dgm:cxn modelId="{F2525EF3-6F45-4211-896A-955F0EC076D4}" srcId="{48302995-AFB9-4CBA-9972-40069DE0136B}" destId="{91C06201-374A-4E64-9327-FD024BF91807}" srcOrd="1" destOrd="0" parTransId="{D03767E2-55AD-4809-BD64-798ED4E92FC8}" sibTransId="{8D026800-916A-4B51-8FD7-169F5EF5358C}"/>
    <dgm:cxn modelId="{1AD9E6E6-4DDD-4E09-966A-FA01EB468595}" type="presParOf" srcId="{A3073A93-C056-4A3B-A2D7-B87F729FA25A}" destId="{61741076-E827-4D90-89A8-83C813C771FB}" srcOrd="0" destOrd="0" presId="urn:microsoft.com/office/officeart/2005/8/layout/process1"/>
    <dgm:cxn modelId="{8D091336-2C36-4717-B120-B6C5821CAD19}" type="presParOf" srcId="{A3073A93-C056-4A3B-A2D7-B87F729FA25A}" destId="{C8F58153-AB3D-4274-B9EA-154D6158FB96}" srcOrd="1" destOrd="0" presId="urn:microsoft.com/office/officeart/2005/8/layout/process1"/>
    <dgm:cxn modelId="{DBD93AED-7431-46AF-AF19-ED5D2D5C9EA7}" type="presParOf" srcId="{C8F58153-AB3D-4274-B9EA-154D6158FB96}" destId="{CC3F5679-7A6F-417D-B42F-1B40DE41F994}" srcOrd="0" destOrd="0" presId="urn:microsoft.com/office/officeart/2005/8/layout/process1"/>
    <dgm:cxn modelId="{BB0D3B4A-223B-44E8-A00A-75F446214DC6}" type="presParOf" srcId="{A3073A93-C056-4A3B-A2D7-B87F729FA25A}" destId="{52FCA1D4-A8CB-40C5-9C39-006E69FFA924}" srcOrd="2" destOrd="0" presId="urn:microsoft.com/office/officeart/2005/8/layout/process1"/>
    <dgm:cxn modelId="{18AD6763-90FC-4672-B4AD-75A296D2DAFB}" type="presParOf" srcId="{A3073A93-C056-4A3B-A2D7-B87F729FA25A}" destId="{B728FB20-5158-4039-8EBA-EAD51805C0D2}" srcOrd="3" destOrd="0" presId="urn:microsoft.com/office/officeart/2005/8/layout/process1"/>
    <dgm:cxn modelId="{CBBE2F15-F93D-4817-955F-01428977AF01}" type="presParOf" srcId="{B728FB20-5158-4039-8EBA-EAD51805C0D2}" destId="{FFAB7904-B928-4755-AE6C-F593E7035C70}" srcOrd="0" destOrd="0" presId="urn:microsoft.com/office/officeart/2005/8/layout/process1"/>
    <dgm:cxn modelId="{3B9B185D-5371-4479-90B0-2EAB46CFA718}" type="presParOf" srcId="{A3073A93-C056-4A3B-A2D7-B87F729FA25A}" destId="{90CA437B-C385-4233-9584-E158DC45D018}" srcOrd="4" destOrd="0" presId="urn:microsoft.com/office/officeart/2005/8/layout/process1"/>
    <dgm:cxn modelId="{539035B5-D01D-4669-897B-4194C67818D5}" type="presParOf" srcId="{A3073A93-C056-4A3B-A2D7-B87F729FA25A}" destId="{E8B223F8-F719-4403-842C-BA59D78D6F0B}" srcOrd="5" destOrd="0" presId="urn:microsoft.com/office/officeart/2005/8/layout/process1"/>
    <dgm:cxn modelId="{859CF5D8-E376-4ACA-A627-5CF873F61F22}" type="presParOf" srcId="{E8B223F8-F719-4403-842C-BA59D78D6F0B}" destId="{CD964C8E-8E69-46E1-B1B6-03EDB3968BAA}" srcOrd="0" destOrd="0" presId="urn:microsoft.com/office/officeart/2005/8/layout/process1"/>
    <dgm:cxn modelId="{C52BD755-1736-4971-93EB-BC3113CFE9ED}" type="presParOf" srcId="{A3073A93-C056-4A3B-A2D7-B87F729FA25A}" destId="{B3580C7E-02AE-4F73-9734-2EFAB5F3EF8C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F11A01-5676-4556-8C74-9F488DEABA8E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68EC56-09F2-4185-98C1-6CC969685169}">
      <dgm:prSet custT="1"/>
      <dgm:spPr>
        <a:solidFill>
          <a:srgbClr val="0070C0"/>
        </a:solidFill>
      </dgm:spPr>
      <dgm:t>
        <a:bodyPr/>
        <a:lstStyle/>
        <a:p>
          <a:r>
            <a:rPr lang="en-US" sz="2000" dirty="0" smtClean="0">
              <a:latin typeface="Arial" panose="020B0604020202020204" pitchFamily="34" charset="0"/>
              <a:cs typeface="Arial" panose="020B0604020202020204" pitchFamily="34" charset="0"/>
            </a:rPr>
            <a:t>Input (Video/Image)</a:t>
          </a:r>
          <a:endParaRPr lang="en-US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8277DBE-1649-4DBF-83C1-72D7ADC3F077}" type="parTrans" cxnId="{6D019F97-723C-4654-A561-3A48744DE751}">
      <dgm:prSet/>
      <dgm:spPr/>
      <dgm:t>
        <a:bodyPr/>
        <a:lstStyle/>
        <a:p>
          <a:endParaRPr lang="en-US"/>
        </a:p>
      </dgm:t>
    </dgm:pt>
    <dgm:pt modelId="{62549B3A-45D7-47D3-AB01-C60E52E7ADCC}" type="sibTrans" cxnId="{6D019F97-723C-4654-A561-3A48744DE751}">
      <dgm:prSet/>
      <dgm:spPr/>
      <dgm:t>
        <a:bodyPr/>
        <a:lstStyle/>
        <a:p>
          <a:endParaRPr lang="en-US"/>
        </a:p>
      </dgm:t>
    </dgm:pt>
    <dgm:pt modelId="{B9E36D61-0164-4FC7-8F52-F0A51E7CCFAF}">
      <dgm:prSet/>
      <dgm:spPr>
        <a:solidFill>
          <a:srgbClr val="0070C0"/>
        </a:solidFill>
      </dgm:spPr>
      <dgm:t>
        <a:bodyPr/>
        <a:lstStyle/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Preprocessing (Noise reduction, enhancement)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823F9D0-7D88-4B52-943A-8E415A4D3418}" type="parTrans" cxnId="{92CD4A17-3AFE-4B4C-BE3B-08421DD5F5E6}">
      <dgm:prSet/>
      <dgm:spPr/>
      <dgm:t>
        <a:bodyPr/>
        <a:lstStyle/>
        <a:p>
          <a:endParaRPr lang="en-US"/>
        </a:p>
      </dgm:t>
    </dgm:pt>
    <dgm:pt modelId="{13714FAA-5D64-4D04-8615-2282077C4F1F}" type="sibTrans" cxnId="{92CD4A17-3AFE-4B4C-BE3B-08421DD5F5E6}">
      <dgm:prSet/>
      <dgm:spPr/>
      <dgm:t>
        <a:bodyPr/>
        <a:lstStyle/>
        <a:p>
          <a:endParaRPr lang="en-US"/>
        </a:p>
      </dgm:t>
    </dgm:pt>
    <dgm:pt modelId="{9D8CBA8D-9FF1-46BE-955E-C619E8712349}">
      <dgm:prSet/>
      <dgm:spPr>
        <a:solidFill>
          <a:srgbClr val="0070C0"/>
        </a:solidFill>
      </dgm:spPr>
      <dgm:t>
        <a:bodyPr/>
        <a:lstStyle/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Feature Extraction (Edges, colors, motion, etc.)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A33BE52-774D-4FD3-A4E8-65D18CDECE15}" type="parTrans" cxnId="{0294BF06-3A96-49EF-B8D2-CF4A849A2113}">
      <dgm:prSet/>
      <dgm:spPr/>
      <dgm:t>
        <a:bodyPr/>
        <a:lstStyle/>
        <a:p>
          <a:endParaRPr lang="en-US"/>
        </a:p>
      </dgm:t>
    </dgm:pt>
    <dgm:pt modelId="{B20E772F-268F-4E38-87DD-2733508019F7}" type="sibTrans" cxnId="{0294BF06-3A96-49EF-B8D2-CF4A849A2113}">
      <dgm:prSet/>
      <dgm:spPr/>
      <dgm:t>
        <a:bodyPr/>
        <a:lstStyle/>
        <a:p>
          <a:endParaRPr lang="en-US"/>
        </a:p>
      </dgm:t>
    </dgm:pt>
    <dgm:pt modelId="{0295CF10-B2AC-41F3-BC65-90A38F462D13}">
      <dgm:prSet custT="1"/>
      <dgm:spPr>
        <a:solidFill>
          <a:srgbClr val="0070C0"/>
        </a:solidFill>
      </dgm:spPr>
      <dgm:t>
        <a:bodyPr/>
        <a:lstStyle/>
        <a:p>
          <a:r>
            <a:rPr lang="en-US" sz="1600" dirty="0" smtClean="0">
              <a:latin typeface="Arial" panose="020B0604020202020204" pitchFamily="34" charset="0"/>
              <a:cs typeface="Arial" panose="020B0604020202020204" pitchFamily="34" charset="0"/>
            </a:rPr>
            <a:t>Detection/Segmentation (Objects, road, obstacles)</a:t>
          </a:r>
          <a:endParaRPr lang="en-US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B1F5E1F-03A1-44DC-9426-412080DF683D}" type="parTrans" cxnId="{22169AA8-E3F5-4FA4-A29E-DAE4F5AC543F}">
      <dgm:prSet/>
      <dgm:spPr/>
      <dgm:t>
        <a:bodyPr/>
        <a:lstStyle/>
        <a:p>
          <a:endParaRPr lang="en-US"/>
        </a:p>
      </dgm:t>
    </dgm:pt>
    <dgm:pt modelId="{4C04ED80-CE13-4822-B856-24E0687EE62F}" type="sibTrans" cxnId="{22169AA8-E3F5-4FA4-A29E-DAE4F5AC543F}">
      <dgm:prSet/>
      <dgm:spPr/>
      <dgm:t>
        <a:bodyPr/>
        <a:lstStyle/>
        <a:p>
          <a:endParaRPr lang="en-US"/>
        </a:p>
      </dgm:t>
    </dgm:pt>
    <dgm:pt modelId="{5DEC7987-8747-46E3-B2D4-393EA9BF5419}">
      <dgm:prSet custT="1"/>
      <dgm:spPr>
        <a:solidFill>
          <a:srgbClr val="0070C0"/>
        </a:solidFill>
      </dgm:spPr>
      <dgm:t>
        <a:bodyPr/>
        <a:lstStyle/>
        <a:p>
          <a:r>
            <a:rPr lang="en-US" sz="2000" dirty="0" smtClean="0">
              <a:latin typeface="Arial" panose="020B0604020202020204" pitchFamily="34" charset="0"/>
              <a:cs typeface="Arial" panose="020B0604020202020204" pitchFamily="34" charset="0"/>
            </a:rPr>
            <a:t>Analysis/Classification (What is it? Where?)</a:t>
          </a:r>
          <a:endParaRPr lang="en-US" sz="2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0F4824F-A784-40B5-A124-96053B662C09}" type="parTrans" cxnId="{E3424634-C858-4AE5-BAED-A2965AE24D85}">
      <dgm:prSet/>
      <dgm:spPr/>
      <dgm:t>
        <a:bodyPr/>
        <a:lstStyle/>
        <a:p>
          <a:endParaRPr lang="en-US"/>
        </a:p>
      </dgm:t>
    </dgm:pt>
    <dgm:pt modelId="{BD3AD493-6E5B-4D58-BF57-44BCFEA3472F}" type="sibTrans" cxnId="{E3424634-C858-4AE5-BAED-A2965AE24D85}">
      <dgm:prSet/>
      <dgm:spPr/>
      <dgm:t>
        <a:bodyPr/>
        <a:lstStyle/>
        <a:p>
          <a:endParaRPr lang="en-US"/>
        </a:p>
      </dgm:t>
    </dgm:pt>
    <dgm:pt modelId="{A70DAB8A-72B0-424B-B679-0403C7129540}">
      <dgm:prSet custT="1"/>
      <dgm:spPr>
        <a:solidFill>
          <a:srgbClr val="0070C0"/>
        </a:solidFill>
      </dgm:spPr>
      <dgm:t>
        <a:bodyPr/>
        <a:lstStyle/>
        <a:p>
          <a:r>
            <a:rPr lang="en-US" sz="1600" dirty="0" smtClean="0">
              <a:latin typeface="Arial" panose="020B0604020202020204" pitchFamily="34" charset="0"/>
              <a:cs typeface="Arial" panose="020B0604020202020204" pitchFamily="34" charset="0"/>
            </a:rPr>
            <a:t>Decision/Warning (Action to take)</a:t>
          </a:r>
          <a:endParaRPr lang="en-US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4AE45BC-CF9E-49D8-9679-63F428BC33BC}" type="parTrans" cxnId="{5A797EEA-6C03-46F5-A7F2-BF4B66F6B31F}">
      <dgm:prSet/>
      <dgm:spPr/>
      <dgm:t>
        <a:bodyPr/>
        <a:lstStyle/>
        <a:p>
          <a:endParaRPr lang="en-US"/>
        </a:p>
      </dgm:t>
    </dgm:pt>
    <dgm:pt modelId="{3196483B-BB1E-462E-A3C4-AABBBA45541E}" type="sibTrans" cxnId="{5A797EEA-6C03-46F5-A7F2-BF4B66F6B31F}">
      <dgm:prSet/>
      <dgm:spPr/>
      <dgm:t>
        <a:bodyPr/>
        <a:lstStyle/>
        <a:p>
          <a:endParaRPr lang="en-US"/>
        </a:p>
      </dgm:t>
    </dgm:pt>
    <dgm:pt modelId="{8420CDD3-1592-4C42-9B92-15667EE46E3A}">
      <dgm:prSet/>
      <dgm:spPr>
        <a:solidFill>
          <a:srgbClr val="0070C0"/>
        </a:solidFill>
      </dgm:spPr>
      <dgm:t>
        <a:bodyPr/>
        <a:lstStyle/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Output (Visual/Audio alert, classification)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6203CB1-C617-4893-A536-60EADC6C59BA}" type="parTrans" cxnId="{D73609BA-5CB2-4DBE-B968-62020C7351AE}">
      <dgm:prSet/>
      <dgm:spPr/>
      <dgm:t>
        <a:bodyPr/>
        <a:lstStyle/>
        <a:p>
          <a:endParaRPr lang="en-US"/>
        </a:p>
      </dgm:t>
    </dgm:pt>
    <dgm:pt modelId="{4D1D70AD-E93E-4731-82E3-0750B63212C0}" type="sibTrans" cxnId="{D73609BA-5CB2-4DBE-B968-62020C7351AE}">
      <dgm:prSet/>
      <dgm:spPr/>
      <dgm:t>
        <a:bodyPr/>
        <a:lstStyle/>
        <a:p>
          <a:endParaRPr lang="en-US"/>
        </a:p>
      </dgm:t>
    </dgm:pt>
    <dgm:pt modelId="{F13371CF-0304-4945-9BA1-7061C4EBE38B}" type="pres">
      <dgm:prSet presAssocID="{9DF11A01-5676-4556-8C74-9F488DEABA8E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30C7A66-776D-429D-8D5C-598EB04200D0}" type="pres">
      <dgm:prSet presAssocID="{0A68EC56-09F2-4185-98C1-6CC969685169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B65C5C-C634-4A81-8B51-E41B2F29B9BA}" type="pres">
      <dgm:prSet presAssocID="{62549B3A-45D7-47D3-AB01-C60E52E7ADCC}" presName="sibTrans" presStyleLbl="sibTrans2D1" presStyleIdx="0" presStyleCnt="7"/>
      <dgm:spPr/>
      <dgm:t>
        <a:bodyPr/>
        <a:lstStyle/>
        <a:p>
          <a:endParaRPr lang="en-US"/>
        </a:p>
      </dgm:t>
    </dgm:pt>
    <dgm:pt modelId="{65684080-3756-4642-83D9-D81D2C042AA1}" type="pres">
      <dgm:prSet presAssocID="{62549B3A-45D7-47D3-AB01-C60E52E7ADCC}" presName="connectorText" presStyleLbl="sibTrans2D1" presStyleIdx="0" presStyleCnt="7"/>
      <dgm:spPr/>
      <dgm:t>
        <a:bodyPr/>
        <a:lstStyle/>
        <a:p>
          <a:endParaRPr lang="en-US"/>
        </a:p>
      </dgm:t>
    </dgm:pt>
    <dgm:pt modelId="{4A516795-1656-4652-98DE-524EEA23BDC6}" type="pres">
      <dgm:prSet presAssocID="{B9E36D61-0164-4FC7-8F52-F0A51E7CCFAF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B8016C-B74F-4809-8917-D893C65E6D07}" type="pres">
      <dgm:prSet presAssocID="{13714FAA-5D64-4D04-8615-2282077C4F1F}" presName="sibTrans" presStyleLbl="sibTrans2D1" presStyleIdx="1" presStyleCnt="7"/>
      <dgm:spPr/>
      <dgm:t>
        <a:bodyPr/>
        <a:lstStyle/>
        <a:p>
          <a:endParaRPr lang="en-US"/>
        </a:p>
      </dgm:t>
    </dgm:pt>
    <dgm:pt modelId="{FA88EA25-4FC4-419A-93F3-1232DD3CE039}" type="pres">
      <dgm:prSet presAssocID="{13714FAA-5D64-4D04-8615-2282077C4F1F}" presName="connectorText" presStyleLbl="sibTrans2D1" presStyleIdx="1" presStyleCnt="7"/>
      <dgm:spPr/>
      <dgm:t>
        <a:bodyPr/>
        <a:lstStyle/>
        <a:p>
          <a:endParaRPr lang="en-US"/>
        </a:p>
      </dgm:t>
    </dgm:pt>
    <dgm:pt modelId="{B0E6617A-1148-4D33-AF1D-E9D91293B6D6}" type="pres">
      <dgm:prSet presAssocID="{9D8CBA8D-9FF1-46BE-955E-C619E8712349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1439ED-5E74-4109-A12A-BA4242E93B52}" type="pres">
      <dgm:prSet presAssocID="{B20E772F-268F-4E38-87DD-2733508019F7}" presName="sibTrans" presStyleLbl="sibTrans2D1" presStyleIdx="2" presStyleCnt="7"/>
      <dgm:spPr/>
      <dgm:t>
        <a:bodyPr/>
        <a:lstStyle/>
        <a:p>
          <a:endParaRPr lang="en-US"/>
        </a:p>
      </dgm:t>
    </dgm:pt>
    <dgm:pt modelId="{F89C0AC2-683B-4FF5-96EC-975821F01632}" type="pres">
      <dgm:prSet presAssocID="{B20E772F-268F-4E38-87DD-2733508019F7}" presName="connectorText" presStyleLbl="sibTrans2D1" presStyleIdx="2" presStyleCnt="7"/>
      <dgm:spPr/>
      <dgm:t>
        <a:bodyPr/>
        <a:lstStyle/>
        <a:p>
          <a:endParaRPr lang="en-US"/>
        </a:p>
      </dgm:t>
    </dgm:pt>
    <dgm:pt modelId="{C507E7A5-BC54-4160-96D6-AF0328539010}" type="pres">
      <dgm:prSet presAssocID="{0295CF10-B2AC-41F3-BC65-90A38F462D13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73C2191-9BAA-42C0-8992-E07975E9FB40}" type="pres">
      <dgm:prSet presAssocID="{4C04ED80-CE13-4822-B856-24E0687EE62F}" presName="sibTrans" presStyleLbl="sibTrans2D1" presStyleIdx="3" presStyleCnt="7"/>
      <dgm:spPr/>
      <dgm:t>
        <a:bodyPr/>
        <a:lstStyle/>
        <a:p>
          <a:endParaRPr lang="en-US"/>
        </a:p>
      </dgm:t>
    </dgm:pt>
    <dgm:pt modelId="{65040442-C9DA-4266-863F-A23AD72764B4}" type="pres">
      <dgm:prSet presAssocID="{4C04ED80-CE13-4822-B856-24E0687EE62F}" presName="connectorText" presStyleLbl="sibTrans2D1" presStyleIdx="3" presStyleCnt="7"/>
      <dgm:spPr/>
      <dgm:t>
        <a:bodyPr/>
        <a:lstStyle/>
        <a:p>
          <a:endParaRPr lang="en-US"/>
        </a:p>
      </dgm:t>
    </dgm:pt>
    <dgm:pt modelId="{BA34D0DD-DEF4-493D-81E6-A01274A86AB0}" type="pres">
      <dgm:prSet presAssocID="{5DEC7987-8747-46E3-B2D4-393EA9BF5419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404BFD-E4F4-4DDB-AAB5-67C04449E876}" type="pres">
      <dgm:prSet presAssocID="{BD3AD493-6E5B-4D58-BF57-44BCFEA3472F}" presName="sibTrans" presStyleLbl="sibTrans2D1" presStyleIdx="4" presStyleCnt="7"/>
      <dgm:spPr/>
      <dgm:t>
        <a:bodyPr/>
        <a:lstStyle/>
        <a:p>
          <a:endParaRPr lang="en-US"/>
        </a:p>
      </dgm:t>
    </dgm:pt>
    <dgm:pt modelId="{2BD5C4B4-E595-470E-A60A-2EEBB6F4E4BA}" type="pres">
      <dgm:prSet presAssocID="{BD3AD493-6E5B-4D58-BF57-44BCFEA3472F}" presName="connectorText" presStyleLbl="sibTrans2D1" presStyleIdx="4" presStyleCnt="7"/>
      <dgm:spPr/>
      <dgm:t>
        <a:bodyPr/>
        <a:lstStyle/>
        <a:p>
          <a:endParaRPr lang="en-US"/>
        </a:p>
      </dgm:t>
    </dgm:pt>
    <dgm:pt modelId="{D75A79BE-83C7-4FD8-946E-3C60598FB38B}" type="pres">
      <dgm:prSet presAssocID="{A70DAB8A-72B0-424B-B679-0403C7129540}" presName="node" presStyleLbl="node1" presStyleIdx="5" presStyleCnt="7" custRadScaleRad="95644" custRadScaleInc="332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51A932-2759-47FC-A3C5-9A32048C5943}" type="pres">
      <dgm:prSet presAssocID="{3196483B-BB1E-462E-A3C4-AABBBA45541E}" presName="sibTrans" presStyleLbl="sibTrans2D1" presStyleIdx="5" presStyleCnt="7"/>
      <dgm:spPr/>
      <dgm:t>
        <a:bodyPr/>
        <a:lstStyle/>
        <a:p>
          <a:endParaRPr lang="en-US"/>
        </a:p>
      </dgm:t>
    </dgm:pt>
    <dgm:pt modelId="{44464773-3A78-459D-9340-3B3292FC899F}" type="pres">
      <dgm:prSet presAssocID="{3196483B-BB1E-462E-A3C4-AABBBA45541E}" presName="connectorText" presStyleLbl="sibTrans2D1" presStyleIdx="5" presStyleCnt="7"/>
      <dgm:spPr/>
      <dgm:t>
        <a:bodyPr/>
        <a:lstStyle/>
        <a:p>
          <a:endParaRPr lang="en-US"/>
        </a:p>
      </dgm:t>
    </dgm:pt>
    <dgm:pt modelId="{AF8E0125-D890-4BE5-8F82-CB74801281A2}" type="pres">
      <dgm:prSet presAssocID="{8420CDD3-1592-4C42-9B92-15667EE46E3A}" presName="node" presStyleLbl="node1" presStyleIdx="6" presStyleCnt="7" custRadScaleRad="101171" custRadScaleInc="-94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7443EC-3578-4C88-AF76-F2ECC0C512E3}" type="pres">
      <dgm:prSet presAssocID="{4D1D70AD-E93E-4731-82E3-0750B63212C0}" presName="sibTrans" presStyleLbl="sibTrans2D1" presStyleIdx="6" presStyleCnt="7"/>
      <dgm:spPr/>
      <dgm:t>
        <a:bodyPr/>
        <a:lstStyle/>
        <a:p>
          <a:endParaRPr lang="en-US"/>
        </a:p>
      </dgm:t>
    </dgm:pt>
    <dgm:pt modelId="{E96D3F1B-A209-40F2-BE50-F41187242A2C}" type="pres">
      <dgm:prSet presAssocID="{4D1D70AD-E93E-4731-82E3-0750B63212C0}" presName="connectorText" presStyleLbl="sibTrans2D1" presStyleIdx="6" presStyleCnt="7"/>
      <dgm:spPr/>
      <dgm:t>
        <a:bodyPr/>
        <a:lstStyle/>
        <a:p>
          <a:endParaRPr lang="en-US"/>
        </a:p>
      </dgm:t>
    </dgm:pt>
  </dgm:ptLst>
  <dgm:cxnLst>
    <dgm:cxn modelId="{E1E28245-7606-4AA6-B361-C2E1032AEA60}" type="presOf" srcId="{3196483B-BB1E-462E-A3C4-AABBBA45541E}" destId="{44464773-3A78-459D-9340-3B3292FC899F}" srcOrd="1" destOrd="0" presId="urn:microsoft.com/office/officeart/2005/8/layout/cycle2"/>
    <dgm:cxn modelId="{92CD4A17-3AFE-4B4C-BE3B-08421DD5F5E6}" srcId="{9DF11A01-5676-4556-8C74-9F488DEABA8E}" destId="{B9E36D61-0164-4FC7-8F52-F0A51E7CCFAF}" srcOrd="1" destOrd="0" parTransId="{2823F9D0-7D88-4B52-943A-8E415A4D3418}" sibTransId="{13714FAA-5D64-4D04-8615-2282077C4F1F}"/>
    <dgm:cxn modelId="{870B46D1-5A9F-4E98-B1D8-092DC8F2D8A2}" type="presOf" srcId="{9DF11A01-5676-4556-8C74-9F488DEABA8E}" destId="{F13371CF-0304-4945-9BA1-7061C4EBE38B}" srcOrd="0" destOrd="0" presId="urn:microsoft.com/office/officeart/2005/8/layout/cycle2"/>
    <dgm:cxn modelId="{67753616-4733-4FD1-83FF-8B661F85022A}" type="presOf" srcId="{13714FAA-5D64-4D04-8615-2282077C4F1F}" destId="{D7B8016C-B74F-4809-8917-D893C65E6D07}" srcOrd="0" destOrd="0" presId="urn:microsoft.com/office/officeart/2005/8/layout/cycle2"/>
    <dgm:cxn modelId="{0EEAAD01-EE81-4BA5-9D1C-EB8C256510FF}" type="presOf" srcId="{A70DAB8A-72B0-424B-B679-0403C7129540}" destId="{D75A79BE-83C7-4FD8-946E-3C60598FB38B}" srcOrd="0" destOrd="0" presId="urn:microsoft.com/office/officeart/2005/8/layout/cycle2"/>
    <dgm:cxn modelId="{896F90EE-765F-4E2E-83C3-535C392EB007}" type="presOf" srcId="{4D1D70AD-E93E-4731-82E3-0750B63212C0}" destId="{E17443EC-3578-4C88-AF76-F2ECC0C512E3}" srcOrd="0" destOrd="0" presId="urn:microsoft.com/office/officeart/2005/8/layout/cycle2"/>
    <dgm:cxn modelId="{E3AB2CCC-7406-444C-AE24-F1E4B6E69027}" type="presOf" srcId="{B20E772F-268F-4E38-87DD-2733508019F7}" destId="{D91439ED-5E74-4109-A12A-BA4242E93B52}" srcOrd="0" destOrd="0" presId="urn:microsoft.com/office/officeart/2005/8/layout/cycle2"/>
    <dgm:cxn modelId="{5A797EEA-6C03-46F5-A7F2-BF4B66F6B31F}" srcId="{9DF11A01-5676-4556-8C74-9F488DEABA8E}" destId="{A70DAB8A-72B0-424B-B679-0403C7129540}" srcOrd="5" destOrd="0" parTransId="{34AE45BC-CF9E-49D8-9679-63F428BC33BC}" sibTransId="{3196483B-BB1E-462E-A3C4-AABBBA45541E}"/>
    <dgm:cxn modelId="{F7B7AC71-E975-4892-BFA9-D9D78EA767F8}" type="presOf" srcId="{4D1D70AD-E93E-4731-82E3-0750B63212C0}" destId="{E96D3F1B-A209-40F2-BE50-F41187242A2C}" srcOrd="1" destOrd="0" presId="urn:microsoft.com/office/officeart/2005/8/layout/cycle2"/>
    <dgm:cxn modelId="{92715F33-DC11-41EB-8E57-C5D8FE23996E}" type="presOf" srcId="{3196483B-BB1E-462E-A3C4-AABBBA45541E}" destId="{6951A932-2759-47FC-A3C5-9A32048C5943}" srcOrd="0" destOrd="0" presId="urn:microsoft.com/office/officeart/2005/8/layout/cycle2"/>
    <dgm:cxn modelId="{6AC6BB4F-D69E-4B4E-91C5-8D98BD74CF86}" type="presOf" srcId="{0295CF10-B2AC-41F3-BC65-90A38F462D13}" destId="{C507E7A5-BC54-4160-96D6-AF0328539010}" srcOrd="0" destOrd="0" presId="urn:microsoft.com/office/officeart/2005/8/layout/cycle2"/>
    <dgm:cxn modelId="{22169AA8-E3F5-4FA4-A29E-DAE4F5AC543F}" srcId="{9DF11A01-5676-4556-8C74-9F488DEABA8E}" destId="{0295CF10-B2AC-41F3-BC65-90A38F462D13}" srcOrd="3" destOrd="0" parTransId="{4B1F5E1F-03A1-44DC-9426-412080DF683D}" sibTransId="{4C04ED80-CE13-4822-B856-24E0687EE62F}"/>
    <dgm:cxn modelId="{E3424634-C858-4AE5-BAED-A2965AE24D85}" srcId="{9DF11A01-5676-4556-8C74-9F488DEABA8E}" destId="{5DEC7987-8747-46E3-B2D4-393EA9BF5419}" srcOrd="4" destOrd="0" parTransId="{90F4824F-A784-40B5-A124-96053B662C09}" sibTransId="{BD3AD493-6E5B-4D58-BF57-44BCFEA3472F}"/>
    <dgm:cxn modelId="{FADDEE7B-1118-484A-99DD-E54DD49366CC}" type="presOf" srcId="{9D8CBA8D-9FF1-46BE-955E-C619E8712349}" destId="{B0E6617A-1148-4D33-AF1D-E9D91293B6D6}" srcOrd="0" destOrd="0" presId="urn:microsoft.com/office/officeart/2005/8/layout/cycle2"/>
    <dgm:cxn modelId="{6D375572-E21C-4FA4-B917-D5914C73947A}" type="presOf" srcId="{BD3AD493-6E5B-4D58-BF57-44BCFEA3472F}" destId="{20404BFD-E4F4-4DDB-AAB5-67C04449E876}" srcOrd="0" destOrd="0" presId="urn:microsoft.com/office/officeart/2005/8/layout/cycle2"/>
    <dgm:cxn modelId="{98BB2D52-6360-45C0-BAA3-E1D9E0AF4631}" type="presOf" srcId="{62549B3A-45D7-47D3-AB01-C60E52E7ADCC}" destId="{DAB65C5C-C634-4A81-8B51-E41B2F29B9BA}" srcOrd="0" destOrd="0" presId="urn:microsoft.com/office/officeart/2005/8/layout/cycle2"/>
    <dgm:cxn modelId="{6D019F97-723C-4654-A561-3A48744DE751}" srcId="{9DF11A01-5676-4556-8C74-9F488DEABA8E}" destId="{0A68EC56-09F2-4185-98C1-6CC969685169}" srcOrd="0" destOrd="0" parTransId="{18277DBE-1649-4DBF-83C1-72D7ADC3F077}" sibTransId="{62549B3A-45D7-47D3-AB01-C60E52E7ADCC}"/>
    <dgm:cxn modelId="{00D00CF9-8045-4ADB-96BA-74CD4C6318D4}" type="presOf" srcId="{13714FAA-5D64-4D04-8615-2282077C4F1F}" destId="{FA88EA25-4FC4-419A-93F3-1232DD3CE039}" srcOrd="1" destOrd="0" presId="urn:microsoft.com/office/officeart/2005/8/layout/cycle2"/>
    <dgm:cxn modelId="{E19B87F6-1055-4D21-B17C-83CAA184AB50}" type="presOf" srcId="{BD3AD493-6E5B-4D58-BF57-44BCFEA3472F}" destId="{2BD5C4B4-E595-470E-A60A-2EEBB6F4E4BA}" srcOrd="1" destOrd="0" presId="urn:microsoft.com/office/officeart/2005/8/layout/cycle2"/>
    <dgm:cxn modelId="{2596C607-11AA-4002-8E8B-C822B788D465}" type="presOf" srcId="{5DEC7987-8747-46E3-B2D4-393EA9BF5419}" destId="{BA34D0DD-DEF4-493D-81E6-A01274A86AB0}" srcOrd="0" destOrd="0" presId="urn:microsoft.com/office/officeart/2005/8/layout/cycle2"/>
    <dgm:cxn modelId="{8C83B668-0099-4E9C-8880-73EF21723161}" type="presOf" srcId="{0A68EC56-09F2-4185-98C1-6CC969685169}" destId="{F30C7A66-776D-429D-8D5C-598EB04200D0}" srcOrd="0" destOrd="0" presId="urn:microsoft.com/office/officeart/2005/8/layout/cycle2"/>
    <dgm:cxn modelId="{CEC9739A-4259-4AA1-B448-0294983FD87D}" type="presOf" srcId="{4C04ED80-CE13-4822-B856-24E0687EE62F}" destId="{373C2191-9BAA-42C0-8992-E07975E9FB40}" srcOrd="0" destOrd="0" presId="urn:microsoft.com/office/officeart/2005/8/layout/cycle2"/>
    <dgm:cxn modelId="{0294BF06-3A96-49EF-B8D2-CF4A849A2113}" srcId="{9DF11A01-5676-4556-8C74-9F488DEABA8E}" destId="{9D8CBA8D-9FF1-46BE-955E-C619E8712349}" srcOrd="2" destOrd="0" parTransId="{1A33BE52-774D-4FD3-A4E8-65D18CDECE15}" sibTransId="{B20E772F-268F-4E38-87DD-2733508019F7}"/>
    <dgm:cxn modelId="{90E84CED-3584-419A-99B2-AE174DC8163E}" type="presOf" srcId="{4C04ED80-CE13-4822-B856-24E0687EE62F}" destId="{65040442-C9DA-4266-863F-A23AD72764B4}" srcOrd="1" destOrd="0" presId="urn:microsoft.com/office/officeart/2005/8/layout/cycle2"/>
    <dgm:cxn modelId="{85FC2052-6DD5-442A-B224-0921948FA09C}" type="presOf" srcId="{B20E772F-268F-4E38-87DD-2733508019F7}" destId="{F89C0AC2-683B-4FF5-96EC-975821F01632}" srcOrd="1" destOrd="0" presId="urn:microsoft.com/office/officeart/2005/8/layout/cycle2"/>
    <dgm:cxn modelId="{E33D5870-793E-423F-A5DD-EDE6F2FF2AD9}" type="presOf" srcId="{B9E36D61-0164-4FC7-8F52-F0A51E7CCFAF}" destId="{4A516795-1656-4652-98DE-524EEA23BDC6}" srcOrd="0" destOrd="0" presId="urn:microsoft.com/office/officeart/2005/8/layout/cycle2"/>
    <dgm:cxn modelId="{BE73EEC2-DF29-4AE0-9DBD-6D3B0CC27F97}" type="presOf" srcId="{62549B3A-45D7-47D3-AB01-C60E52E7ADCC}" destId="{65684080-3756-4642-83D9-D81D2C042AA1}" srcOrd="1" destOrd="0" presId="urn:microsoft.com/office/officeart/2005/8/layout/cycle2"/>
    <dgm:cxn modelId="{4C13BE8E-CFA1-4B17-A398-830B27E00483}" type="presOf" srcId="{8420CDD3-1592-4C42-9B92-15667EE46E3A}" destId="{AF8E0125-D890-4BE5-8F82-CB74801281A2}" srcOrd="0" destOrd="0" presId="urn:microsoft.com/office/officeart/2005/8/layout/cycle2"/>
    <dgm:cxn modelId="{D73609BA-5CB2-4DBE-B968-62020C7351AE}" srcId="{9DF11A01-5676-4556-8C74-9F488DEABA8E}" destId="{8420CDD3-1592-4C42-9B92-15667EE46E3A}" srcOrd="6" destOrd="0" parTransId="{46203CB1-C617-4893-A536-60EADC6C59BA}" sibTransId="{4D1D70AD-E93E-4731-82E3-0750B63212C0}"/>
    <dgm:cxn modelId="{56818DA8-883B-4CBF-94EE-97A4EFEBEA95}" type="presParOf" srcId="{F13371CF-0304-4945-9BA1-7061C4EBE38B}" destId="{F30C7A66-776D-429D-8D5C-598EB04200D0}" srcOrd="0" destOrd="0" presId="urn:microsoft.com/office/officeart/2005/8/layout/cycle2"/>
    <dgm:cxn modelId="{6CD67DC3-E018-442A-80E7-6567A46CD47C}" type="presParOf" srcId="{F13371CF-0304-4945-9BA1-7061C4EBE38B}" destId="{DAB65C5C-C634-4A81-8B51-E41B2F29B9BA}" srcOrd="1" destOrd="0" presId="urn:microsoft.com/office/officeart/2005/8/layout/cycle2"/>
    <dgm:cxn modelId="{DE87142C-7AC0-4FEA-A89C-B94279959076}" type="presParOf" srcId="{DAB65C5C-C634-4A81-8B51-E41B2F29B9BA}" destId="{65684080-3756-4642-83D9-D81D2C042AA1}" srcOrd="0" destOrd="0" presId="urn:microsoft.com/office/officeart/2005/8/layout/cycle2"/>
    <dgm:cxn modelId="{2872A7BC-FC00-4EA1-9DAB-3AF7ED76B144}" type="presParOf" srcId="{F13371CF-0304-4945-9BA1-7061C4EBE38B}" destId="{4A516795-1656-4652-98DE-524EEA23BDC6}" srcOrd="2" destOrd="0" presId="urn:microsoft.com/office/officeart/2005/8/layout/cycle2"/>
    <dgm:cxn modelId="{939ECEB9-8D5C-4FA9-8D2F-E6BC347A64A5}" type="presParOf" srcId="{F13371CF-0304-4945-9BA1-7061C4EBE38B}" destId="{D7B8016C-B74F-4809-8917-D893C65E6D07}" srcOrd="3" destOrd="0" presId="urn:microsoft.com/office/officeart/2005/8/layout/cycle2"/>
    <dgm:cxn modelId="{C0B8C14B-3B64-44EB-B065-42C17A709CB8}" type="presParOf" srcId="{D7B8016C-B74F-4809-8917-D893C65E6D07}" destId="{FA88EA25-4FC4-419A-93F3-1232DD3CE039}" srcOrd="0" destOrd="0" presId="urn:microsoft.com/office/officeart/2005/8/layout/cycle2"/>
    <dgm:cxn modelId="{FFBDC353-1BB2-400C-87D7-BA3A93DF583E}" type="presParOf" srcId="{F13371CF-0304-4945-9BA1-7061C4EBE38B}" destId="{B0E6617A-1148-4D33-AF1D-E9D91293B6D6}" srcOrd="4" destOrd="0" presId="urn:microsoft.com/office/officeart/2005/8/layout/cycle2"/>
    <dgm:cxn modelId="{2312C477-52E9-4CCB-8A59-2958B55C2253}" type="presParOf" srcId="{F13371CF-0304-4945-9BA1-7061C4EBE38B}" destId="{D91439ED-5E74-4109-A12A-BA4242E93B52}" srcOrd="5" destOrd="0" presId="urn:microsoft.com/office/officeart/2005/8/layout/cycle2"/>
    <dgm:cxn modelId="{E5BD3AB6-4CE0-424C-B1BA-5F1DFDB03114}" type="presParOf" srcId="{D91439ED-5E74-4109-A12A-BA4242E93B52}" destId="{F89C0AC2-683B-4FF5-96EC-975821F01632}" srcOrd="0" destOrd="0" presId="urn:microsoft.com/office/officeart/2005/8/layout/cycle2"/>
    <dgm:cxn modelId="{654127AE-26EA-45DB-A269-F84B3EBA6A96}" type="presParOf" srcId="{F13371CF-0304-4945-9BA1-7061C4EBE38B}" destId="{C507E7A5-BC54-4160-96D6-AF0328539010}" srcOrd="6" destOrd="0" presId="urn:microsoft.com/office/officeart/2005/8/layout/cycle2"/>
    <dgm:cxn modelId="{54CE1A23-426B-4DE7-8262-ADF1A822B98D}" type="presParOf" srcId="{F13371CF-0304-4945-9BA1-7061C4EBE38B}" destId="{373C2191-9BAA-42C0-8992-E07975E9FB40}" srcOrd="7" destOrd="0" presId="urn:microsoft.com/office/officeart/2005/8/layout/cycle2"/>
    <dgm:cxn modelId="{F12C88FD-5AC2-4884-9694-1E18F840227C}" type="presParOf" srcId="{373C2191-9BAA-42C0-8992-E07975E9FB40}" destId="{65040442-C9DA-4266-863F-A23AD72764B4}" srcOrd="0" destOrd="0" presId="urn:microsoft.com/office/officeart/2005/8/layout/cycle2"/>
    <dgm:cxn modelId="{25DF9B0D-C805-4085-AA3B-84E5006F1582}" type="presParOf" srcId="{F13371CF-0304-4945-9BA1-7061C4EBE38B}" destId="{BA34D0DD-DEF4-493D-81E6-A01274A86AB0}" srcOrd="8" destOrd="0" presId="urn:microsoft.com/office/officeart/2005/8/layout/cycle2"/>
    <dgm:cxn modelId="{89EE3EFF-D9F8-4C95-A5C0-CC6F23A4A6D9}" type="presParOf" srcId="{F13371CF-0304-4945-9BA1-7061C4EBE38B}" destId="{20404BFD-E4F4-4DDB-AAB5-67C04449E876}" srcOrd="9" destOrd="0" presId="urn:microsoft.com/office/officeart/2005/8/layout/cycle2"/>
    <dgm:cxn modelId="{B7CBEE4C-59EE-4608-B5E9-694A334B2AC9}" type="presParOf" srcId="{20404BFD-E4F4-4DDB-AAB5-67C04449E876}" destId="{2BD5C4B4-E595-470E-A60A-2EEBB6F4E4BA}" srcOrd="0" destOrd="0" presId="urn:microsoft.com/office/officeart/2005/8/layout/cycle2"/>
    <dgm:cxn modelId="{6C4BBD9C-19D4-47F4-BB75-3AE54BDD9DE0}" type="presParOf" srcId="{F13371CF-0304-4945-9BA1-7061C4EBE38B}" destId="{D75A79BE-83C7-4FD8-946E-3C60598FB38B}" srcOrd="10" destOrd="0" presId="urn:microsoft.com/office/officeart/2005/8/layout/cycle2"/>
    <dgm:cxn modelId="{11B1822B-6CB7-46A2-B0A2-35F89747F60E}" type="presParOf" srcId="{F13371CF-0304-4945-9BA1-7061C4EBE38B}" destId="{6951A932-2759-47FC-A3C5-9A32048C5943}" srcOrd="11" destOrd="0" presId="urn:microsoft.com/office/officeart/2005/8/layout/cycle2"/>
    <dgm:cxn modelId="{ACD4DC61-8E12-4C1A-BEFE-31E953E3C03F}" type="presParOf" srcId="{6951A932-2759-47FC-A3C5-9A32048C5943}" destId="{44464773-3A78-459D-9340-3B3292FC899F}" srcOrd="0" destOrd="0" presId="urn:microsoft.com/office/officeart/2005/8/layout/cycle2"/>
    <dgm:cxn modelId="{23C3ED76-279A-4F04-AA36-9B78B9A35C6B}" type="presParOf" srcId="{F13371CF-0304-4945-9BA1-7061C4EBE38B}" destId="{AF8E0125-D890-4BE5-8F82-CB74801281A2}" srcOrd="12" destOrd="0" presId="urn:microsoft.com/office/officeart/2005/8/layout/cycle2"/>
    <dgm:cxn modelId="{0BAEA5E7-7FCA-47A7-BCA0-DD98BC5FDD22}" type="presParOf" srcId="{F13371CF-0304-4945-9BA1-7061C4EBE38B}" destId="{E17443EC-3578-4C88-AF76-F2ECC0C512E3}" srcOrd="13" destOrd="0" presId="urn:microsoft.com/office/officeart/2005/8/layout/cycle2"/>
    <dgm:cxn modelId="{45217849-22DC-4D62-BD89-99598D653458}" type="presParOf" srcId="{E17443EC-3578-4C88-AF76-F2ECC0C512E3}" destId="{E96D3F1B-A209-40F2-BE50-F41187242A2C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741076-E827-4D90-89A8-83C813C771FB}">
      <dsp:nvSpPr>
        <dsp:cNvPr id="0" name=""/>
        <dsp:cNvSpPr/>
      </dsp:nvSpPr>
      <dsp:spPr>
        <a:xfrm>
          <a:off x="6422" y="1852263"/>
          <a:ext cx="2808137" cy="1684882"/>
        </a:xfrm>
        <a:prstGeom prst="roundRect">
          <a:avLst>
            <a:gd name="adj" fmla="val 1000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OBJECT DETECTION &amp; TRACKING (Helmet, Vehicles, Pedestrians, Obstacles</a:t>
          </a:r>
          <a:r>
            <a:rPr lang="en-US" sz="1600" b="1" kern="1200" dirty="0" smtClean="0"/>
            <a:t>)</a:t>
          </a:r>
          <a:endParaRPr lang="en-US" sz="16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771" y="1901612"/>
        <a:ext cx="2709439" cy="1586184"/>
      </dsp:txXfrm>
    </dsp:sp>
    <dsp:sp modelId="{C8F58153-AB3D-4274-B9EA-154D6158FB96}">
      <dsp:nvSpPr>
        <dsp:cNvPr id="0" name=""/>
        <dsp:cNvSpPr/>
      </dsp:nvSpPr>
      <dsp:spPr>
        <a:xfrm>
          <a:off x="3095373" y="2346495"/>
          <a:ext cx="595325" cy="6964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095373" y="2485779"/>
        <a:ext cx="416728" cy="417850"/>
      </dsp:txXfrm>
    </dsp:sp>
    <dsp:sp modelId="{52FCA1D4-A8CB-40C5-9C39-006E69FFA924}">
      <dsp:nvSpPr>
        <dsp:cNvPr id="0" name=""/>
        <dsp:cNvSpPr/>
      </dsp:nvSpPr>
      <dsp:spPr>
        <a:xfrm>
          <a:off x="3937814" y="1852263"/>
          <a:ext cx="2808137" cy="1684882"/>
        </a:xfrm>
        <a:prstGeom prst="roundRect">
          <a:avLst>
            <a:gd name="adj" fmla="val 1000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ROAD SCENE UNDERSTANDING (Road Surface, Lane Counting, Road Type, Weather)</a:t>
          </a:r>
          <a:endParaRPr lang="en-US" sz="2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987163" y="1901612"/>
        <a:ext cx="2709439" cy="1586184"/>
      </dsp:txXfrm>
    </dsp:sp>
    <dsp:sp modelId="{B728FB20-5158-4039-8EBA-EAD51805C0D2}">
      <dsp:nvSpPr>
        <dsp:cNvPr id="0" name=""/>
        <dsp:cNvSpPr/>
      </dsp:nvSpPr>
      <dsp:spPr>
        <a:xfrm>
          <a:off x="7026765" y="2346495"/>
          <a:ext cx="595325" cy="6964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026765" y="2485779"/>
        <a:ext cx="416728" cy="417850"/>
      </dsp:txXfrm>
    </dsp:sp>
    <dsp:sp modelId="{90CA437B-C385-4233-9584-E158DC45D018}">
      <dsp:nvSpPr>
        <dsp:cNvPr id="0" name=""/>
        <dsp:cNvSpPr/>
      </dsp:nvSpPr>
      <dsp:spPr>
        <a:xfrm>
          <a:off x="7869206" y="1852263"/>
          <a:ext cx="2808137" cy="1684882"/>
        </a:xfrm>
        <a:prstGeom prst="roundRect">
          <a:avLst>
            <a:gd name="adj" fmla="val 1000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TRAFFIC ANALYSIS &amp; DENSITY ESTIMATION</a:t>
          </a:r>
          <a:endParaRPr lang="en-US" sz="2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918555" y="1901612"/>
        <a:ext cx="2709439" cy="1586184"/>
      </dsp:txXfrm>
    </dsp:sp>
    <dsp:sp modelId="{E8B223F8-F719-4403-842C-BA59D78D6F0B}">
      <dsp:nvSpPr>
        <dsp:cNvPr id="0" name=""/>
        <dsp:cNvSpPr/>
      </dsp:nvSpPr>
      <dsp:spPr>
        <a:xfrm>
          <a:off x="10958157" y="2346495"/>
          <a:ext cx="595325" cy="6964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958157" y="2485779"/>
        <a:ext cx="416728" cy="417850"/>
      </dsp:txXfrm>
    </dsp:sp>
    <dsp:sp modelId="{B3580C7E-02AE-4F73-9734-2EFAB5F3EF8C}">
      <dsp:nvSpPr>
        <dsp:cNvPr id="0" name=""/>
        <dsp:cNvSpPr/>
      </dsp:nvSpPr>
      <dsp:spPr>
        <a:xfrm>
          <a:off x="11800599" y="1852263"/>
          <a:ext cx="2808137" cy="1684882"/>
        </a:xfrm>
        <a:prstGeom prst="roundRect">
          <a:avLst>
            <a:gd name="adj" fmla="val 1000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CONNECTIVITY &amp; </a:t>
          </a:r>
          <a:r>
            <a:rPr lang="en-US" sz="1600" b="1" kern="1200" dirty="0" err="1" smtClean="0">
              <a:latin typeface="Arial" panose="020B0604020202020204" pitchFamily="34" charset="0"/>
              <a:cs typeface="Arial" panose="020B0604020202020204" pitchFamily="34" charset="0"/>
            </a:rPr>
            <a:t>IoV</a:t>
          </a:r>
          <a:r>
            <a:rPr lang="en-US" sz="16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 (Internet of Vehicles)</a:t>
          </a:r>
          <a:endParaRPr lang="en-US" sz="16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1849948" y="1901612"/>
        <a:ext cx="2709439" cy="15861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0C7A66-776D-429D-8D5C-598EB04200D0}">
      <dsp:nvSpPr>
        <dsp:cNvPr id="0" name=""/>
        <dsp:cNvSpPr/>
      </dsp:nvSpPr>
      <dsp:spPr>
        <a:xfrm>
          <a:off x="4971952" y="2404"/>
          <a:ext cx="2000445" cy="2000445"/>
        </a:xfrm>
        <a:prstGeom prst="ellips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Arial" panose="020B0604020202020204" pitchFamily="34" charset="0"/>
              <a:cs typeface="Arial" panose="020B0604020202020204" pitchFamily="34" charset="0"/>
            </a:rPr>
            <a:t>Input (Video/Image)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264910" y="295362"/>
        <a:ext cx="1414529" cy="1414529"/>
      </dsp:txXfrm>
    </dsp:sp>
    <dsp:sp modelId="{DAB65C5C-C634-4A81-8B51-E41B2F29B9BA}">
      <dsp:nvSpPr>
        <dsp:cNvPr id="0" name=""/>
        <dsp:cNvSpPr/>
      </dsp:nvSpPr>
      <dsp:spPr>
        <a:xfrm rot="1542857">
          <a:off x="7046291" y="1310661"/>
          <a:ext cx="533010" cy="675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>
        <a:off x="7054209" y="1411001"/>
        <a:ext cx="373107" cy="405090"/>
      </dsp:txXfrm>
    </dsp:sp>
    <dsp:sp modelId="{4A516795-1656-4652-98DE-524EEA23BDC6}">
      <dsp:nvSpPr>
        <dsp:cNvPr id="0" name=""/>
        <dsp:cNvSpPr/>
      </dsp:nvSpPr>
      <dsp:spPr>
        <a:xfrm>
          <a:off x="7680378" y="1306714"/>
          <a:ext cx="2000445" cy="2000445"/>
        </a:xfrm>
        <a:prstGeom prst="ellips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Arial" panose="020B0604020202020204" pitchFamily="34" charset="0"/>
              <a:cs typeface="Arial" panose="020B0604020202020204" pitchFamily="34" charset="0"/>
            </a:rPr>
            <a:t>Preprocessing (Noise reduction, enhancement)</a:t>
          </a:r>
          <a:endParaRPr lang="en-US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973336" y="1599672"/>
        <a:ext cx="1414529" cy="1414529"/>
      </dsp:txXfrm>
    </dsp:sp>
    <dsp:sp modelId="{D7B8016C-B74F-4809-8917-D893C65E6D07}">
      <dsp:nvSpPr>
        <dsp:cNvPr id="0" name=""/>
        <dsp:cNvSpPr/>
      </dsp:nvSpPr>
      <dsp:spPr>
        <a:xfrm rot="4628571">
          <a:off x="8745201" y="3420032"/>
          <a:ext cx="533010" cy="675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>
        <a:off x="8807362" y="3477115"/>
        <a:ext cx="373107" cy="405090"/>
      </dsp:txXfrm>
    </dsp:sp>
    <dsp:sp modelId="{B0E6617A-1148-4D33-AF1D-E9D91293B6D6}">
      <dsp:nvSpPr>
        <dsp:cNvPr id="0" name=""/>
        <dsp:cNvSpPr/>
      </dsp:nvSpPr>
      <dsp:spPr>
        <a:xfrm>
          <a:off x="8349304" y="4237469"/>
          <a:ext cx="2000445" cy="2000445"/>
        </a:xfrm>
        <a:prstGeom prst="ellips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Arial" panose="020B0604020202020204" pitchFamily="34" charset="0"/>
              <a:cs typeface="Arial" panose="020B0604020202020204" pitchFamily="34" charset="0"/>
            </a:rPr>
            <a:t>Feature Extraction (Edges, colors, motion, etc.)</a:t>
          </a:r>
          <a:endParaRPr lang="en-US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642262" y="4530427"/>
        <a:ext cx="1414529" cy="1414529"/>
      </dsp:txXfrm>
    </dsp:sp>
    <dsp:sp modelId="{D91439ED-5E74-4109-A12A-BA4242E93B52}">
      <dsp:nvSpPr>
        <dsp:cNvPr id="0" name=""/>
        <dsp:cNvSpPr/>
      </dsp:nvSpPr>
      <dsp:spPr>
        <a:xfrm rot="7714286">
          <a:off x="8155282" y="6063465"/>
          <a:ext cx="533010" cy="675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 rot="10800000">
        <a:off x="8285082" y="6135986"/>
        <a:ext cx="373107" cy="405090"/>
      </dsp:txXfrm>
    </dsp:sp>
    <dsp:sp modelId="{C507E7A5-BC54-4160-96D6-AF0328539010}">
      <dsp:nvSpPr>
        <dsp:cNvPr id="0" name=""/>
        <dsp:cNvSpPr/>
      </dsp:nvSpPr>
      <dsp:spPr>
        <a:xfrm>
          <a:off x="6475015" y="6587753"/>
          <a:ext cx="2000445" cy="2000445"/>
        </a:xfrm>
        <a:prstGeom prst="ellips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Arial" panose="020B0604020202020204" pitchFamily="34" charset="0"/>
              <a:cs typeface="Arial" panose="020B0604020202020204" pitchFamily="34" charset="0"/>
            </a:rPr>
            <a:t>Detection/Segmentation (Objects, road, obstacles)</a:t>
          </a:r>
          <a:endParaRPr lang="en-US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767973" y="6880711"/>
        <a:ext cx="1414529" cy="1414529"/>
      </dsp:txXfrm>
    </dsp:sp>
    <dsp:sp modelId="{373C2191-9BAA-42C0-8992-E07975E9FB40}">
      <dsp:nvSpPr>
        <dsp:cNvPr id="0" name=""/>
        <dsp:cNvSpPr/>
      </dsp:nvSpPr>
      <dsp:spPr>
        <a:xfrm rot="10800000">
          <a:off x="5720754" y="7250401"/>
          <a:ext cx="533010" cy="675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 rot="10800000">
        <a:off x="5880657" y="7385431"/>
        <a:ext cx="373107" cy="405090"/>
      </dsp:txXfrm>
    </dsp:sp>
    <dsp:sp modelId="{BA34D0DD-DEF4-493D-81E6-A01274A86AB0}">
      <dsp:nvSpPr>
        <dsp:cNvPr id="0" name=""/>
        <dsp:cNvSpPr/>
      </dsp:nvSpPr>
      <dsp:spPr>
        <a:xfrm>
          <a:off x="3468889" y="6587753"/>
          <a:ext cx="2000445" cy="2000445"/>
        </a:xfrm>
        <a:prstGeom prst="ellips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Arial" panose="020B0604020202020204" pitchFamily="34" charset="0"/>
              <a:cs typeface="Arial" panose="020B0604020202020204" pitchFamily="34" charset="0"/>
            </a:rPr>
            <a:t>Analysis/Classification (What is it? Where?)</a:t>
          </a:r>
          <a:endParaRPr lang="en-US" sz="2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61847" y="6880711"/>
        <a:ext cx="1414529" cy="1414529"/>
      </dsp:txXfrm>
    </dsp:sp>
    <dsp:sp modelId="{20404BFD-E4F4-4DDB-AAB5-67C04449E876}">
      <dsp:nvSpPr>
        <dsp:cNvPr id="0" name=""/>
        <dsp:cNvSpPr/>
      </dsp:nvSpPr>
      <dsp:spPr>
        <a:xfrm rot="14067223">
          <a:off x="3346797" y="6046381"/>
          <a:ext cx="524055" cy="675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 rot="10800000">
        <a:off x="3471105" y="6245370"/>
        <a:ext cx="366839" cy="405090"/>
      </dsp:txXfrm>
    </dsp:sp>
    <dsp:sp modelId="{D75A79BE-83C7-4FD8-946E-3C60598FB38B}">
      <dsp:nvSpPr>
        <dsp:cNvPr id="0" name=""/>
        <dsp:cNvSpPr/>
      </dsp:nvSpPr>
      <dsp:spPr>
        <a:xfrm>
          <a:off x="1731069" y="4155578"/>
          <a:ext cx="2000445" cy="2000445"/>
        </a:xfrm>
        <a:prstGeom prst="ellips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Arial" panose="020B0604020202020204" pitchFamily="34" charset="0"/>
              <a:cs typeface="Arial" panose="020B0604020202020204" pitchFamily="34" charset="0"/>
            </a:rPr>
            <a:t>Decision/Warning (Action to take)</a:t>
          </a:r>
          <a:endParaRPr lang="en-US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024027" y="4448536"/>
        <a:ext cx="1414529" cy="1414529"/>
      </dsp:txXfrm>
    </dsp:sp>
    <dsp:sp modelId="{6951A932-2759-47FC-A3C5-9A32048C5943}">
      <dsp:nvSpPr>
        <dsp:cNvPr id="0" name=""/>
        <dsp:cNvSpPr/>
      </dsp:nvSpPr>
      <dsp:spPr>
        <a:xfrm rot="16784566">
          <a:off x="2735197" y="3400331"/>
          <a:ext cx="479098" cy="675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>
        <a:off x="2794900" y="3606189"/>
        <a:ext cx="335369" cy="405090"/>
      </dsp:txXfrm>
    </dsp:sp>
    <dsp:sp modelId="{AF8E0125-D890-4BE5-8F82-CB74801281A2}">
      <dsp:nvSpPr>
        <dsp:cNvPr id="0" name=""/>
        <dsp:cNvSpPr/>
      </dsp:nvSpPr>
      <dsp:spPr>
        <a:xfrm>
          <a:off x="2222567" y="1293062"/>
          <a:ext cx="2000445" cy="2000445"/>
        </a:xfrm>
        <a:prstGeom prst="ellips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Arial" panose="020B0604020202020204" pitchFamily="34" charset="0"/>
              <a:cs typeface="Arial" panose="020B0604020202020204" pitchFamily="34" charset="0"/>
            </a:rPr>
            <a:t>Output (Visual/Audio alert, classification)</a:t>
          </a:r>
          <a:endParaRPr lang="en-US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515525" y="1586020"/>
        <a:ext cx="1414529" cy="1414529"/>
      </dsp:txXfrm>
    </dsp:sp>
    <dsp:sp modelId="{E17443EC-3578-4C88-AF76-F2ECC0C512E3}">
      <dsp:nvSpPr>
        <dsp:cNvPr id="0" name=""/>
        <dsp:cNvSpPr/>
      </dsp:nvSpPr>
      <dsp:spPr>
        <a:xfrm rot="20091179">
          <a:off x="4308650" y="1316990"/>
          <a:ext cx="549508" cy="675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>
        <a:off x="4316462" y="1487046"/>
        <a:ext cx="384656" cy="4050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826" y="0"/>
            <a:ext cx="2224257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869352" y="0"/>
            <a:ext cx="8324850" cy="6233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00"/>
              </a:lnSpc>
            </a:pPr>
            <a:r>
              <a:rPr lang="en-US" sz="6000" b="1" spc="-89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/>
                <a:ea typeface="Telegraf Bold"/>
                <a:cs typeface="Telegraf Bold"/>
                <a:sym typeface="Telegraf Bold"/>
              </a:rPr>
              <a:t> </a:t>
            </a:r>
            <a:r>
              <a:rPr lang="en-US" sz="6000" b="1" spc="-89" dirty="0">
                <a:solidFill>
                  <a:srgbClr val="FFFFFF"/>
                </a:solidFill>
                <a:effectLst>
                  <a:outerShdw blurRad="50800" dist="50800" dir="1800000" algn="ctr" rotWithShape="0">
                    <a:srgbClr val="000000">
                      <a:alpha val="43137"/>
                    </a:srgbClr>
                  </a:outerShdw>
                </a:effectLst>
                <a:latin typeface="Arial Black"/>
                <a:ea typeface="Telegraf Bold"/>
                <a:cs typeface="Telegraf Bold"/>
                <a:sym typeface="Telegraf Bold"/>
              </a:rPr>
              <a:t>“An Overview of Research Papers Analysis Regarding Road Scene Analysis”</a:t>
            </a:r>
            <a:endParaRPr lang="en-US" sz="6000" dirty="0">
              <a:effectLst>
                <a:outerShdw blurRad="50800" dist="50800" dir="1800000" algn="ctr" rotWithShape="0">
                  <a:srgbClr val="000000">
                    <a:alpha val="43137"/>
                  </a:srgbClr>
                </a:outerShdw>
              </a:effectLst>
              <a:latin typeface="Arial Black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C3233B07-D651-4A95-8DE1-608F09EFF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85" y="632229"/>
            <a:ext cx="3736764" cy="31581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36A858A-FB01-8042-5622-006D173E1CC2}"/>
              </a:ext>
            </a:extLst>
          </p:cNvPr>
          <p:cNvSpPr txBox="1"/>
          <p:nvPr/>
        </p:nvSpPr>
        <p:spPr>
          <a:xfrm>
            <a:off x="9343562" y="8583864"/>
            <a:ext cx="7445375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Arial Black"/>
                <a:ea typeface="Calibri"/>
                <a:cs typeface="Calibri"/>
              </a:rPr>
              <a:t>Presented By </a:t>
            </a:r>
            <a:r>
              <a:rPr lang="en-US" sz="3000" dirty="0" smtClean="0">
                <a:solidFill>
                  <a:schemeClr val="bg1"/>
                </a:solidFill>
                <a:latin typeface="Arial Black"/>
                <a:ea typeface="Calibri"/>
                <a:cs typeface="Calibri"/>
              </a:rPr>
              <a:t>: </a:t>
            </a:r>
            <a:r>
              <a:rPr lang="en-US" sz="3000" dirty="0" err="1" smtClean="0">
                <a:solidFill>
                  <a:schemeClr val="bg1"/>
                </a:solidFill>
                <a:latin typeface="Arial Black"/>
                <a:ea typeface="Calibri"/>
                <a:cs typeface="Calibri"/>
              </a:rPr>
              <a:t>Amita</a:t>
            </a:r>
            <a:r>
              <a:rPr lang="en-US" sz="3000" dirty="0" smtClean="0">
                <a:solidFill>
                  <a:schemeClr val="bg1"/>
                </a:solidFill>
                <a:latin typeface="Arial Black"/>
                <a:ea typeface="Calibri"/>
                <a:cs typeface="Calibri"/>
              </a:rPr>
              <a:t> Das                       </a:t>
            </a:r>
            <a:r>
              <a:rPr lang="en-US" sz="3000" dirty="0" err="1" smtClean="0">
                <a:solidFill>
                  <a:schemeClr val="bg1"/>
                </a:solidFill>
                <a:latin typeface="Arial Black"/>
                <a:ea typeface="Calibri"/>
                <a:cs typeface="Calibri"/>
              </a:rPr>
              <a:t>Falgunee</a:t>
            </a:r>
            <a:endParaRPr lang="en-US" sz="3000" dirty="0">
              <a:solidFill>
                <a:schemeClr val="bg1"/>
              </a:solidFill>
              <a:latin typeface="Arial Black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7D9B78C4-A645-4D31-CD1E-04B69EF01842}"/>
              </a:ext>
            </a:extLst>
          </p:cNvPr>
          <p:cNvSpPr txBox="1"/>
          <p:nvPr/>
        </p:nvSpPr>
        <p:spPr>
          <a:xfrm>
            <a:off x="9343561" y="7550623"/>
            <a:ext cx="7445375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Arial Black"/>
                <a:ea typeface="Calibri"/>
                <a:cs typeface="Calibri"/>
              </a:rPr>
              <a:t>Supervisor : Md. Tamim Hossain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326C5D2-329F-59EE-53CC-B9CE4204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="" xmlns:a16="http://schemas.microsoft.com/office/drawing/2014/main" id="{FD38BA6F-B3A8-DB77-6AD1-BED855837DA4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="" xmlns:a16="http://schemas.microsoft.com/office/drawing/2014/main" id="{83D76E98-1422-39C7-41CE-5E7F33C67309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="" xmlns:a16="http://schemas.microsoft.com/office/drawing/2014/main" id="{239F330C-C601-4360-582F-A46C8B534C0C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="" xmlns:a16="http://schemas.microsoft.com/office/drawing/2014/main" id="{BDF0BB8A-D2BD-830B-7C85-CF892D90F2F1}"/>
              </a:ext>
            </a:extLst>
          </p:cNvPr>
          <p:cNvGrpSpPr/>
          <p:nvPr/>
        </p:nvGrpSpPr>
        <p:grpSpPr>
          <a:xfrm>
            <a:off x="718039" y="-11723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="" xmlns:a16="http://schemas.microsoft.com/office/drawing/2014/main" id="{12AAD9C7-8090-183B-4C62-FDB86B6524C4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="" xmlns:a16="http://schemas.microsoft.com/office/drawing/2014/main" id="{80F482A1-7074-A0DB-AEEE-F8BA686171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9" name="TextBox 11">
            <a:extLst>
              <a:ext uri="{FF2B5EF4-FFF2-40B4-BE49-F238E27FC236}">
                <a16:creationId xmlns="" xmlns:a16="http://schemas.microsoft.com/office/drawing/2014/main" id="{3EC679C3-3583-BF66-9EBC-EF5C058F8693}"/>
              </a:ext>
            </a:extLst>
          </p:cNvPr>
          <p:cNvSpPr txBox="1"/>
          <p:nvPr/>
        </p:nvSpPr>
        <p:spPr>
          <a:xfrm>
            <a:off x="1863728" y="177359"/>
            <a:ext cx="6886575" cy="1931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000" b="1" dirty="0">
                <a:solidFill>
                  <a:srgbClr val="0070C0"/>
                </a:solidFill>
              </a:rPr>
              <a:t>Studied Papers &amp; Identified Categories</a:t>
            </a:r>
            <a:endParaRPr lang="en-US" sz="6000" b="1" dirty="0">
              <a:solidFill>
                <a:srgbClr val="0070C0"/>
              </a:solidFill>
              <a:latin typeface="Arial Black"/>
            </a:endParaRPr>
          </a:p>
        </p:txBody>
      </p:sp>
      <p:sp>
        <p:nvSpPr>
          <p:cNvPr id="31" name="TextBox 14">
            <a:extLst>
              <a:ext uri="{FF2B5EF4-FFF2-40B4-BE49-F238E27FC236}">
                <a16:creationId xmlns="" xmlns:a16="http://schemas.microsoft.com/office/drawing/2014/main" id="{66E4E96E-E685-2927-3285-7333F374EABB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8" name="AutoShape 12">
            <a:extLst>
              <a:ext uri="{FF2B5EF4-FFF2-40B4-BE49-F238E27FC236}">
                <a16:creationId xmlns="" xmlns:a16="http://schemas.microsoft.com/office/drawing/2014/main" id="{F554A56A-59A8-929C-0C13-AEE01A854C3F}"/>
              </a:ext>
            </a:extLst>
          </p:cNvPr>
          <p:cNvSpPr/>
          <p:nvPr/>
        </p:nvSpPr>
        <p:spPr>
          <a:xfrm flipV="1">
            <a:off x="1055743" y="9704177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pic>
        <p:nvPicPr>
          <p:cNvPr id="12" name="Picture 11" descr="Premier University | Center of Exellence for Quality Learning">
            <a:extLst>
              <a:ext uri="{FF2B5EF4-FFF2-40B4-BE49-F238E27FC236}">
                <a16:creationId xmlns="" xmlns:a16="http://schemas.microsoft.com/office/drawing/2014/main" id="{1EF7CF9B-3900-C46F-A0B6-83B7F3ED17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graphicFrame>
        <p:nvGraphicFramePr>
          <p:cNvPr id="36" name="Content Placeholder 11">
            <a:extLst>
              <a:ext uri="{FF2B5EF4-FFF2-40B4-BE49-F238E27FC236}">
                <a16:creationId xmlns="" xmlns:a16="http://schemas.microsoft.com/office/drawing/2014/main" id="{A5A69CD9-B1BD-46D2-805B-F34D58C8D0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4587934"/>
              </p:ext>
            </p:extLst>
          </p:nvPr>
        </p:nvGraphicFramePr>
        <p:xfrm>
          <a:off x="2606040" y="2735858"/>
          <a:ext cx="14615159" cy="5389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73533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326C5D2-329F-59EE-53CC-B9CE4204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="" xmlns:a16="http://schemas.microsoft.com/office/drawing/2014/main" id="{FD38BA6F-B3A8-DB77-6AD1-BED855837DA4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="" xmlns:a16="http://schemas.microsoft.com/office/drawing/2014/main" id="{83D76E98-1422-39C7-41CE-5E7F33C67309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="" xmlns:a16="http://schemas.microsoft.com/office/drawing/2014/main" id="{239F330C-C601-4360-582F-A46C8B534C0C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="" xmlns:a16="http://schemas.microsoft.com/office/drawing/2014/main" id="{BDF0BB8A-D2BD-830B-7C85-CF892D90F2F1}"/>
              </a:ext>
            </a:extLst>
          </p:cNvPr>
          <p:cNvGrpSpPr/>
          <p:nvPr/>
        </p:nvGrpSpPr>
        <p:grpSpPr>
          <a:xfrm>
            <a:off x="718039" y="-11723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="" xmlns:a16="http://schemas.microsoft.com/office/drawing/2014/main" id="{12AAD9C7-8090-183B-4C62-FDB86B6524C4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="" xmlns:a16="http://schemas.microsoft.com/office/drawing/2014/main" id="{80F482A1-7074-A0DB-AEEE-F8BA686171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9" name="TextBox 11">
            <a:extLst>
              <a:ext uri="{FF2B5EF4-FFF2-40B4-BE49-F238E27FC236}">
                <a16:creationId xmlns="" xmlns:a16="http://schemas.microsoft.com/office/drawing/2014/main" id="{3EC679C3-3583-BF66-9EBC-EF5C058F8693}"/>
              </a:ext>
            </a:extLst>
          </p:cNvPr>
          <p:cNvSpPr txBox="1"/>
          <p:nvPr/>
        </p:nvSpPr>
        <p:spPr>
          <a:xfrm>
            <a:off x="1863728" y="177359"/>
            <a:ext cx="6886575" cy="943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000" b="1" dirty="0">
                <a:solidFill>
                  <a:srgbClr val="0070C0"/>
                </a:solidFill>
              </a:rPr>
              <a:t> Identified Patterns</a:t>
            </a:r>
            <a:endParaRPr lang="en-US" sz="6000" b="1" dirty="0">
              <a:solidFill>
                <a:srgbClr val="0070C0"/>
              </a:solidFill>
              <a:latin typeface="Arial Black"/>
            </a:endParaRPr>
          </a:p>
        </p:txBody>
      </p:sp>
      <p:sp>
        <p:nvSpPr>
          <p:cNvPr id="31" name="TextBox 14">
            <a:extLst>
              <a:ext uri="{FF2B5EF4-FFF2-40B4-BE49-F238E27FC236}">
                <a16:creationId xmlns="" xmlns:a16="http://schemas.microsoft.com/office/drawing/2014/main" id="{66E4E96E-E685-2927-3285-7333F374EABB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8" name="AutoShape 12">
            <a:extLst>
              <a:ext uri="{FF2B5EF4-FFF2-40B4-BE49-F238E27FC236}">
                <a16:creationId xmlns="" xmlns:a16="http://schemas.microsoft.com/office/drawing/2014/main" id="{F554A56A-59A8-929C-0C13-AEE01A854C3F}"/>
              </a:ext>
            </a:extLst>
          </p:cNvPr>
          <p:cNvSpPr/>
          <p:nvPr/>
        </p:nvSpPr>
        <p:spPr>
          <a:xfrm flipV="1">
            <a:off x="1055743" y="9704177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pic>
        <p:nvPicPr>
          <p:cNvPr id="12" name="Picture 11" descr="Premier University | Center of Exellence for Quality Learning">
            <a:extLst>
              <a:ext uri="{FF2B5EF4-FFF2-40B4-BE49-F238E27FC236}">
                <a16:creationId xmlns="" xmlns:a16="http://schemas.microsoft.com/office/drawing/2014/main" id="{1EF7CF9B-3900-C46F-A0B6-83B7F3ED17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graphicFrame>
        <p:nvGraphicFramePr>
          <p:cNvPr id="13" name="Diagram 12">
            <a:extLst>
              <a:ext uri="{FF2B5EF4-FFF2-40B4-BE49-F238E27FC236}">
                <a16:creationId xmlns="" xmlns:a16="http://schemas.microsoft.com/office/drawing/2014/main" id="{848253B2-BD4F-402A-A2A6-A1185287EE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7809818"/>
              </p:ext>
            </p:extLst>
          </p:nvPr>
        </p:nvGraphicFramePr>
        <p:xfrm>
          <a:off x="5764530" y="553516"/>
          <a:ext cx="11944350" cy="8590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24713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=""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=""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=""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=""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=""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=""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=""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=""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grpSp>
        <p:nvGrpSpPr>
          <p:cNvPr id="12" name="Group 2">
            <a:extLst>
              <a:ext uri="{FF2B5EF4-FFF2-40B4-BE49-F238E27FC236}">
                <a16:creationId xmlns="" xmlns:a16="http://schemas.microsoft.com/office/drawing/2014/main" id="{C34B11E4-14ED-8F65-9400-0A61A83AD631}"/>
              </a:ext>
            </a:extLst>
          </p:cNvPr>
          <p:cNvGrpSpPr/>
          <p:nvPr/>
        </p:nvGrpSpPr>
        <p:grpSpPr>
          <a:xfrm>
            <a:off x="1855182" y="231965"/>
            <a:ext cx="14637723" cy="2769989"/>
            <a:chOff x="452318" y="-693817"/>
            <a:chExt cx="19516967" cy="3693319"/>
          </a:xfrm>
        </p:grpSpPr>
        <p:sp>
          <p:nvSpPr>
            <p:cNvPr id="6" name="TextBox 3">
              <a:extLst>
                <a:ext uri="{FF2B5EF4-FFF2-40B4-BE49-F238E27FC236}">
                  <a16:creationId xmlns="" xmlns:a16="http://schemas.microsoft.com/office/drawing/2014/main" id="{D8F6D9E4-7C09-4A13-3A49-FD0E420A152F}"/>
                </a:ext>
              </a:extLst>
            </p:cNvPr>
            <p:cNvSpPr txBox="1"/>
            <p:nvPr/>
          </p:nvSpPr>
          <p:spPr>
            <a:xfrm>
              <a:off x="452318" y="-693817"/>
              <a:ext cx="9182099" cy="36933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6000" b="1" dirty="0">
                  <a:solidFill>
                    <a:srgbClr val="0070C0"/>
                  </a:solidFill>
                </a:rPr>
                <a:t>Category 1: </a:t>
              </a:r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OBJECT DETECTION &amp; TRACKING (Helmet, Vehicles, Pedestrians, Obstacles)</a:t>
              </a:r>
              <a:endParaRPr lang="en-US" sz="4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4">
              <a:extLst>
                <a:ext uri="{FF2B5EF4-FFF2-40B4-BE49-F238E27FC236}">
                  <a16:creationId xmlns="" xmlns:a16="http://schemas.microsoft.com/office/drawing/2014/main" id="{1131FF81-A442-CA29-7A8E-2A370A0059E5}"/>
                </a:ext>
              </a:extLst>
            </p:cNvPr>
            <p:cNvSpPr txBox="1"/>
            <p:nvPr/>
          </p:nvSpPr>
          <p:spPr>
            <a:xfrm>
              <a:off x="10787185" y="927570"/>
              <a:ext cx="9182100" cy="56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u="sng" spc="-30" dirty="0">
                  <a:solidFill>
                    <a:srgbClr val="004D4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Key Insights and Findings</a:t>
              </a:r>
              <a:r>
                <a:rPr lang="en-US" sz="3000" b="1" spc="-30" dirty="0">
                  <a:solidFill>
                    <a:srgbClr val="004D4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:</a:t>
              </a:r>
            </a:p>
          </p:txBody>
        </p:sp>
      </p:grpSp>
      <p:sp>
        <p:nvSpPr>
          <p:cNvPr id="24" name="TextBox 8">
            <a:extLst>
              <a:ext uri="{FF2B5EF4-FFF2-40B4-BE49-F238E27FC236}">
                <a16:creationId xmlns=""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=""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="" xmlns:a16="http://schemas.microsoft.com/office/drawing/2014/main" id="{12F1E28F-C86D-4813-AA42-A05B0ACC0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9439" y="2845599"/>
            <a:ext cx="774510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Vehicle detection &amp; tracking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Pedestrian / bicycle / obstacle detection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Accident / risk detection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Motion estimation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Real-time object localization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Instance segmentation (precise object boundary extraction)</a:t>
            </a:r>
          </a:p>
        </p:txBody>
      </p:sp>
    </p:spTree>
    <p:extLst>
      <p:ext uri="{BB962C8B-B14F-4D97-AF65-F5344CB8AC3E}">
        <p14:creationId xmlns:p14="http://schemas.microsoft.com/office/powerpoint/2010/main" val="1750706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12B315EF-481C-342F-D45F-FB76657A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="" xmlns:a16="http://schemas.microsoft.com/office/drawing/2014/main" id="{6C2C946D-A8AB-6105-1445-BF3BF4C07037}"/>
              </a:ext>
            </a:extLst>
          </p:cNvPr>
          <p:cNvGrpSpPr/>
          <p:nvPr/>
        </p:nvGrpSpPr>
        <p:grpSpPr>
          <a:xfrm>
            <a:off x="0" y="0"/>
            <a:ext cx="10058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="" xmlns:a16="http://schemas.microsoft.com/office/drawing/2014/main" id="{C45D3A24-B1E2-DA35-B078-D4069A488320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="" xmlns:a16="http://schemas.microsoft.com/office/drawing/2014/main" id="{4622C7CB-8721-B785-F725-D2A017B97A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2">
            <a:extLst>
              <a:ext uri="{FF2B5EF4-FFF2-40B4-BE49-F238E27FC236}">
                <a16:creationId xmlns="" xmlns:a16="http://schemas.microsoft.com/office/drawing/2014/main" id="{1810EF7C-EB01-8F43-BD26-F3847A62F680}"/>
              </a:ext>
            </a:extLst>
          </p:cNvPr>
          <p:cNvGrpSpPr/>
          <p:nvPr/>
        </p:nvGrpSpPr>
        <p:grpSpPr>
          <a:xfrm>
            <a:off x="-859302" y="-144661"/>
            <a:ext cx="18141463" cy="10576322"/>
            <a:chOff x="0" y="-76200"/>
            <a:chExt cx="4777997" cy="2785533"/>
          </a:xfrm>
        </p:grpSpPr>
        <p:sp>
          <p:nvSpPr>
            <p:cNvPr id="10" name="Freeform 3">
              <a:extLst>
                <a:ext uri="{FF2B5EF4-FFF2-40B4-BE49-F238E27FC236}">
                  <a16:creationId xmlns="" xmlns:a16="http://schemas.microsoft.com/office/drawing/2014/main" id="{6928B849-0500-5167-E62E-64C6147BDA83}"/>
                </a:ext>
              </a:extLst>
            </p:cNvPr>
            <p:cNvSpPr/>
            <p:nvPr/>
          </p:nvSpPr>
          <p:spPr>
            <a:xfrm>
              <a:off x="3925059" y="-38594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11" name="TextBox 4">
              <a:extLst>
                <a:ext uri="{FF2B5EF4-FFF2-40B4-BE49-F238E27FC236}">
                  <a16:creationId xmlns="" xmlns:a16="http://schemas.microsoft.com/office/drawing/2014/main" id="{FD10FC41-6A2D-D09C-737B-EA63ED190260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TextBox 4">
            <a:extLst>
              <a:ext uri="{FF2B5EF4-FFF2-40B4-BE49-F238E27FC236}">
                <a16:creationId xmlns="" xmlns:a16="http://schemas.microsoft.com/office/drawing/2014/main" id="{5E80C229-E174-5AB3-FAB3-6351B5A7160E}"/>
              </a:ext>
            </a:extLst>
          </p:cNvPr>
          <p:cNvSpPr txBox="1"/>
          <p:nvPr/>
        </p:nvSpPr>
        <p:spPr>
          <a:xfrm>
            <a:off x="3692772" y="2377677"/>
            <a:ext cx="13041921" cy="58240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80BAD6D6-20A2-14F1-B878-C0C0EF002153}"/>
              </a:ext>
            </a:extLst>
          </p:cNvPr>
          <p:cNvSpPr txBox="1"/>
          <p:nvPr/>
        </p:nvSpPr>
        <p:spPr>
          <a:xfrm>
            <a:off x="1229897" y="328974"/>
            <a:ext cx="8223249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Example &amp; Findings (Category 1)</a:t>
            </a:r>
            <a:r>
              <a:rPr lang="en-US" sz="6000" b="1" dirty="0">
                <a:solidFill>
                  <a:schemeClr val="bg1"/>
                </a:solidFill>
                <a:ea typeface="Calibri"/>
                <a:cs typeface="Calibri"/>
              </a:rPr>
              <a:t>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EB15727-3A4B-4314-9523-6ABA75047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8278" y="953701"/>
            <a:ext cx="8396772" cy="696157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22020E2B-EB57-4FC5-9640-EF7ED0D3460B}"/>
              </a:ext>
            </a:extLst>
          </p:cNvPr>
          <p:cNvSpPr txBox="1"/>
          <p:nvPr/>
        </p:nvSpPr>
        <p:spPr>
          <a:xfrm>
            <a:off x="1196265" y="2214323"/>
            <a:ext cx="602258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YOLO, classical motion analysis, and contour-based methods detect vehicles, people, obstacles.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Instance segmentation (CIICF + CDDM) improves object boundaries in crowded scenes.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Systems measure traffic volume, detect road jams, track vehicles, and predict dangerous motion.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Multimodal vision-language models identify objects and describe events (e.g., “car changing lane”).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6700" y="8228316"/>
            <a:ext cx="9844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Obstacle detection on the highway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501" y="7564844"/>
            <a:ext cx="68295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This example of output taken from paper named -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OBSTACLE DETECTION IN ROAD SCENE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BASED ON ROAD DETECTION AND MOTION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ANALYSIS</a:t>
            </a:r>
          </a:p>
        </p:txBody>
      </p:sp>
    </p:spTree>
    <p:extLst>
      <p:ext uri="{BB962C8B-B14F-4D97-AF65-F5344CB8AC3E}">
        <p14:creationId xmlns:p14="http://schemas.microsoft.com/office/powerpoint/2010/main" val="2681513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=""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=""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=""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=""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=""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=""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=""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=""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="" xmlns:a16="http://schemas.microsoft.com/office/drawing/2014/main" id="{D8F6D9E4-7C09-4A13-3A49-FD0E420A152F}"/>
              </a:ext>
            </a:extLst>
          </p:cNvPr>
          <p:cNvSpPr txBox="1"/>
          <p:nvPr/>
        </p:nvSpPr>
        <p:spPr>
          <a:xfrm>
            <a:off x="1855182" y="231965"/>
            <a:ext cx="6886573" cy="1931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000" b="1" dirty="0">
                <a:solidFill>
                  <a:srgbClr val="0070C0"/>
                </a:solidFill>
              </a:rPr>
              <a:t>Conclusion &amp; Implementation:</a:t>
            </a:r>
            <a:endParaRPr lang="en-US" sz="6000" b="1" spc="-69" dirty="0">
              <a:solidFill>
                <a:srgbClr val="0070C0"/>
              </a:solidFill>
              <a:latin typeface="Arial Black"/>
              <a:ea typeface="Telegraf Bold"/>
              <a:cs typeface="Telegraf Bold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=""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=""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="" xmlns:a16="http://schemas.microsoft.com/office/drawing/2014/main" id="{A9064054-045F-495A-9204-8F729BCD2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001" y="5192654"/>
            <a:ext cx="1606631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Add road-type recognition (normal / construction / roundabout / damaged).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Use lane detection + intersection detection for </a:t>
            </a:r>
            <a:r>
              <a:rPr lang="en-US" sz="3200" b="1" dirty="0"/>
              <a:t>traffic rule analysis</a:t>
            </a:r>
            <a:r>
              <a:rPr lang="en-US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Use </a:t>
            </a:r>
            <a:r>
              <a:rPr lang="en-US" sz="3200" dirty="0" err="1"/>
              <a:t>polarimetric</a:t>
            </a:r>
            <a:r>
              <a:rPr lang="en-US" sz="3200" dirty="0"/>
              <a:t> augmentation to improve accuracy in </a:t>
            </a:r>
            <a:r>
              <a:rPr lang="en-US" sz="3200" b="1" dirty="0"/>
              <a:t>bad weather video footage</a:t>
            </a:r>
            <a:r>
              <a:rPr lang="en-US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Integrate road-quality estimation to support </a:t>
            </a:r>
            <a:r>
              <a:rPr lang="en-US" sz="3200" b="1" dirty="0"/>
              <a:t>safety and decision-making</a:t>
            </a:r>
            <a:r>
              <a:rPr lang="en-US" sz="3200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CC060F8D-6659-4BEC-B31E-93AE480F9AF2}"/>
              </a:ext>
            </a:extLst>
          </p:cNvPr>
          <p:cNvSpPr txBox="1"/>
          <p:nvPr/>
        </p:nvSpPr>
        <p:spPr>
          <a:xfrm>
            <a:off x="1855182" y="2324868"/>
            <a:ext cx="93345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These methods help classify road conditions, lane structure, and scene types, and improve accuracy under poor weather. They strengthen overall situational awareness.</a:t>
            </a:r>
            <a:endParaRPr lang="en-US" sz="3000" b="1" dirty="0">
              <a:solidFill>
                <a:srgbClr val="246E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9246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=""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=""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=""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=""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=""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=""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=""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=""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grpSp>
        <p:nvGrpSpPr>
          <p:cNvPr id="12" name="Group 2">
            <a:extLst>
              <a:ext uri="{FF2B5EF4-FFF2-40B4-BE49-F238E27FC236}">
                <a16:creationId xmlns="" xmlns:a16="http://schemas.microsoft.com/office/drawing/2014/main" id="{C34B11E4-14ED-8F65-9400-0A61A83AD631}"/>
              </a:ext>
            </a:extLst>
          </p:cNvPr>
          <p:cNvGrpSpPr/>
          <p:nvPr/>
        </p:nvGrpSpPr>
        <p:grpSpPr>
          <a:xfrm>
            <a:off x="1855182" y="231965"/>
            <a:ext cx="14637723" cy="3385542"/>
            <a:chOff x="452318" y="-693817"/>
            <a:chExt cx="19516967" cy="4514056"/>
          </a:xfrm>
        </p:grpSpPr>
        <p:sp>
          <p:nvSpPr>
            <p:cNvPr id="6" name="TextBox 3">
              <a:extLst>
                <a:ext uri="{FF2B5EF4-FFF2-40B4-BE49-F238E27FC236}">
                  <a16:creationId xmlns="" xmlns:a16="http://schemas.microsoft.com/office/drawing/2014/main" id="{D8F6D9E4-7C09-4A13-3A49-FD0E420A152F}"/>
                </a:ext>
              </a:extLst>
            </p:cNvPr>
            <p:cNvSpPr txBox="1"/>
            <p:nvPr/>
          </p:nvSpPr>
          <p:spPr>
            <a:xfrm>
              <a:off x="452318" y="-693817"/>
              <a:ext cx="9182099" cy="45140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6000" b="1" dirty="0" smtClean="0">
                  <a:solidFill>
                    <a:srgbClr val="0070C0"/>
                  </a:solidFill>
                </a:rPr>
                <a:t>Category 2</a:t>
              </a:r>
              <a:r>
                <a:rPr lang="en-US" sz="4000" b="1" dirty="0" smtClean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40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ROAD SCENE UNDERSTANDING (Road Surface, Lane Counting, Road Type, Weather)</a:t>
              </a:r>
              <a:endParaRPr lang="en-US" sz="4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4">
              <a:extLst>
                <a:ext uri="{FF2B5EF4-FFF2-40B4-BE49-F238E27FC236}">
                  <a16:creationId xmlns="" xmlns:a16="http://schemas.microsoft.com/office/drawing/2014/main" id="{1131FF81-A442-CA29-7A8E-2A370A0059E5}"/>
                </a:ext>
              </a:extLst>
            </p:cNvPr>
            <p:cNvSpPr txBox="1"/>
            <p:nvPr/>
          </p:nvSpPr>
          <p:spPr>
            <a:xfrm>
              <a:off x="10787185" y="927570"/>
              <a:ext cx="9182100" cy="56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u="sng" spc="-30" dirty="0">
                  <a:solidFill>
                    <a:srgbClr val="004D4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Key Insights and Findings</a:t>
              </a:r>
              <a:r>
                <a:rPr lang="en-US" sz="3000" b="1" spc="-30" dirty="0">
                  <a:solidFill>
                    <a:srgbClr val="004D4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:</a:t>
              </a:r>
            </a:p>
          </p:txBody>
        </p:sp>
      </p:grpSp>
      <p:sp>
        <p:nvSpPr>
          <p:cNvPr id="24" name="TextBox 8">
            <a:extLst>
              <a:ext uri="{FF2B5EF4-FFF2-40B4-BE49-F238E27FC236}">
                <a16:creationId xmlns=""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=""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="" xmlns:a16="http://schemas.microsoft.com/office/drawing/2014/main" id="{12F1E28F-C86D-4813-AA42-A05B0ACC0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0" y="2578906"/>
            <a:ext cx="7267433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Road surface detection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Scene recognition (normal road, construction, undeveloped, roundabout)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Poor-weather enhancement using </a:t>
            </a:r>
            <a:r>
              <a:rPr lang="en-US" sz="3200" dirty="0" err="1" smtClean="0"/>
              <a:t>polarimetric</a:t>
            </a:r>
            <a:r>
              <a:rPr lang="en-US" sz="3200" dirty="0" smtClean="0"/>
              <a:t> data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Lane counting &amp; intersection detection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Road quality assessment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23234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2B315EF-481C-342F-D45F-FB76657A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="" xmlns:a16="http://schemas.microsoft.com/office/drawing/2014/main" id="{6C2C946D-A8AB-6105-1445-BF3BF4C07037}"/>
              </a:ext>
            </a:extLst>
          </p:cNvPr>
          <p:cNvGrpSpPr/>
          <p:nvPr/>
        </p:nvGrpSpPr>
        <p:grpSpPr>
          <a:xfrm>
            <a:off x="0" y="0"/>
            <a:ext cx="10058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="" xmlns:a16="http://schemas.microsoft.com/office/drawing/2014/main" id="{C45D3A24-B1E2-DA35-B078-D4069A488320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="" xmlns:a16="http://schemas.microsoft.com/office/drawing/2014/main" id="{4622C7CB-8721-B785-F725-D2A017B97A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2">
            <a:extLst>
              <a:ext uri="{FF2B5EF4-FFF2-40B4-BE49-F238E27FC236}">
                <a16:creationId xmlns="" xmlns:a16="http://schemas.microsoft.com/office/drawing/2014/main" id="{1810EF7C-EB01-8F43-BD26-F3847A62F680}"/>
              </a:ext>
            </a:extLst>
          </p:cNvPr>
          <p:cNvGrpSpPr/>
          <p:nvPr/>
        </p:nvGrpSpPr>
        <p:grpSpPr>
          <a:xfrm>
            <a:off x="-859302" y="-144661"/>
            <a:ext cx="18141463" cy="10576322"/>
            <a:chOff x="0" y="-76200"/>
            <a:chExt cx="4777997" cy="2785533"/>
          </a:xfrm>
        </p:grpSpPr>
        <p:sp>
          <p:nvSpPr>
            <p:cNvPr id="10" name="Freeform 3">
              <a:extLst>
                <a:ext uri="{FF2B5EF4-FFF2-40B4-BE49-F238E27FC236}">
                  <a16:creationId xmlns="" xmlns:a16="http://schemas.microsoft.com/office/drawing/2014/main" id="{6928B849-0500-5167-E62E-64C6147BDA83}"/>
                </a:ext>
              </a:extLst>
            </p:cNvPr>
            <p:cNvSpPr/>
            <p:nvPr/>
          </p:nvSpPr>
          <p:spPr>
            <a:xfrm>
              <a:off x="3925059" y="-38594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11" name="TextBox 4">
              <a:extLst>
                <a:ext uri="{FF2B5EF4-FFF2-40B4-BE49-F238E27FC236}">
                  <a16:creationId xmlns="" xmlns:a16="http://schemas.microsoft.com/office/drawing/2014/main" id="{FD10FC41-6A2D-D09C-737B-EA63ED190260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TextBox 4">
            <a:extLst>
              <a:ext uri="{FF2B5EF4-FFF2-40B4-BE49-F238E27FC236}">
                <a16:creationId xmlns="" xmlns:a16="http://schemas.microsoft.com/office/drawing/2014/main" id="{5E80C229-E174-5AB3-FAB3-6351B5A7160E}"/>
              </a:ext>
            </a:extLst>
          </p:cNvPr>
          <p:cNvSpPr txBox="1"/>
          <p:nvPr/>
        </p:nvSpPr>
        <p:spPr>
          <a:xfrm>
            <a:off x="3692772" y="2377677"/>
            <a:ext cx="13041921" cy="58240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80BAD6D6-20A2-14F1-B878-C0C0EF002153}"/>
              </a:ext>
            </a:extLst>
          </p:cNvPr>
          <p:cNvSpPr txBox="1"/>
          <p:nvPr/>
        </p:nvSpPr>
        <p:spPr>
          <a:xfrm>
            <a:off x="1196266" y="0"/>
            <a:ext cx="7820318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dirty="0" smtClean="0">
                <a:solidFill>
                  <a:srgbClr val="2AA7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</a:t>
            </a:r>
            <a:r>
              <a:rPr lang="en-US" sz="6000" b="1" dirty="0">
                <a:solidFill>
                  <a:srgbClr val="2AA7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Findings (Category </a:t>
            </a:r>
            <a:r>
              <a:rPr lang="en-US" sz="6000" b="1" dirty="0" smtClean="0">
                <a:solidFill>
                  <a:srgbClr val="2AA7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</a:t>
            </a:r>
            <a:r>
              <a:rPr lang="en-US" sz="6000" b="1" dirty="0" smtClean="0">
                <a:solidFill>
                  <a:srgbClr val="2AA7E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:</a:t>
            </a:r>
            <a:endParaRPr lang="en-US" sz="6000" b="1" dirty="0">
              <a:solidFill>
                <a:srgbClr val="2AA7E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EB15727-3A4B-4314-9523-6ABA750471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" t="25400" r="1679" b="22145"/>
          <a:stretch/>
        </p:blipFill>
        <p:spPr>
          <a:xfrm>
            <a:off x="8637658" y="1471613"/>
            <a:ext cx="8464481" cy="5586412"/>
          </a:xfrm>
          <a:prstGeom prst="rect">
            <a:avLst/>
          </a:prstGeom>
        </p:spPr>
      </p:pic>
      <p:sp>
        <p:nvSpPr>
          <p:cNvPr id="28" name="Arrow" descr="Dashed Arrow">
            <a:extLst>
              <a:ext uri="{FF2B5EF4-FFF2-40B4-BE49-F238E27FC236}">
                <a16:creationId xmlns="" xmlns:a16="http://schemas.microsoft.com/office/drawing/2014/main" id="{E4E363DF-78BF-7047-827C-B91CD97363E6}"/>
              </a:ext>
            </a:extLst>
          </p:cNvPr>
          <p:cNvSpPr/>
          <p:nvPr/>
        </p:nvSpPr>
        <p:spPr>
          <a:xfrm rot="5400000" flipV="1">
            <a:off x="5430646" y="6453426"/>
            <a:ext cx="3060251" cy="3238501"/>
          </a:xfrm>
          <a:prstGeom prst="arc">
            <a:avLst>
              <a:gd name="adj1" fmla="val 12549592"/>
              <a:gd name="adj2" fmla="val 4002257"/>
            </a:avLst>
          </a:prstGeom>
          <a:ln w="20320">
            <a:solidFill>
              <a:schemeClr val="bg1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Arial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22020E2B-EB57-4FC5-9640-EF7ED0D3460B}"/>
              </a:ext>
            </a:extLst>
          </p:cNvPr>
          <p:cNvSpPr txBox="1"/>
          <p:nvPr/>
        </p:nvSpPr>
        <p:spPr>
          <a:xfrm>
            <a:off x="1392073" y="2565778"/>
            <a:ext cx="556828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Models classify road scenes and identify markings, intersections, lane numbers.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Polarimetric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augmentation increases detection accuracy in rain/fog/low light.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Vision-language models identify road conditions and scene types across 14,000 multimodal frames.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60358" y="7202502"/>
            <a:ext cx="1014178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Full setup of our approach. For each experiment, we 1): train the generator MYX; 2): pre-train the RetinaNet-50 detection network on the MS-COCO dataset; 3): generate a full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polarimetric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dataset using the trained generator MYX; 4): perform a first training on the generated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polarimetric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KITTI dataset; 5): fine-tune on the real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polarimetric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dataset; and 6): evaluate the detection model on the test set of the real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polarimetric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dataset. Note that while the procedure is illustrated with the KITTI dataset, it straightforwardly extends to the BDD100K dataset.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083" y="7610146"/>
            <a:ext cx="58742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This example of output taken from paper named -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Physically-admissible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polarimetric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data augmentation for road-scene analysis</a:t>
            </a:r>
          </a:p>
        </p:txBody>
      </p:sp>
    </p:spTree>
    <p:extLst>
      <p:ext uri="{BB962C8B-B14F-4D97-AF65-F5344CB8AC3E}">
        <p14:creationId xmlns:p14="http://schemas.microsoft.com/office/powerpoint/2010/main" val="3764680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=""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=""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=""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=""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=""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=""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=""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=""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="" xmlns:a16="http://schemas.microsoft.com/office/drawing/2014/main" id="{D8F6D9E4-7C09-4A13-3A49-FD0E420A152F}"/>
              </a:ext>
            </a:extLst>
          </p:cNvPr>
          <p:cNvSpPr txBox="1"/>
          <p:nvPr/>
        </p:nvSpPr>
        <p:spPr>
          <a:xfrm>
            <a:off x="1855182" y="231965"/>
            <a:ext cx="6886573" cy="1931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000" b="1" dirty="0">
                <a:solidFill>
                  <a:srgbClr val="0070C0"/>
                </a:solidFill>
              </a:rPr>
              <a:t>Conclusion &amp; Implementation:</a:t>
            </a:r>
            <a:endParaRPr lang="en-US" sz="6000" b="1" spc="-69" dirty="0">
              <a:solidFill>
                <a:srgbClr val="0070C0"/>
              </a:solidFill>
              <a:latin typeface="Arial Black"/>
              <a:ea typeface="Telegraf Bold"/>
              <a:cs typeface="Telegraf Bold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=""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=""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="" xmlns:a16="http://schemas.microsoft.com/office/drawing/2014/main" id="{A9064054-045F-495A-9204-8F729BCD2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001" y="5192654"/>
            <a:ext cx="1606631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Add road-type recognition (normal / construction / roundabout / damaged).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Use lane detection + intersection detection for </a:t>
            </a:r>
            <a:r>
              <a:rPr lang="en-US" sz="3200" b="1" dirty="0"/>
              <a:t>traffic rule analysis</a:t>
            </a:r>
            <a:r>
              <a:rPr lang="en-US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Use </a:t>
            </a:r>
            <a:r>
              <a:rPr lang="en-US" sz="3200" dirty="0" err="1"/>
              <a:t>polarimetric</a:t>
            </a:r>
            <a:r>
              <a:rPr lang="en-US" sz="3200" dirty="0"/>
              <a:t> augmentation to improve accuracy in </a:t>
            </a:r>
            <a:r>
              <a:rPr lang="en-US" sz="3200" b="1" dirty="0"/>
              <a:t>bad weather video footage</a:t>
            </a:r>
            <a:r>
              <a:rPr lang="en-US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Integrate road-quality estimation to support </a:t>
            </a:r>
            <a:r>
              <a:rPr lang="en-US" sz="3200" b="1" dirty="0"/>
              <a:t>safety and decision-making</a:t>
            </a:r>
            <a:r>
              <a:rPr lang="en-US" sz="3200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CC060F8D-6659-4BEC-B31E-93AE480F9AF2}"/>
              </a:ext>
            </a:extLst>
          </p:cNvPr>
          <p:cNvSpPr txBox="1"/>
          <p:nvPr/>
        </p:nvSpPr>
        <p:spPr>
          <a:xfrm>
            <a:off x="1855182" y="2324868"/>
            <a:ext cx="93345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These methods help classify road conditions, lane structure, and scene types, and improve accuracy under poor weather. They strengthen overall situational awareness</a:t>
            </a:r>
            <a:r>
              <a:rPr lang="en-US" sz="3200" dirty="0" smtClean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76259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=""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=""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=""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=""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=""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=""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=""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=""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grpSp>
        <p:nvGrpSpPr>
          <p:cNvPr id="12" name="Group 2">
            <a:extLst>
              <a:ext uri="{FF2B5EF4-FFF2-40B4-BE49-F238E27FC236}">
                <a16:creationId xmlns="" xmlns:a16="http://schemas.microsoft.com/office/drawing/2014/main" id="{C34B11E4-14ED-8F65-9400-0A61A83AD631}"/>
              </a:ext>
            </a:extLst>
          </p:cNvPr>
          <p:cNvGrpSpPr/>
          <p:nvPr/>
        </p:nvGrpSpPr>
        <p:grpSpPr>
          <a:xfrm>
            <a:off x="1855182" y="231965"/>
            <a:ext cx="14637723" cy="2962349"/>
            <a:chOff x="452318" y="-693817"/>
            <a:chExt cx="19516967" cy="3949799"/>
          </a:xfrm>
        </p:grpSpPr>
        <p:sp>
          <p:nvSpPr>
            <p:cNvPr id="6" name="TextBox 3">
              <a:extLst>
                <a:ext uri="{FF2B5EF4-FFF2-40B4-BE49-F238E27FC236}">
                  <a16:creationId xmlns="" xmlns:a16="http://schemas.microsoft.com/office/drawing/2014/main" id="{D8F6D9E4-7C09-4A13-3A49-FD0E420A152F}"/>
                </a:ext>
              </a:extLst>
            </p:cNvPr>
            <p:cNvSpPr txBox="1"/>
            <p:nvPr/>
          </p:nvSpPr>
          <p:spPr>
            <a:xfrm>
              <a:off x="452318" y="-693817"/>
              <a:ext cx="9182099" cy="39497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7699"/>
                </a:lnSpc>
              </a:pPr>
              <a:r>
                <a:rPr lang="en-US" sz="6000" b="1" dirty="0">
                  <a:solidFill>
                    <a:srgbClr val="0070C0"/>
                  </a:solidFill>
                </a:rPr>
                <a:t>Category </a:t>
              </a:r>
              <a:r>
                <a:rPr lang="en-US" sz="6000" b="1" dirty="0" smtClean="0">
                  <a:solidFill>
                    <a:srgbClr val="0070C0"/>
                  </a:solidFill>
                </a:rPr>
                <a:t>3: </a:t>
              </a:r>
              <a:r>
                <a:rPr lang="en-US" sz="6000" b="1" dirty="0"/>
                <a:t>TRAFFIC ANALYSIS &amp; DENSITY ESTIMATION</a:t>
              </a:r>
              <a:endParaRPr lang="en-US" sz="6000" b="1" spc="-69" dirty="0">
                <a:solidFill>
                  <a:srgbClr val="0070C0"/>
                </a:solidFill>
                <a:latin typeface="Arial Black"/>
                <a:ea typeface="Telegraf Bold"/>
                <a:cs typeface="Telegraf Bold"/>
              </a:endParaRPr>
            </a:p>
          </p:txBody>
        </p:sp>
        <p:sp>
          <p:nvSpPr>
            <p:cNvPr id="8" name="TextBox 4">
              <a:extLst>
                <a:ext uri="{FF2B5EF4-FFF2-40B4-BE49-F238E27FC236}">
                  <a16:creationId xmlns="" xmlns:a16="http://schemas.microsoft.com/office/drawing/2014/main" id="{1131FF81-A442-CA29-7A8E-2A370A0059E5}"/>
                </a:ext>
              </a:extLst>
            </p:cNvPr>
            <p:cNvSpPr txBox="1"/>
            <p:nvPr/>
          </p:nvSpPr>
          <p:spPr>
            <a:xfrm>
              <a:off x="10787185" y="927570"/>
              <a:ext cx="9182100" cy="56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u="sng" spc="-30" dirty="0">
                  <a:solidFill>
                    <a:srgbClr val="004D4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Key Insights and Findings</a:t>
              </a:r>
              <a:r>
                <a:rPr lang="en-US" sz="3000" b="1" spc="-30" dirty="0">
                  <a:solidFill>
                    <a:srgbClr val="004D4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:</a:t>
              </a:r>
            </a:p>
          </p:txBody>
        </p:sp>
      </p:grpSp>
      <p:sp>
        <p:nvSpPr>
          <p:cNvPr id="24" name="TextBox 8">
            <a:extLst>
              <a:ext uri="{FF2B5EF4-FFF2-40B4-BE49-F238E27FC236}">
                <a16:creationId xmlns=""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=""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="" xmlns:a16="http://schemas.microsoft.com/office/drawing/2014/main" id="{12F1E28F-C86D-4813-AA42-A05B0ACC0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0" y="3782757"/>
            <a:ext cx="114300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Traffic density classification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Traffic flow &amp; congestion analysis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Measuring vehicle movement and jam formation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Digital-twin based traffic simulation</a:t>
            </a:r>
          </a:p>
        </p:txBody>
      </p:sp>
    </p:spTree>
    <p:extLst>
      <p:ext uri="{BB962C8B-B14F-4D97-AF65-F5344CB8AC3E}">
        <p14:creationId xmlns:p14="http://schemas.microsoft.com/office/powerpoint/2010/main" val="3059060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2B315EF-481C-342F-D45F-FB76657A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="" xmlns:a16="http://schemas.microsoft.com/office/drawing/2014/main" id="{6C2C946D-A8AB-6105-1445-BF3BF4C07037}"/>
              </a:ext>
            </a:extLst>
          </p:cNvPr>
          <p:cNvGrpSpPr/>
          <p:nvPr/>
        </p:nvGrpSpPr>
        <p:grpSpPr>
          <a:xfrm>
            <a:off x="0" y="0"/>
            <a:ext cx="10058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="" xmlns:a16="http://schemas.microsoft.com/office/drawing/2014/main" id="{C45D3A24-B1E2-DA35-B078-D4069A488320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="" xmlns:a16="http://schemas.microsoft.com/office/drawing/2014/main" id="{4622C7CB-8721-B785-F725-D2A017B97A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2">
            <a:extLst>
              <a:ext uri="{FF2B5EF4-FFF2-40B4-BE49-F238E27FC236}">
                <a16:creationId xmlns="" xmlns:a16="http://schemas.microsoft.com/office/drawing/2014/main" id="{1810EF7C-EB01-8F43-BD26-F3847A62F680}"/>
              </a:ext>
            </a:extLst>
          </p:cNvPr>
          <p:cNvGrpSpPr/>
          <p:nvPr/>
        </p:nvGrpSpPr>
        <p:grpSpPr>
          <a:xfrm>
            <a:off x="-859302" y="-258961"/>
            <a:ext cx="18141463" cy="10576322"/>
            <a:chOff x="0" y="-76200"/>
            <a:chExt cx="4777997" cy="2785533"/>
          </a:xfrm>
        </p:grpSpPr>
        <p:sp>
          <p:nvSpPr>
            <p:cNvPr id="10" name="Freeform 3">
              <a:extLst>
                <a:ext uri="{FF2B5EF4-FFF2-40B4-BE49-F238E27FC236}">
                  <a16:creationId xmlns="" xmlns:a16="http://schemas.microsoft.com/office/drawing/2014/main" id="{6928B849-0500-5167-E62E-64C6147BDA83}"/>
                </a:ext>
              </a:extLst>
            </p:cNvPr>
            <p:cNvSpPr/>
            <p:nvPr/>
          </p:nvSpPr>
          <p:spPr>
            <a:xfrm>
              <a:off x="3925059" y="-38594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11" name="TextBox 4">
              <a:extLst>
                <a:ext uri="{FF2B5EF4-FFF2-40B4-BE49-F238E27FC236}">
                  <a16:creationId xmlns="" xmlns:a16="http://schemas.microsoft.com/office/drawing/2014/main" id="{FD10FC41-6A2D-D09C-737B-EA63ED190260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TextBox 4">
            <a:extLst>
              <a:ext uri="{FF2B5EF4-FFF2-40B4-BE49-F238E27FC236}">
                <a16:creationId xmlns="" xmlns:a16="http://schemas.microsoft.com/office/drawing/2014/main" id="{5E80C229-E174-5AB3-FAB3-6351B5A7160E}"/>
              </a:ext>
            </a:extLst>
          </p:cNvPr>
          <p:cNvSpPr txBox="1"/>
          <p:nvPr/>
        </p:nvSpPr>
        <p:spPr>
          <a:xfrm>
            <a:off x="3692772" y="2377677"/>
            <a:ext cx="13041921" cy="58240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80BAD6D6-20A2-14F1-B878-C0C0EF002153}"/>
              </a:ext>
            </a:extLst>
          </p:cNvPr>
          <p:cNvSpPr txBox="1"/>
          <p:nvPr/>
        </p:nvSpPr>
        <p:spPr>
          <a:xfrm>
            <a:off x="1196266" y="0"/>
            <a:ext cx="7820318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dirty="0" smtClean="0">
                <a:solidFill>
                  <a:srgbClr val="2AA7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</a:t>
            </a:r>
            <a:r>
              <a:rPr lang="en-US" sz="6000" b="1" dirty="0">
                <a:solidFill>
                  <a:srgbClr val="2AA7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Findings (Category 3</a:t>
            </a:r>
            <a:r>
              <a:rPr lang="en-US" sz="6000" b="1" dirty="0" smtClean="0">
                <a:solidFill>
                  <a:srgbClr val="2AA7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6000" b="1" dirty="0" smtClean="0">
                <a:solidFill>
                  <a:srgbClr val="2AA7E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:</a:t>
            </a:r>
            <a:endParaRPr lang="en-US" sz="6000" b="1" dirty="0">
              <a:solidFill>
                <a:srgbClr val="2AA7E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EB15727-3A4B-4314-9523-6ABA750471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12" t="16949" r="49707" b="15734"/>
          <a:stretch/>
        </p:blipFill>
        <p:spPr>
          <a:xfrm>
            <a:off x="8580022" y="900113"/>
            <a:ext cx="8186245" cy="8172450"/>
          </a:xfrm>
          <a:prstGeom prst="rect">
            <a:avLst/>
          </a:prstGeom>
        </p:spPr>
      </p:pic>
      <p:sp>
        <p:nvSpPr>
          <p:cNvPr id="28" name="Arrow" descr="Dashed Arrow">
            <a:extLst>
              <a:ext uri="{FF2B5EF4-FFF2-40B4-BE49-F238E27FC236}">
                <a16:creationId xmlns="" xmlns:a16="http://schemas.microsoft.com/office/drawing/2014/main" id="{E4E363DF-78BF-7047-827C-B91CD97363E6}"/>
              </a:ext>
            </a:extLst>
          </p:cNvPr>
          <p:cNvSpPr/>
          <p:nvPr/>
        </p:nvSpPr>
        <p:spPr>
          <a:xfrm rot="5400000" flipV="1">
            <a:off x="5430646" y="6453426"/>
            <a:ext cx="3060251" cy="3238501"/>
          </a:xfrm>
          <a:prstGeom prst="arc">
            <a:avLst>
              <a:gd name="adj1" fmla="val 12549592"/>
              <a:gd name="adj2" fmla="val 4002257"/>
            </a:avLst>
          </a:prstGeom>
          <a:ln w="20320">
            <a:solidFill>
              <a:schemeClr val="bg1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Arial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22020E2B-EB57-4FC5-9640-EF7ED0D3460B}"/>
              </a:ext>
            </a:extLst>
          </p:cNvPr>
          <p:cNvSpPr txBox="1"/>
          <p:nvPr/>
        </p:nvSpPr>
        <p:spPr>
          <a:xfrm>
            <a:off x="1392073" y="2565779"/>
            <a:ext cx="582677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Road classified into 5 density levels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blue→red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Models analyze traffic flow, jam buildup, and speed patterns.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Digital twin simulates mixed autonomous traffic to detect future safety hazards.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7341" y="7839058"/>
            <a:ext cx="82324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This example of output taken from paper named -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Road scene analysis for determination of road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trafficdensity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65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=""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=""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=""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=""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=""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=""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=""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=""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="" xmlns:a16="http://schemas.microsoft.com/office/drawing/2014/main" id="{D8F6D9E4-7C09-4A13-3A49-FD0E420A152F}"/>
              </a:ext>
            </a:extLst>
          </p:cNvPr>
          <p:cNvSpPr txBox="1"/>
          <p:nvPr/>
        </p:nvSpPr>
        <p:spPr>
          <a:xfrm>
            <a:off x="1855182" y="231965"/>
            <a:ext cx="6886573" cy="1931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000" b="1" dirty="0">
                <a:solidFill>
                  <a:srgbClr val="0070C0"/>
                </a:solidFill>
              </a:rPr>
              <a:t>Conclusion &amp; Implementation:</a:t>
            </a:r>
            <a:endParaRPr lang="en-US" sz="6000" b="1" spc="-69" dirty="0">
              <a:solidFill>
                <a:srgbClr val="0070C0"/>
              </a:solidFill>
              <a:latin typeface="Arial Black"/>
              <a:ea typeface="Telegraf Bold"/>
              <a:cs typeface="Telegraf Bold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=""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=""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="" xmlns:a16="http://schemas.microsoft.com/office/drawing/2014/main" id="{A9064054-045F-495A-9204-8F729BCD2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001" y="5192654"/>
            <a:ext cx="1606631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Integrate real-time vehicle motion tracking for </a:t>
            </a:r>
            <a:r>
              <a:rPr lang="en-US" sz="3200" b="1" dirty="0"/>
              <a:t>density estimation</a:t>
            </a:r>
            <a:r>
              <a:rPr lang="en-US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Support traffic rule enforcement by checking </a:t>
            </a:r>
            <a:r>
              <a:rPr lang="en-US" sz="3200" b="1" dirty="0"/>
              <a:t>crowded </a:t>
            </a:r>
            <a:r>
              <a:rPr lang="en-US" sz="3200" b="1" dirty="0" err="1"/>
              <a:t>vs</a:t>
            </a:r>
            <a:r>
              <a:rPr lang="en-US" sz="3200" b="1" dirty="0"/>
              <a:t> normal scenes</a:t>
            </a:r>
            <a:r>
              <a:rPr lang="en-US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Use traffic flow modeling for </a:t>
            </a:r>
            <a:r>
              <a:rPr lang="en-US" sz="3200" b="1" dirty="0"/>
              <a:t>risk prediction</a:t>
            </a:r>
            <a:r>
              <a:rPr lang="en-US" sz="32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Add digital-twin concepts for </a:t>
            </a:r>
            <a:r>
              <a:rPr lang="en-US" sz="3200" b="1" dirty="0"/>
              <a:t>virtual testing before real deployment</a:t>
            </a:r>
            <a:r>
              <a:rPr lang="en-US" sz="3200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CC060F8D-6659-4BEC-B31E-93AE480F9AF2}"/>
              </a:ext>
            </a:extLst>
          </p:cNvPr>
          <p:cNvSpPr txBox="1"/>
          <p:nvPr/>
        </p:nvSpPr>
        <p:spPr>
          <a:xfrm>
            <a:off x="1855182" y="2324868"/>
            <a:ext cx="141399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Traffic density and flow modeling improve understanding of congestion levels and vehicle movement patterns. Useful for analyzing jam build-up and risk situations.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Integrate real-time vehicle motion tracking for </a:t>
            </a:r>
            <a:r>
              <a:rPr kumimoji="0" 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density estimation</a:t>
            </a: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Support traffic rule enforcement by checking </a:t>
            </a:r>
            <a:r>
              <a:rPr kumimoji="0" 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crowded vs normal scenes</a:t>
            </a: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traffic flow modeling for </a:t>
            </a:r>
            <a:r>
              <a:rPr kumimoji="0" 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risk prediction</a:t>
            </a: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 digital-twin concepts for </a:t>
            </a:r>
            <a:r>
              <a:rPr kumimoji="0" lang="en-US" sz="12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virtual testing before real deployment</a:t>
            </a: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sz="1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18288000" cy="285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679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=""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=""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=""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=""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=""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=""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=""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=""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grpSp>
        <p:nvGrpSpPr>
          <p:cNvPr id="12" name="Group 2">
            <a:extLst>
              <a:ext uri="{FF2B5EF4-FFF2-40B4-BE49-F238E27FC236}">
                <a16:creationId xmlns="" xmlns:a16="http://schemas.microsoft.com/office/drawing/2014/main" id="{C34B11E4-14ED-8F65-9400-0A61A83AD631}"/>
              </a:ext>
            </a:extLst>
          </p:cNvPr>
          <p:cNvGrpSpPr/>
          <p:nvPr/>
        </p:nvGrpSpPr>
        <p:grpSpPr>
          <a:xfrm>
            <a:off x="1855182" y="231965"/>
            <a:ext cx="14637723" cy="2962349"/>
            <a:chOff x="452318" y="-693817"/>
            <a:chExt cx="19516967" cy="3949800"/>
          </a:xfrm>
        </p:grpSpPr>
        <p:sp>
          <p:nvSpPr>
            <p:cNvPr id="6" name="TextBox 3">
              <a:extLst>
                <a:ext uri="{FF2B5EF4-FFF2-40B4-BE49-F238E27FC236}">
                  <a16:creationId xmlns="" xmlns:a16="http://schemas.microsoft.com/office/drawing/2014/main" id="{D8F6D9E4-7C09-4A13-3A49-FD0E420A152F}"/>
                </a:ext>
              </a:extLst>
            </p:cNvPr>
            <p:cNvSpPr txBox="1"/>
            <p:nvPr/>
          </p:nvSpPr>
          <p:spPr>
            <a:xfrm>
              <a:off x="452318" y="-693817"/>
              <a:ext cx="9182099" cy="3949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699"/>
                </a:lnSpc>
              </a:pPr>
              <a:r>
                <a:rPr lang="en-US" sz="6000" b="1" dirty="0" smtClean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Category 4 : </a:t>
              </a:r>
              <a:r>
                <a:rPr lang="en-US" sz="6000" b="1" dirty="0" smtClean="0"/>
                <a:t>CONNECTIVITY </a:t>
              </a:r>
              <a:r>
                <a:rPr lang="en-US" sz="6000" b="1" dirty="0"/>
                <a:t>&amp; </a:t>
              </a:r>
              <a:r>
                <a:rPr lang="en-US" sz="6000" b="1" dirty="0" err="1"/>
                <a:t>IoV</a:t>
              </a:r>
              <a:r>
                <a:rPr lang="en-US" sz="6000" b="1" dirty="0"/>
                <a:t> (Internet of Vehicles</a:t>
              </a:r>
              <a:r>
                <a:rPr lang="en-US" sz="6000" b="1" dirty="0" smtClean="0"/>
                <a:t>)</a:t>
              </a:r>
              <a:endParaRPr lang="en-US" sz="6000" dirty="0"/>
            </a:p>
          </p:txBody>
        </p:sp>
        <p:sp>
          <p:nvSpPr>
            <p:cNvPr id="8" name="TextBox 4">
              <a:extLst>
                <a:ext uri="{FF2B5EF4-FFF2-40B4-BE49-F238E27FC236}">
                  <a16:creationId xmlns="" xmlns:a16="http://schemas.microsoft.com/office/drawing/2014/main" id="{1131FF81-A442-CA29-7A8E-2A370A0059E5}"/>
                </a:ext>
              </a:extLst>
            </p:cNvPr>
            <p:cNvSpPr txBox="1"/>
            <p:nvPr/>
          </p:nvSpPr>
          <p:spPr>
            <a:xfrm>
              <a:off x="10787185" y="927570"/>
              <a:ext cx="9182100" cy="56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u="sng" spc="-30" dirty="0">
                  <a:solidFill>
                    <a:srgbClr val="004D4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Key Insights and Findings</a:t>
              </a:r>
              <a:r>
                <a:rPr lang="en-US" sz="3000" b="1" spc="-30" dirty="0">
                  <a:solidFill>
                    <a:srgbClr val="004D4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:</a:t>
              </a:r>
            </a:p>
          </p:txBody>
        </p:sp>
      </p:grpSp>
      <p:sp>
        <p:nvSpPr>
          <p:cNvPr id="24" name="TextBox 8">
            <a:extLst>
              <a:ext uri="{FF2B5EF4-FFF2-40B4-BE49-F238E27FC236}">
                <a16:creationId xmlns=""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=""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="" xmlns:a16="http://schemas.microsoft.com/office/drawing/2014/main" id="{12F1E28F-C86D-4813-AA42-A05B0ACC0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0" y="3305703"/>
            <a:ext cx="11430000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IoV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connection modeling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Connectivity quality metrics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Data forwarding / packet error / link stability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Communication issues in urban environments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Safety simulation using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+ digital twins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1" i="0" u="none" strike="noStrike" cap="none" normalizeH="0" baseline="0" dirty="0">
              <a:ln>
                <a:noFill/>
              </a:ln>
              <a:solidFill>
                <a:srgbClr val="246E44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29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2B315EF-481C-342F-D45F-FB76657A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="" xmlns:a16="http://schemas.microsoft.com/office/drawing/2014/main" id="{6C2C946D-A8AB-6105-1445-BF3BF4C07037}"/>
              </a:ext>
            </a:extLst>
          </p:cNvPr>
          <p:cNvGrpSpPr/>
          <p:nvPr/>
        </p:nvGrpSpPr>
        <p:grpSpPr>
          <a:xfrm>
            <a:off x="0" y="0"/>
            <a:ext cx="10058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="" xmlns:a16="http://schemas.microsoft.com/office/drawing/2014/main" id="{C45D3A24-B1E2-DA35-B078-D4069A488320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="" xmlns:a16="http://schemas.microsoft.com/office/drawing/2014/main" id="{4622C7CB-8721-B785-F725-D2A017B97A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2">
            <a:extLst>
              <a:ext uri="{FF2B5EF4-FFF2-40B4-BE49-F238E27FC236}">
                <a16:creationId xmlns="" xmlns:a16="http://schemas.microsoft.com/office/drawing/2014/main" id="{1810EF7C-EB01-8F43-BD26-F3847A62F680}"/>
              </a:ext>
            </a:extLst>
          </p:cNvPr>
          <p:cNvGrpSpPr/>
          <p:nvPr/>
        </p:nvGrpSpPr>
        <p:grpSpPr>
          <a:xfrm>
            <a:off x="-859302" y="-144661"/>
            <a:ext cx="18141463" cy="10576322"/>
            <a:chOff x="0" y="-76200"/>
            <a:chExt cx="4777997" cy="2785533"/>
          </a:xfrm>
        </p:grpSpPr>
        <p:sp>
          <p:nvSpPr>
            <p:cNvPr id="10" name="Freeform 3">
              <a:extLst>
                <a:ext uri="{FF2B5EF4-FFF2-40B4-BE49-F238E27FC236}">
                  <a16:creationId xmlns="" xmlns:a16="http://schemas.microsoft.com/office/drawing/2014/main" id="{6928B849-0500-5167-E62E-64C6147BDA83}"/>
                </a:ext>
              </a:extLst>
            </p:cNvPr>
            <p:cNvSpPr/>
            <p:nvPr/>
          </p:nvSpPr>
          <p:spPr>
            <a:xfrm>
              <a:off x="3925059" y="-38594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11" name="TextBox 4">
              <a:extLst>
                <a:ext uri="{FF2B5EF4-FFF2-40B4-BE49-F238E27FC236}">
                  <a16:creationId xmlns="" xmlns:a16="http://schemas.microsoft.com/office/drawing/2014/main" id="{FD10FC41-6A2D-D09C-737B-EA63ED190260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TextBox 4">
            <a:extLst>
              <a:ext uri="{FF2B5EF4-FFF2-40B4-BE49-F238E27FC236}">
                <a16:creationId xmlns="" xmlns:a16="http://schemas.microsoft.com/office/drawing/2014/main" id="{5E80C229-E174-5AB3-FAB3-6351B5A7160E}"/>
              </a:ext>
            </a:extLst>
          </p:cNvPr>
          <p:cNvSpPr txBox="1"/>
          <p:nvPr/>
        </p:nvSpPr>
        <p:spPr>
          <a:xfrm>
            <a:off x="3692772" y="2377677"/>
            <a:ext cx="13041921" cy="58240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80BAD6D6-20A2-14F1-B878-C0C0EF002153}"/>
              </a:ext>
            </a:extLst>
          </p:cNvPr>
          <p:cNvSpPr txBox="1"/>
          <p:nvPr/>
        </p:nvSpPr>
        <p:spPr>
          <a:xfrm>
            <a:off x="1196266" y="0"/>
            <a:ext cx="7820318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dirty="0" smtClean="0">
                <a:solidFill>
                  <a:srgbClr val="2AA7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</a:t>
            </a:r>
            <a:r>
              <a:rPr lang="en-US" sz="6000" b="1" dirty="0">
                <a:solidFill>
                  <a:srgbClr val="2AA7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Findings (Category 4</a:t>
            </a:r>
            <a:r>
              <a:rPr lang="en-US" sz="6000" b="1" dirty="0" smtClean="0">
                <a:solidFill>
                  <a:srgbClr val="2AA7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6000" b="1" dirty="0" smtClean="0">
                <a:solidFill>
                  <a:srgbClr val="2AA7E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:</a:t>
            </a:r>
            <a:endParaRPr lang="en-US" sz="6000" b="1" dirty="0">
              <a:solidFill>
                <a:srgbClr val="2AA7E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EB15727-3A4B-4314-9523-6ABA750471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15" t="19281" r="50364" b="11363"/>
          <a:stretch/>
        </p:blipFill>
        <p:spPr>
          <a:xfrm>
            <a:off x="9402818" y="950166"/>
            <a:ext cx="7027807" cy="7179422"/>
          </a:xfrm>
          <a:prstGeom prst="rect">
            <a:avLst/>
          </a:prstGeom>
        </p:spPr>
      </p:pic>
      <p:sp>
        <p:nvSpPr>
          <p:cNvPr id="28" name="Arrow" descr="Dashed Arrow">
            <a:extLst>
              <a:ext uri="{FF2B5EF4-FFF2-40B4-BE49-F238E27FC236}">
                <a16:creationId xmlns="" xmlns:a16="http://schemas.microsoft.com/office/drawing/2014/main" id="{E4E363DF-78BF-7047-827C-B91CD97363E6}"/>
              </a:ext>
            </a:extLst>
          </p:cNvPr>
          <p:cNvSpPr/>
          <p:nvPr/>
        </p:nvSpPr>
        <p:spPr>
          <a:xfrm rot="5400000" flipV="1">
            <a:off x="5430646" y="6453426"/>
            <a:ext cx="3060251" cy="3238501"/>
          </a:xfrm>
          <a:prstGeom prst="arc">
            <a:avLst>
              <a:gd name="adj1" fmla="val 12549592"/>
              <a:gd name="adj2" fmla="val 4002257"/>
            </a:avLst>
          </a:prstGeom>
          <a:ln w="20320">
            <a:solidFill>
              <a:schemeClr val="bg1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Arial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22020E2B-EB57-4FC5-9640-EF7ED0D3460B}"/>
              </a:ext>
            </a:extLst>
          </p:cNvPr>
          <p:cNvSpPr txBox="1"/>
          <p:nvPr/>
        </p:nvSpPr>
        <p:spPr>
          <a:xfrm>
            <a:off x="1392073" y="2565779"/>
            <a:ext cx="582677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Identifies weaknesses in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IoV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connections (urban obstructions).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Analyzes 4 connectivity metrics to improve communication reliability.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Digital twin supports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-based safety evaluation and risk prediction.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72575" y="8181518"/>
            <a:ext cx="7258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Digital Twin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5925" y="7958138"/>
            <a:ext cx="8801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This model example taken from paper named -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Virtual Roads, Smarter Safety: A Digital Twin Framework for Mixed Autonomous Traffic Safety Analysis</a:t>
            </a:r>
          </a:p>
        </p:txBody>
      </p:sp>
    </p:spTree>
    <p:extLst>
      <p:ext uri="{BB962C8B-B14F-4D97-AF65-F5344CB8AC3E}">
        <p14:creationId xmlns:p14="http://schemas.microsoft.com/office/powerpoint/2010/main" val="1619359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=""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=""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=""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=""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=""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=""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=""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=""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="" xmlns:a16="http://schemas.microsoft.com/office/drawing/2014/main" id="{D8F6D9E4-7C09-4A13-3A49-FD0E420A152F}"/>
              </a:ext>
            </a:extLst>
          </p:cNvPr>
          <p:cNvSpPr txBox="1"/>
          <p:nvPr/>
        </p:nvSpPr>
        <p:spPr>
          <a:xfrm>
            <a:off x="1855182" y="231965"/>
            <a:ext cx="6886573" cy="1931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 &amp; Implementation:</a:t>
            </a:r>
            <a:endParaRPr lang="en-US" sz="6000" b="1" spc="-69" dirty="0">
              <a:solidFill>
                <a:srgbClr val="0070C0"/>
              </a:solidFill>
              <a:latin typeface="Arial" panose="020B0604020202020204" pitchFamily="34" charset="0"/>
              <a:ea typeface="Telegraf Bold"/>
              <a:cs typeface="Arial" panose="020B0604020202020204" pitchFamily="34" charset="0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=""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=""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="" xmlns:a16="http://schemas.microsoft.com/office/drawing/2014/main" id="{A9064054-045F-495A-9204-8F729BCD2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001" y="5192655"/>
            <a:ext cx="1606631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connectivity insights for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real-time communication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between camera units / servers.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Integrate digital-twin connectivity for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fail-safe alerts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remote monitoring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Improve system reliability for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traffic rule violation detection in urban settings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CC060F8D-6659-4BEC-B31E-93AE480F9AF2}"/>
              </a:ext>
            </a:extLst>
          </p:cNvPr>
          <p:cNvSpPr txBox="1"/>
          <p:nvPr/>
        </p:nvSpPr>
        <p:spPr>
          <a:xfrm>
            <a:off x="1855182" y="2324868"/>
            <a:ext cx="93345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Connectivity modeling ensures stable communication in urban environments, while digital-twin simulation predicts risks before they happen. Enhances reliability and safety.</a:t>
            </a:r>
            <a:endParaRPr lang="en-US" sz="3000" b="1" dirty="0">
              <a:solidFill>
                <a:srgbClr val="246E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632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12B315EF-481C-342F-D45F-FB76657A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="" xmlns:a16="http://schemas.microsoft.com/office/drawing/2014/main" id="{6C2C946D-A8AB-6105-1445-BF3BF4C07037}"/>
              </a:ext>
            </a:extLst>
          </p:cNvPr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="" xmlns:a16="http://schemas.microsoft.com/office/drawing/2014/main" id="{C45D3A24-B1E2-DA35-B078-D4069A488320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="" xmlns:a16="http://schemas.microsoft.com/office/drawing/2014/main" id="{4622C7CB-8721-B785-F725-D2A017B97A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2">
            <a:extLst>
              <a:ext uri="{FF2B5EF4-FFF2-40B4-BE49-F238E27FC236}">
                <a16:creationId xmlns="" xmlns:a16="http://schemas.microsoft.com/office/drawing/2014/main" id="{1810EF7C-EB01-8F43-BD26-F3847A62F680}"/>
              </a:ext>
            </a:extLst>
          </p:cNvPr>
          <p:cNvGrpSpPr/>
          <p:nvPr/>
        </p:nvGrpSpPr>
        <p:grpSpPr>
          <a:xfrm>
            <a:off x="146538" y="-142784"/>
            <a:ext cx="18141463" cy="10576322"/>
            <a:chOff x="0" y="-76200"/>
            <a:chExt cx="4777997" cy="2785533"/>
          </a:xfrm>
        </p:grpSpPr>
        <p:sp>
          <p:nvSpPr>
            <p:cNvPr id="10" name="Freeform 3">
              <a:extLst>
                <a:ext uri="{FF2B5EF4-FFF2-40B4-BE49-F238E27FC236}">
                  <a16:creationId xmlns="" xmlns:a16="http://schemas.microsoft.com/office/drawing/2014/main" id="{6928B849-0500-5167-E62E-64C6147BDA83}"/>
                </a:ext>
              </a:extLst>
            </p:cNvPr>
            <p:cNvSpPr/>
            <p:nvPr/>
          </p:nvSpPr>
          <p:spPr>
            <a:xfrm>
              <a:off x="3925059" y="-38594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11" name="TextBox 4">
              <a:extLst>
                <a:ext uri="{FF2B5EF4-FFF2-40B4-BE49-F238E27FC236}">
                  <a16:creationId xmlns="" xmlns:a16="http://schemas.microsoft.com/office/drawing/2014/main" id="{FD10FC41-6A2D-D09C-737B-EA63ED190260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A1537504-2527-1616-797E-F8202DD8C744}"/>
              </a:ext>
            </a:extLst>
          </p:cNvPr>
          <p:cNvGrpSpPr/>
          <p:nvPr/>
        </p:nvGrpSpPr>
        <p:grpSpPr>
          <a:xfrm>
            <a:off x="9" y="3506023"/>
            <a:ext cx="16588144" cy="1329746"/>
            <a:chOff x="3182425" y="3506023"/>
            <a:chExt cx="1084860" cy="6359977"/>
          </a:xfrm>
        </p:grpSpPr>
        <p:sp>
          <p:nvSpPr>
            <p:cNvPr id="17" name="Freeform 3">
              <a:extLst>
                <a:ext uri="{FF2B5EF4-FFF2-40B4-BE49-F238E27FC236}">
                  <a16:creationId xmlns="" xmlns:a16="http://schemas.microsoft.com/office/drawing/2014/main" id="{0966A004-6C73-ED32-89FF-9E77E20E7BE8}"/>
                </a:ext>
              </a:extLst>
            </p:cNvPr>
            <p:cNvSpPr/>
            <p:nvPr/>
          </p:nvSpPr>
          <p:spPr>
            <a:xfrm>
              <a:off x="3182425" y="9259286"/>
              <a:ext cx="405385" cy="606714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4">
              <a:extLst>
                <a:ext uri="{FF2B5EF4-FFF2-40B4-BE49-F238E27FC236}">
                  <a16:creationId xmlns="" xmlns:a16="http://schemas.microsoft.com/office/drawing/2014/main" id="{7D76C5C5-8B20-48E7-A3A2-2BF5EF2E4E6A}"/>
                </a:ext>
              </a:extLst>
            </p:cNvPr>
            <p:cNvSpPr txBox="1"/>
            <p:nvPr/>
          </p:nvSpPr>
          <p:spPr>
            <a:xfrm>
              <a:off x="3414347" y="3506023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E5B5A4E3-7598-584E-FDF0-61F079D2445E}"/>
              </a:ext>
            </a:extLst>
          </p:cNvPr>
          <p:cNvGrpSpPr/>
          <p:nvPr/>
        </p:nvGrpSpPr>
        <p:grpSpPr>
          <a:xfrm>
            <a:off x="19" y="2377677"/>
            <a:ext cx="16734674" cy="2243316"/>
            <a:chOff x="3172842" y="3506023"/>
            <a:chExt cx="1094443" cy="10729446"/>
          </a:xfrm>
        </p:grpSpPr>
        <p:sp>
          <p:nvSpPr>
            <p:cNvPr id="20" name="Freeform 3">
              <a:extLst>
                <a:ext uri="{FF2B5EF4-FFF2-40B4-BE49-F238E27FC236}">
                  <a16:creationId xmlns="" xmlns:a16="http://schemas.microsoft.com/office/drawing/2014/main" id="{418B3947-5B98-2CCD-F9AD-F346A3F2885A}"/>
                </a:ext>
              </a:extLst>
            </p:cNvPr>
            <p:cNvSpPr/>
            <p:nvPr/>
          </p:nvSpPr>
          <p:spPr>
            <a:xfrm flipV="1">
              <a:off x="3172842" y="13720791"/>
              <a:ext cx="405385" cy="514678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4">
              <a:extLst>
                <a:ext uri="{FF2B5EF4-FFF2-40B4-BE49-F238E27FC236}">
                  <a16:creationId xmlns="" xmlns:a16="http://schemas.microsoft.com/office/drawing/2014/main" id="{5E80C229-E174-5AB3-FAB3-6351B5A7160E}"/>
                </a:ext>
              </a:extLst>
            </p:cNvPr>
            <p:cNvSpPr txBox="1"/>
            <p:nvPr/>
          </p:nvSpPr>
          <p:spPr>
            <a:xfrm>
              <a:off x="3414347" y="3506023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80BAD6D6-20A2-14F1-B878-C0C0EF002153}"/>
              </a:ext>
            </a:extLst>
          </p:cNvPr>
          <p:cNvSpPr txBox="1"/>
          <p:nvPr/>
        </p:nvSpPr>
        <p:spPr>
          <a:xfrm>
            <a:off x="6583240" y="3817327"/>
            <a:ext cx="822324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>
                <a:solidFill>
                  <a:schemeClr val="bg1"/>
                </a:solidFill>
                <a:latin typeface="Arial Black"/>
                <a:ea typeface="Calibri"/>
                <a:cs typeface="Calibri"/>
              </a:rPr>
              <a:t>THANK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42C982EA-A270-FF9B-0158-0C06B32CB517}"/>
              </a:ext>
            </a:extLst>
          </p:cNvPr>
          <p:cNvSpPr txBox="1"/>
          <p:nvPr/>
        </p:nvSpPr>
        <p:spPr>
          <a:xfrm>
            <a:off x="9780487" y="4799453"/>
            <a:ext cx="9342782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baseline="0">
                <a:solidFill>
                  <a:schemeClr val="bg1"/>
                </a:solidFill>
                <a:latin typeface="Arial Black"/>
              </a:rPr>
              <a:t>YOU</a:t>
            </a:r>
            <a:endParaRPr lang="en-US" sz="6000">
              <a:solidFill>
                <a:schemeClr val="bg1"/>
              </a:solidFill>
              <a:latin typeface="Arial Black"/>
              <a:ea typeface="Calibri"/>
              <a:cs typeface="Calibri"/>
            </a:endParaRPr>
          </a:p>
          <a:p>
            <a:pPr algn="ctr"/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1" name="Freeform 3">
            <a:extLst>
              <a:ext uri="{FF2B5EF4-FFF2-40B4-BE49-F238E27FC236}">
                <a16:creationId xmlns="" xmlns:a16="http://schemas.microsoft.com/office/drawing/2014/main" id="{20D05EBA-8541-6E80-C5C7-CD03BBC1B390}"/>
              </a:ext>
            </a:extLst>
          </p:cNvPr>
          <p:cNvSpPr/>
          <p:nvPr/>
        </p:nvSpPr>
        <p:spPr>
          <a:xfrm>
            <a:off x="12095294" y="5989663"/>
            <a:ext cx="6198574" cy="126852"/>
          </a:xfrm>
          <a:custGeom>
            <a:avLst/>
            <a:gdLst/>
            <a:ahLst/>
            <a:cxnLst/>
            <a:rect l="l" t="t" r="r" b="b"/>
            <a:pathLst>
              <a:path w="852938" h="2709333">
                <a:moveTo>
                  <a:pt x="0" y="0"/>
                </a:moveTo>
                <a:lnTo>
                  <a:pt x="852938" y="0"/>
                </a:lnTo>
                <a:lnTo>
                  <a:pt x="852938" y="2709333"/>
                </a:lnTo>
                <a:lnTo>
                  <a:pt x="0" y="2709333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A0D9F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Freeform 3">
            <a:extLst>
              <a:ext uri="{FF2B5EF4-FFF2-40B4-BE49-F238E27FC236}">
                <a16:creationId xmlns="" xmlns:a16="http://schemas.microsoft.com/office/drawing/2014/main" id="{B070343A-E5C4-34AB-6635-A402F8FB21EE}"/>
              </a:ext>
            </a:extLst>
          </p:cNvPr>
          <p:cNvSpPr/>
          <p:nvPr/>
        </p:nvSpPr>
        <p:spPr>
          <a:xfrm flipV="1">
            <a:off x="12095304" y="6233746"/>
            <a:ext cx="6198574" cy="107609"/>
          </a:xfrm>
          <a:custGeom>
            <a:avLst/>
            <a:gdLst/>
            <a:ahLst/>
            <a:cxnLst/>
            <a:rect l="l" t="t" r="r" b="b"/>
            <a:pathLst>
              <a:path w="852938" h="2709333">
                <a:moveTo>
                  <a:pt x="0" y="0"/>
                </a:moveTo>
                <a:lnTo>
                  <a:pt x="852938" y="0"/>
                </a:lnTo>
                <a:lnTo>
                  <a:pt x="852938" y="2709333"/>
                </a:lnTo>
                <a:lnTo>
                  <a:pt x="0" y="2709333"/>
                </a:lnTo>
                <a:close/>
              </a:path>
            </a:pathLst>
          </a:custGeom>
          <a:solidFill>
            <a:srgbClr val="00B050"/>
          </a:solidFill>
          <a:ln>
            <a:solidFill>
              <a:srgbClr val="00B050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5" name="Picture 34" descr="A logo of a university&#10;&#10;AI-generated content may be incorrect.">
            <a:extLst>
              <a:ext uri="{FF2B5EF4-FFF2-40B4-BE49-F238E27FC236}">
                <a16:creationId xmlns="" xmlns:a16="http://schemas.microsoft.com/office/drawing/2014/main" id="{11206C05-1FD3-CAD0-5F64-1211FE433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053" y="8018839"/>
            <a:ext cx="1709913" cy="150055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0C4B2147-C344-F8C9-8FEC-44EAA0476170}"/>
              </a:ext>
            </a:extLst>
          </p:cNvPr>
          <p:cNvSpPr txBox="1"/>
          <p:nvPr/>
        </p:nvSpPr>
        <p:spPr>
          <a:xfrm>
            <a:off x="7657537" y="9528662"/>
            <a:ext cx="29630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Calibri"/>
                <a:cs typeface="Calibri"/>
              </a:rPr>
              <a:t>PREMIERE UNIVERSITY</a:t>
            </a:r>
          </a:p>
        </p:txBody>
      </p:sp>
    </p:spTree>
    <p:extLst>
      <p:ext uri="{BB962C8B-B14F-4D97-AF65-F5344CB8AC3E}">
        <p14:creationId xmlns:p14="http://schemas.microsoft.com/office/powerpoint/2010/main" val="619738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1019</Words>
  <Application>Microsoft Office PowerPoint</Application>
  <PresentationFormat>Custom</PresentationFormat>
  <Paragraphs>119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 Black</vt:lpstr>
      <vt:lpstr>Telegraf Bold</vt:lpstr>
      <vt:lpstr>Calibri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Innovations in Sustainable Design</dc:title>
  <dc:creator>USER</dc:creator>
  <dc:description>Presentation - Innovations in Sustainable Design</dc:description>
  <cp:lastModifiedBy>USER</cp:lastModifiedBy>
  <cp:revision>57</cp:revision>
  <dcterms:created xsi:type="dcterms:W3CDTF">2006-08-16T00:00:00Z</dcterms:created>
  <dcterms:modified xsi:type="dcterms:W3CDTF">2025-12-01T20:21:58Z</dcterms:modified>
  <dc:identifier>DAG6GVWpC6w</dc:identifier>
</cp:coreProperties>
</file>