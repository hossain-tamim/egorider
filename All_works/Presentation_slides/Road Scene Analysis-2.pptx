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5" r:id="rId4"/>
    <p:sldId id="261" r:id="rId5"/>
    <p:sldId id="263" r:id="rId6"/>
    <p:sldId id="266" r:id="rId7"/>
    <p:sldId id="267" r:id="rId8"/>
    <p:sldId id="270" r:id="rId9"/>
    <p:sldId id="271" r:id="rId10"/>
    <p:sldId id="272" r:id="rId11"/>
    <p:sldId id="273" r:id="rId12"/>
    <p:sldId id="274" r:id="rId13"/>
    <p:sldId id="269" r:id="rId14"/>
  </p:sldIdLst>
  <p:sldSz cx="18288000" cy="10287000"/>
  <p:notesSz cx="6858000" cy="9144000"/>
  <p:embeddedFontLst>
    <p:embeddedFont>
      <p:font typeface="Arial Black" panose="020B0A04020102020204" pitchFamily="34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E44"/>
    <a:srgbClr val="2AA7E1"/>
    <a:srgbClr val="120078"/>
    <a:srgbClr val="009EC5"/>
    <a:srgbClr val="A0D9F7"/>
    <a:srgbClr val="4F81BD"/>
    <a:srgbClr val="13A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3CD807-C54F-4B40-ACDE-90F9F841CB1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B318F6-5CED-47F6-BBE6-88221FFD491B}">
      <dgm:prSet/>
      <dgm:spPr/>
      <dgm:t>
        <a:bodyPr/>
        <a:lstStyle/>
        <a:p>
          <a:r>
            <a:rPr lang="en-US" b="1" dirty="0">
              <a:latin typeface="+mn-lt"/>
            </a:rPr>
            <a:t>A: Detection &amp; Segmentation</a:t>
          </a:r>
          <a:endParaRPr lang="en-US" dirty="0">
            <a:latin typeface="+mn-lt"/>
          </a:endParaRPr>
        </a:p>
      </dgm:t>
    </dgm:pt>
    <dgm:pt modelId="{7D750339-8175-4F5B-AB1E-12035436B5D1}" type="parTrans" cxnId="{34848071-D9BF-4AFC-BCF7-57A39E4DCE6B}">
      <dgm:prSet/>
      <dgm:spPr/>
      <dgm:t>
        <a:bodyPr/>
        <a:lstStyle/>
        <a:p>
          <a:endParaRPr lang="en-US"/>
        </a:p>
      </dgm:t>
    </dgm:pt>
    <dgm:pt modelId="{4524E4DD-3D04-49DF-B17D-4F4855A47AC3}" type="sibTrans" cxnId="{34848071-D9BF-4AFC-BCF7-57A39E4DCE6B}">
      <dgm:prSet/>
      <dgm:spPr/>
      <dgm:t>
        <a:bodyPr/>
        <a:lstStyle/>
        <a:p>
          <a:endParaRPr lang="en-US"/>
        </a:p>
      </dgm:t>
    </dgm:pt>
    <dgm:pt modelId="{43BBCAA7-DDD6-431E-BBFA-C2831FA124C9}">
      <dgm:prSet/>
      <dgm:spPr/>
      <dgm:t>
        <a:bodyPr/>
        <a:lstStyle/>
        <a:p>
          <a:r>
            <a:rPr lang="en-US" b="1" dirty="0"/>
            <a:t>B: Anomaly &amp; Accident Detection</a:t>
          </a:r>
          <a:endParaRPr lang="en-US" dirty="0"/>
        </a:p>
      </dgm:t>
    </dgm:pt>
    <dgm:pt modelId="{6BF8FCA0-9C6C-4923-8238-B021F26E0464}" type="parTrans" cxnId="{6764F532-D0EB-4561-94FF-E45578AB48A5}">
      <dgm:prSet/>
      <dgm:spPr/>
      <dgm:t>
        <a:bodyPr/>
        <a:lstStyle/>
        <a:p>
          <a:endParaRPr lang="en-US"/>
        </a:p>
      </dgm:t>
    </dgm:pt>
    <dgm:pt modelId="{4C572A4B-74A5-47CA-803C-4A26FA19D23C}" type="sibTrans" cxnId="{6764F532-D0EB-4561-94FF-E45578AB48A5}">
      <dgm:prSet/>
      <dgm:spPr/>
      <dgm:t>
        <a:bodyPr/>
        <a:lstStyle/>
        <a:p>
          <a:endParaRPr lang="en-US"/>
        </a:p>
      </dgm:t>
    </dgm:pt>
    <dgm:pt modelId="{45BA3B43-BE18-4529-A039-D9C988414688}">
      <dgm:prSet/>
      <dgm:spPr/>
      <dgm:t>
        <a:bodyPr/>
        <a:lstStyle/>
        <a:p>
          <a:r>
            <a:rPr lang="en-US" b="1" dirty="0"/>
            <a:t>C:Environment &amp; Condition Analysis</a:t>
          </a:r>
          <a:endParaRPr lang="en-US" dirty="0"/>
        </a:p>
      </dgm:t>
    </dgm:pt>
    <dgm:pt modelId="{35E27675-A8DB-4698-A2F3-DF018E46131F}" type="parTrans" cxnId="{2FD163AA-3F33-4649-8DCB-3FA77B7A12E4}">
      <dgm:prSet/>
      <dgm:spPr/>
      <dgm:t>
        <a:bodyPr/>
        <a:lstStyle/>
        <a:p>
          <a:endParaRPr lang="en-US"/>
        </a:p>
      </dgm:t>
    </dgm:pt>
    <dgm:pt modelId="{CD35D0E2-61AE-42E6-8F60-3BF991B64BC8}" type="sibTrans" cxnId="{2FD163AA-3F33-4649-8DCB-3FA77B7A12E4}">
      <dgm:prSet/>
      <dgm:spPr/>
      <dgm:t>
        <a:bodyPr/>
        <a:lstStyle/>
        <a:p>
          <a:endParaRPr lang="en-US"/>
        </a:p>
      </dgm:t>
    </dgm:pt>
    <dgm:pt modelId="{E1658B3B-9BC8-48B1-BB91-39E892CAFB1E}" type="pres">
      <dgm:prSet presAssocID="{8A3CD807-C54F-4B40-ACDE-90F9F841CB1B}" presName="Name0" presStyleCnt="0">
        <dgm:presLayoutVars>
          <dgm:dir/>
          <dgm:resizeHandles val="exact"/>
        </dgm:presLayoutVars>
      </dgm:prSet>
      <dgm:spPr/>
    </dgm:pt>
    <dgm:pt modelId="{C9180830-2463-4E88-8F32-856E690FFA0E}" type="pres">
      <dgm:prSet presAssocID="{D1B318F6-5CED-47F6-BBE6-88221FFD491B}" presName="node" presStyleLbl="node1" presStyleIdx="0" presStyleCnt="3" custLinFactNeighborX="8725" custLinFactNeighborY="4241">
        <dgm:presLayoutVars>
          <dgm:bulletEnabled val="1"/>
        </dgm:presLayoutVars>
      </dgm:prSet>
      <dgm:spPr/>
    </dgm:pt>
    <dgm:pt modelId="{95038EFD-EF47-4D93-B08D-6801C2F8B48C}" type="pres">
      <dgm:prSet presAssocID="{4524E4DD-3D04-49DF-B17D-4F4855A47AC3}" presName="sibTrans" presStyleLbl="sibTrans2D1" presStyleIdx="0" presStyleCnt="2"/>
      <dgm:spPr/>
    </dgm:pt>
    <dgm:pt modelId="{963A3B97-574A-4A8A-9DD2-83C5AC816275}" type="pres">
      <dgm:prSet presAssocID="{4524E4DD-3D04-49DF-B17D-4F4855A47AC3}" presName="connectorText" presStyleLbl="sibTrans2D1" presStyleIdx="0" presStyleCnt="2"/>
      <dgm:spPr/>
    </dgm:pt>
    <dgm:pt modelId="{E00BD824-4142-4FAA-B76A-76FF63889CED}" type="pres">
      <dgm:prSet presAssocID="{43BBCAA7-DDD6-431E-BBFA-C2831FA124C9}" presName="node" presStyleLbl="node1" presStyleIdx="1" presStyleCnt="3">
        <dgm:presLayoutVars>
          <dgm:bulletEnabled val="1"/>
        </dgm:presLayoutVars>
      </dgm:prSet>
      <dgm:spPr/>
    </dgm:pt>
    <dgm:pt modelId="{7ECF45BB-17A3-4C30-B973-B977D1116406}" type="pres">
      <dgm:prSet presAssocID="{4C572A4B-74A5-47CA-803C-4A26FA19D23C}" presName="sibTrans" presStyleLbl="sibTrans2D1" presStyleIdx="1" presStyleCnt="2"/>
      <dgm:spPr/>
    </dgm:pt>
    <dgm:pt modelId="{C145BE61-BECC-48AB-B581-B8171EC49CE9}" type="pres">
      <dgm:prSet presAssocID="{4C572A4B-74A5-47CA-803C-4A26FA19D23C}" presName="connectorText" presStyleLbl="sibTrans2D1" presStyleIdx="1" presStyleCnt="2"/>
      <dgm:spPr/>
    </dgm:pt>
    <dgm:pt modelId="{113DB781-DC2D-4143-A4C7-1D0EDF7CD7BA}" type="pres">
      <dgm:prSet presAssocID="{45BA3B43-BE18-4529-A039-D9C988414688}" presName="node" presStyleLbl="node1" presStyleIdx="2" presStyleCnt="3">
        <dgm:presLayoutVars>
          <dgm:bulletEnabled val="1"/>
        </dgm:presLayoutVars>
      </dgm:prSet>
      <dgm:spPr/>
    </dgm:pt>
  </dgm:ptLst>
  <dgm:cxnLst>
    <dgm:cxn modelId="{7EAE5F11-F0F2-40F9-933C-B7AE51037BA8}" type="presOf" srcId="{4524E4DD-3D04-49DF-B17D-4F4855A47AC3}" destId="{95038EFD-EF47-4D93-B08D-6801C2F8B48C}" srcOrd="0" destOrd="0" presId="urn:microsoft.com/office/officeart/2005/8/layout/process1"/>
    <dgm:cxn modelId="{6764F532-D0EB-4561-94FF-E45578AB48A5}" srcId="{8A3CD807-C54F-4B40-ACDE-90F9F841CB1B}" destId="{43BBCAA7-DDD6-431E-BBFA-C2831FA124C9}" srcOrd="1" destOrd="0" parTransId="{6BF8FCA0-9C6C-4923-8238-B021F26E0464}" sibTransId="{4C572A4B-74A5-47CA-803C-4A26FA19D23C}"/>
    <dgm:cxn modelId="{FF596860-238C-4403-98D6-CFEE6A0D6DA9}" type="presOf" srcId="{4C572A4B-74A5-47CA-803C-4A26FA19D23C}" destId="{C145BE61-BECC-48AB-B581-B8171EC49CE9}" srcOrd="1" destOrd="0" presId="urn:microsoft.com/office/officeart/2005/8/layout/process1"/>
    <dgm:cxn modelId="{34848071-D9BF-4AFC-BCF7-57A39E4DCE6B}" srcId="{8A3CD807-C54F-4B40-ACDE-90F9F841CB1B}" destId="{D1B318F6-5CED-47F6-BBE6-88221FFD491B}" srcOrd="0" destOrd="0" parTransId="{7D750339-8175-4F5B-AB1E-12035436B5D1}" sibTransId="{4524E4DD-3D04-49DF-B17D-4F4855A47AC3}"/>
    <dgm:cxn modelId="{9BB33A8A-DDB9-4BF1-B3AA-91372FA13631}" type="presOf" srcId="{D1B318F6-5CED-47F6-BBE6-88221FFD491B}" destId="{C9180830-2463-4E88-8F32-856E690FFA0E}" srcOrd="0" destOrd="0" presId="urn:microsoft.com/office/officeart/2005/8/layout/process1"/>
    <dgm:cxn modelId="{FA6A9892-9E24-407F-9327-4B630CD7E5A3}" type="presOf" srcId="{43BBCAA7-DDD6-431E-BBFA-C2831FA124C9}" destId="{E00BD824-4142-4FAA-B76A-76FF63889CED}" srcOrd="0" destOrd="0" presId="urn:microsoft.com/office/officeart/2005/8/layout/process1"/>
    <dgm:cxn modelId="{2FD163AA-3F33-4649-8DCB-3FA77B7A12E4}" srcId="{8A3CD807-C54F-4B40-ACDE-90F9F841CB1B}" destId="{45BA3B43-BE18-4529-A039-D9C988414688}" srcOrd="2" destOrd="0" parTransId="{35E27675-A8DB-4698-A2F3-DF018E46131F}" sibTransId="{CD35D0E2-61AE-42E6-8F60-3BF991B64BC8}"/>
    <dgm:cxn modelId="{AEE917AF-F535-4757-97A6-5B616524E4B4}" type="presOf" srcId="{8A3CD807-C54F-4B40-ACDE-90F9F841CB1B}" destId="{E1658B3B-9BC8-48B1-BB91-39E892CAFB1E}" srcOrd="0" destOrd="0" presId="urn:microsoft.com/office/officeart/2005/8/layout/process1"/>
    <dgm:cxn modelId="{E68CA4BA-71EE-4DF5-9768-8EE9382F0B16}" type="presOf" srcId="{4C572A4B-74A5-47CA-803C-4A26FA19D23C}" destId="{7ECF45BB-17A3-4C30-B973-B977D1116406}" srcOrd="0" destOrd="0" presId="urn:microsoft.com/office/officeart/2005/8/layout/process1"/>
    <dgm:cxn modelId="{79FFC4C0-7302-4821-B94C-95DD5A96DF1B}" type="presOf" srcId="{4524E4DD-3D04-49DF-B17D-4F4855A47AC3}" destId="{963A3B97-574A-4A8A-9DD2-83C5AC816275}" srcOrd="1" destOrd="0" presId="urn:microsoft.com/office/officeart/2005/8/layout/process1"/>
    <dgm:cxn modelId="{AE9DABE8-0255-4510-AF12-EE268BB5D114}" type="presOf" srcId="{45BA3B43-BE18-4529-A039-D9C988414688}" destId="{113DB781-DC2D-4143-A4C7-1D0EDF7CD7BA}" srcOrd="0" destOrd="0" presId="urn:microsoft.com/office/officeart/2005/8/layout/process1"/>
    <dgm:cxn modelId="{61DED3A7-352B-48E1-9F24-09A910D8B669}" type="presParOf" srcId="{E1658B3B-9BC8-48B1-BB91-39E892CAFB1E}" destId="{C9180830-2463-4E88-8F32-856E690FFA0E}" srcOrd="0" destOrd="0" presId="urn:microsoft.com/office/officeart/2005/8/layout/process1"/>
    <dgm:cxn modelId="{5A722404-2ACA-46E2-A751-248ED29B2AC0}" type="presParOf" srcId="{E1658B3B-9BC8-48B1-BB91-39E892CAFB1E}" destId="{95038EFD-EF47-4D93-B08D-6801C2F8B48C}" srcOrd="1" destOrd="0" presId="urn:microsoft.com/office/officeart/2005/8/layout/process1"/>
    <dgm:cxn modelId="{71CE29A8-1441-40FD-8F53-D3EF7198FD0C}" type="presParOf" srcId="{95038EFD-EF47-4D93-B08D-6801C2F8B48C}" destId="{963A3B97-574A-4A8A-9DD2-83C5AC816275}" srcOrd="0" destOrd="0" presId="urn:microsoft.com/office/officeart/2005/8/layout/process1"/>
    <dgm:cxn modelId="{0FCA4FB9-FC80-4203-9F6F-B6478C5CEB48}" type="presParOf" srcId="{E1658B3B-9BC8-48B1-BB91-39E892CAFB1E}" destId="{E00BD824-4142-4FAA-B76A-76FF63889CED}" srcOrd="2" destOrd="0" presId="urn:microsoft.com/office/officeart/2005/8/layout/process1"/>
    <dgm:cxn modelId="{E3A6C925-CAC6-45CE-99EF-222F6045513D}" type="presParOf" srcId="{E1658B3B-9BC8-48B1-BB91-39E892CAFB1E}" destId="{7ECF45BB-17A3-4C30-B973-B977D1116406}" srcOrd="3" destOrd="0" presId="urn:microsoft.com/office/officeart/2005/8/layout/process1"/>
    <dgm:cxn modelId="{F2DF17F2-B710-4D32-89BD-68F8B8B46B75}" type="presParOf" srcId="{7ECF45BB-17A3-4C30-B973-B977D1116406}" destId="{C145BE61-BECC-48AB-B581-B8171EC49CE9}" srcOrd="0" destOrd="0" presId="urn:microsoft.com/office/officeart/2005/8/layout/process1"/>
    <dgm:cxn modelId="{BE72B2A6-D4DD-43F7-9AD0-28990616733A}" type="presParOf" srcId="{E1658B3B-9BC8-48B1-BB91-39E892CAFB1E}" destId="{113DB781-DC2D-4143-A4C7-1D0EDF7CD7B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AAC4CC-2B99-485A-A2CF-8ED5A9E00042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43ABC8-F79B-4A01-8671-7DED9E6DE496}">
      <dgm:prSet custT="1"/>
      <dgm:spPr/>
      <dgm:t>
        <a:bodyPr/>
        <a:lstStyle/>
        <a:p>
          <a:pPr algn="ctr"/>
          <a:r>
            <a:rPr lang="en-US" sz="1600" b="1" i="0" baseline="0" dirty="0"/>
            <a:t>Strong Focus on Road Scene Understanding</a:t>
          </a:r>
          <a:endParaRPr lang="en-US" sz="1600" b="1" dirty="0"/>
        </a:p>
      </dgm:t>
    </dgm:pt>
    <dgm:pt modelId="{6C79DC49-978D-4218-92FF-8E62452F9E7C}" type="parTrans" cxnId="{BA327530-102C-415F-BA7D-99DCE0A58E7E}">
      <dgm:prSet/>
      <dgm:spPr/>
      <dgm:t>
        <a:bodyPr/>
        <a:lstStyle/>
        <a:p>
          <a:endParaRPr lang="en-US"/>
        </a:p>
      </dgm:t>
    </dgm:pt>
    <dgm:pt modelId="{921EFF69-1EB6-4164-BEC9-420867197454}" type="sibTrans" cxnId="{BA327530-102C-415F-BA7D-99DCE0A58E7E}">
      <dgm:prSet/>
      <dgm:spPr/>
      <dgm:t>
        <a:bodyPr/>
        <a:lstStyle/>
        <a:p>
          <a:endParaRPr lang="en-US"/>
        </a:p>
      </dgm:t>
    </dgm:pt>
    <dgm:pt modelId="{793043AB-B2D0-4398-80EF-79854726D9F5}">
      <dgm:prSet custT="1"/>
      <dgm:spPr/>
      <dgm:t>
        <a:bodyPr/>
        <a:lstStyle/>
        <a:p>
          <a:r>
            <a:rPr lang="en-US" sz="1600" b="1" i="0" baseline="0" dirty="0"/>
            <a:t>Three Major Research Directions</a:t>
          </a:r>
          <a:endParaRPr lang="en-US" sz="1600" b="1" dirty="0"/>
        </a:p>
      </dgm:t>
    </dgm:pt>
    <dgm:pt modelId="{3E93FB7F-E426-4E40-B493-131C3E905126}" type="parTrans" cxnId="{D51939B9-0E58-4AC7-86B7-8CFE13B65BF1}">
      <dgm:prSet/>
      <dgm:spPr/>
      <dgm:t>
        <a:bodyPr/>
        <a:lstStyle/>
        <a:p>
          <a:endParaRPr lang="en-US"/>
        </a:p>
      </dgm:t>
    </dgm:pt>
    <dgm:pt modelId="{DC36BDA4-14CE-48C1-9F94-50C7238B6933}" type="sibTrans" cxnId="{D51939B9-0E58-4AC7-86B7-8CFE13B65BF1}">
      <dgm:prSet/>
      <dgm:spPr/>
      <dgm:t>
        <a:bodyPr/>
        <a:lstStyle/>
        <a:p>
          <a:endParaRPr lang="en-US"/>
        </a:p>
      </dgm:t>
    </dgm:pt>
    <dgm:pt modelId="{D9F16D4D-5590-48DA-94F9-BC78C3F4EFA7}">
      <dgm:prSet custT="1"/>
      <dgm:spPr/>
      <dgm:t>
        <a:bodyPr/>
        <a:lstStyle/>
        <a:p>
          <a:r>
            <a:rPr lang="en-US" sz="1600" b="1" i="0" baseline="0" dirty="0"/>
            <a:t>Shift Toward Handling Real-World Challenges</a:t>
          </a:r>
          <a:endParaRPr lang="en-US" sz="1600" b="1" dirty="0"/>
        </a:p>
      </dgm:t>
    </dgm:pt>
    <dgm:pt modelId="{DD5844EB-0157-4A95-8592-32230CF47108}" type="parTrans" cxnId="{227B1520-4F8E-4034-BEC1-F31EB737DACE}">
      <dgm:prSet/>
      <dgm:spPr/>
      <dgm:t>
        <a:bodyPr/>
        <a:lstStyle/>
        <a:p>
          <a:endParaRPr lang="en-US"/>
        </a:p>
      </dgm:t>
    </dgm:pt>
    <dgm:pt modelId="{0B3A7B27-7398-4616-8024-962135EA1983}" type="sibTrans" cxnId="{227B1520-4F8E-4034-BEC1-F31EB737DACE}">
      <dgm:prSet/>
      <dgm:spPr/>
      <dgm:t>
        <a:bodyPr/>
        <a:lstStyle/>
        <a:p>
          <a:endParaRPr lang="en-US"/>
        </a:p>
      </dgm:t>
    </dgm:pt>
    <dgm:pt modelId="{08D35754-E32B-4318-A40A-D4C0348E450F}">
      <dgm:prSet custT="1"/>
      <dgm:spPr/>
      <dgm:t>
        <a:bodyPr/>
        <a:lstStyle/>
        <a:p>
          <a:r>
            <a:rPr lang="en-US" sz="1600" b="1" i="0" baseline="0" dirty="0"/>
            <a:t>Use of Deep Learning Across All Papers</a:t>
          </a:r>
          <a:endParaRPr lang="en-US" sz="1600" b="1" dirty="0"/>
        </a:p>
      </dgm:t>
    </dgm:pt>
    <dgm:pt modelId="{2951DF90-DDF7-4C78-9A6E-EB282EBB04E7}" type="parTrans" cxnId="{3B3ED126-8EDA-4F51-879B-C88B8E58AC5B}">
      <dgm:prSet/>
      <dgm:spPr/>
      <dgm:t>
        <a:bodyPr/>
        <a:lstStyle/>
        <a:p>
          <a:endParaRPr lang="en-US"/>
        </a:p>
      </dgm:t>
    </dgm:pt>
    <dgm:pt modelId="{A7A03C18-DAEC-4873-8E6F-B27827AD71E0}" type="sibTrans" cxnId="{3B3ED126-8EDA-4F51-879B-C88B8E58AC5B}">
      <dgm:prSet/>
      <dgm:spPr/>
      <dgm:t>
        <a:bodyPr/>
        <a:lstStyle/>
        <a:p>
          <a:endParaRPr lang="en-US"/>
        </a:p>
      </dgm:t>
    </dgm:pt>
    <dgm:pt modelId="{7D03509E-EA64-4A4E-8253-B5B2AC0A1A9E}">
      <dgm:prSet custT="1"/>
      <dgm:spPr/>
      <dgm:t>
        <a:bodyPr/>
        <a:lstStyle/>
        <a:p>
          <a:r>
            <a:rPr lang="en-US" sz="1600" b="1" i="0" baseline="0" dirty="0"/>
            <a:t>Safety and Reliability as the Core Goal</a:t>
          </a:r>
          <a:endParaRPr lang="en-US" sz="1600" b="1" dirty="0"/>
        </a:p>
      </dgm:t>
    </dgm:pt>
    <dgm:pt modelId="{7B5A15B2-49E0-43FF-8613-21354FD0C26A}" type="parTrans" cxnId="{7E7A3C18-FD22-4F5B-B4CF-AC19ADEE487C}">
      <dgm:prSet/>
      <dgm:spPr/>
      <dgm:t>
        <a:bodyPr/>
        <a:lstStyle/>
        <a:p>
          <a:endParaRPr lang="en-US"/>
        </a:p>
      </dgm:t>
    </dgm:pt>
    <dgm:pt modelId="{CC3583FB-3600-450E-A856-35285378A427}" type="sibTrans" cxnId="{7E7A3C18-FD22-4F5B-B4CF-AC19ADEE487C}">
      <dgm:prSet/>
      <dgm:spPr/>
      <dgm:t>
        <a:bodyPr/>
        <a:lstStyle/>
        <a:p>
          <a:endParaRPr lang="en-US"/>
        </a:p>
      </dgm:t>
    </dgm:pt>
    <dgm:pt modelId="{6637206F-8AD1-45E9-B102-C64E84AFB47F}">
      <dgm:prSet custT="1"/>
      <dgm:spPr/>
      <dgm:t>
        <a:bodyPr/>
        <a:lstStyle/>
        <a:p>
          <a:r>
            <a:rPr lang="en-US" sz="1600" b="1" i="0" baseline="0" dirty="0"/>
            <a:t>Move From Simple Detection → Understanding Full Scene Context</a:t>
          </a:r>
          <a:endParaRPr lang="en-US" sz="1600" b="1" dirty="0"/>
        </a:p>
      </dgm:t>
    </dgm:pt>
    <dgm:pt modelId="{21A62B78-7884-4D5E-89D6-9A4752819D13}" type="parTrans" cxnId="{55BD2CC0-36C7-4BD3-B8C9-9CAAD576BBB3}">
      <dgm:prSet/>
      <dgm:spPr/>
      <dgm:t>
        <a:bodyPr/>
        <a:lstStyle/>
        <a:p>
          <a:endParaRPr lang="en-US"/>
        </a:p>
      </dgm:t>
    </dgm:pt>
    <dgm:pt modelId="{0C9BCEDC-FCD8-44BC-9B21-A48764A92CEE}" type="sibTrans" cxnId="{55BD2CC0-36C7-4BD3-B8C9-9CAAD576BBB3}">
      <dgm:prSet/>
      <dgm:spPr/>
      <dgm:t>
        <a:bodyPr/>
        <a:lstStyle/>
        <a:p>
          <a:endParaRPr lang="en-US"/>
        </a:p>
      </dgm:t>
    </dgm:pt>
    <dgm:pt modelId="{8C0EF9EC-870E-476F-A56C-FAB6BB6A6816}">
      <dgm:prSet custT="1"/>
      <dgm:spPr/>
      <dgm:t>
        <a:bodyPr/>
        <a:lstStyle/>
        <a:p>
          <a:r>
            <a:rPr lang="en-US" sz="1600" b="1" i="0" baseline="0" dirty="0">
              <a:latin typeface="+mn-lt"/>
            </a:rPr>
            <a:t>Increasing Focus on Unlabeled or Unknown Situation</a:t>
          </a:r>
          <a:endParaRPr lang="en-US" sz="1600" b="1" dirty="0">
            <a:latin typeface="+mn-lt"/>
          </a:endParaRPr>
        </a:p>
      </dgm:t>
    </dgm:pt>
    <dgm:pt modelId="{A61860DB-7101-417D-8550-A46AE7830148}" type="parTrans" cxnId="{EEEAF5D4-E0AF-493D-B5F9-444C0F6D3BBE}">
      <dgm:prSet/>
      <dgm:spPr/>
      <dgm:t>
        <a:bodyPr/>
        <a:lstStyle/>
        <a:p>
          <a:endParaRPr lang="en-US"/>
        </a:p>
      </dgm:t>
    </dgm:pt>
    <dgm:pt modelId="{9F0ED39D-D85F-411C-8F26-ABAB74FD137B}" type="sibTrans" cxnId="{EEEAF5D4-E0AF-493D-B5F9-444C0F6D3BBE}">
      <dgm:prSet/>
      <dgm:spPr/>
      <dgm:t>
        <a:bodyPr/>
        <a:lstStyle/>
        <a:p>
          <a:endParaRPr lang="en-US"/>
        </a:p>
      </dgm:t>
    </dgm:pt>
    <dgm:pt modelId="{05A6BFA8-D17F-44CB-90DD-2B576975408C}" type="pres">
      <dgm:prSet presAssocID="{CFAAC4CC-2B99-485A-A2CF-8ED5A9E00042}" presName="cycle" presStyleCnt="0">
        <dgm:presLayoutVars>
          <dgm:dir/>
          <dgm:resizeHandles val="exact"/>
        </dgm:presLayoutVars>
      </dgm:prSet>
      <dgm:spPr/>
    </dgm:pt>
    <dgm:pt modelId="{9C05A129-8503-47B8-A698-6CBCECB5CB38}" type="pres">
      <dgm:prSet presAssocID="{8943ABC8-F79B-4A01-8671-7DED9E6DE496}" presName="node" presStyleLbl="node1" presStyleIdx="0" presStyleCnt="7">
        <dgm:presLayoutVars>
          <dgm:bulletEnabled val="1"/>
        </dgm:presLayoutVars>
      </dgm:prSet>
      <dgm:spPr/>
    </dgm:pt>
    <dgm:pt modelId="{48F6EF36-10E0-4BAE-8883-09C794A9198E}" type="pres">
      <dgm:prSet presAssocID="{921EFF69-1EB6-4164-BEC9-420867197454}" presName="sibTrans" presStyleLbl="sibTrans2D1" presStyleIdx="0" presStyleCnt="7"/>
      <dgm:spPr/>
    </dgm:pt>
    <dgm:pt modelId="{C34E907C-4722-40AF-8111-0C4C4F27714D}" type="pres">
      <dgm:prSet presAssocID="{921EFF69-1EB6-4164-BEC9-420867197454}" presName="connectorText" presStyleLbl="sibTrans2D1" presStyleIdx="0" presStyleCnt="7"/>
      <dgm:spPr/>
    </dgm:pt>
    <dgm:pt modelId="{CB9B9CA7-1231-41DA-89F7-FD6311F8C686}" type="pres">
      <dgm:prSet presAssocID="{793043AB-B2D0-4398-80EF-79854726D9F5}" presName="node" presStyleLbl="node1" presStyleIdx="1" presStyleCnt="7">
        <dgm:presLayoutVars>
          <dgm:bulletEnabled val="1"/>
        </dgm:presLayoutVars>
      </dgm:prSet>
      <dgm:spPr/>
    </dgm:pt>
    <dgm:pt modelId="{730EADE9-D23E-4AC7-81F8-A028AEE92CC3}" type="pres">
      <dgm:prSet presAssocID="{DC36BDA4-14CE-48C1-9F94-50C7238B6933}" presName="sibTrans" presStyleLbl="sibTrans2D1" presStyleIdx="1" presStyleCnt="7"/>
      <dgm:spPr/>
    </dgm:pt>
    <dgm:pt modelId="{706742C1-F532-4E80-BFB6-0CD1AF894518}" type="pres">
      <dgm:prSet presAssocID="{DC36BDA4-14CE-48C1-9F94-50C7238B6933}" presName="connectorText" presStyleLbl="sibTrans2D1" presStyleIdx="1" presStyleCnt="7"/>
      <dgm:spPr/>
    </dgm:pt>
    <dgm:pt modelId="{265F5C60-08E9-4951-8433-68280BF03B26}" type="pres">
      <dgm:prSet presAssocID="{D9F16D4D-5590-48DA-94F9-BC78C3F4EFA7}" presName="node" presStyleLbl="node1" presStyleIdx="2" presStyleCnt="7">
        <dgm:presLayoutVars>
          <dgm:bulletEnabled val="1"/>
        </dgm:presLayoutVars>
      </dgm:prSet>
      <dgm:spPr/>
    </dgm:pt>
    <dgm:pt modelId="{839B74FD-25C1-44F0-9908-96B2570F24F9}" type="pres">
      <dgm:prSet presAssocID="{0B3A7B27-7398-4616-8024-962135EA1983}" presName="sibTrans" presStyleLbl="sibTrans2D1" presStyleIdx="2" presStyleCnt="7"/>
      <dgm:spPr/>
    </dgm:pt>
    <dgm:pt modelId="{B4BB945C-C249-4CBE-8EEA-BD04EA65C4E0}" type="pres">
      <dgm:prSet presAssocID="{0B3A7B27-7398-4616-8024-962135EA1983}" presName="connectorText" presStyleLbl="sibTrans2D1" presStyleIdx="2" presStyleCnt="7"/>
      <dgm:spPr/>
    </dgm:pt>
    <dgm:pt modelId="{B67E7FF1-CDA1-4199-A5DC-6A496D7A7B94}" type="pres">
      <dgm:prSet presAssocID="{08D35754-E32B-4318-A40A-D4C0348E450F}" presName="node" presStyleLbl="node1" presStyleIdx="3" presStyleCnt="7">
        <dgm:presLayoutVars>
          <dgm:bulletEnabled val="1"/>
        </dgm:presLayoutVars>
      </dgm:prSet>
      <dgm:spPr/>
    </dgm:pt>
    <dgm:pt modelId="{83787917-C50C-47AC-BD8E-2CE6F15FCEDB}" type="pres">
      <dgm:prSet presAssocID="{A7A03C18-DAEC-4873-8E6F-B27827AD71E0}" presName="sibTrans" presStyleLbl="sibTrans2D1" presStyleIdx="3" presStyleCnt="7"/>
      <dgm:spPr/>
    </dgm:pt>
    <dgm:pt modelId="{8C888882-C63B-47D3-89E4-22D21E28CE5A}" type="pres">
      <dgm:prSet presAssocID="{A7A03C18-DAEC-4873-8E6F-B27827AD71E0}" presName="connectorText" presStyleLbl="sibTrans2D1" presStyleIdx="3" presStyleCnt="7"/>
      <dgm:spPr/>
    </dgm:pt>
    <dgm:pt modelId="{A5751B01-7474-4A67-8C06-8A14DCE60BD4}" type="pres">
      <dgm:prSet presAssocID="{7D03509E-EA64-4A4E-8253-B5B2AC0A1A9E}" presName="node" presStyleLbl="node1" presStyleIdx="4" presStyleCnt="7">
        <dgm:presLayoutVars>
          <dgm:bulletEnabled val="1"/>
        </dgm:presLayoutVars>
      </dgm:prSet>
      <dgm:spPr/>
    </dgm:pt>
    <dgm:pt modelId="{9EE34DA7-0E4C-4723-8C8E-74BC50AF73BA}" type="pres">
      <dgm:prSet presAssocID="{CC3583FB-3600-450E-A856-35285378A427}" presName="sibTrans" presStyleLbl="sibTrans2D1" presStyleIdx="4" presStyleCnt="7"/>
      <dgm:spPr/>
    </dgm:pt>
    <dgm:pt modelId="{19DE7C85-14CA-4386-A3AF-F7F62F0C24CA}" type="pres">
      <dgm:prSet presAssocID="{CC3583FB-3600-450E-A856-35285378A427}" presName="connectorText" presStyleLbl="sibTrans2D1" presStyleIdx="4" presStyleCnt="7"/>
      <dgm:spPr/>
    </dgm:pt>
    <dgm:pt modelId="{1AA9FBD5-2E5A-4349-ABD9-275CB78AC737}" type="pres">
      <dgm:prSet presAssocID="{6637206F-8AD1-45E9-B102-C64E84AFB47F}" presName="node" presStyleLbl="node1" presStyleIdx="5" presStyleCnt="7">
        <dgm:presLayoutVars>
          <dgm:bulletEnabled val="1"/>
        </dgm:presLayoutVars>
      </dgm:prSet>
      <dgm:spPr/>
    </dgm:pt>
    <dgm:pt modelId="{F6BBB033-B7A7-4BE9-8FFC-D4149AAFF18A}" type="pres">
      <dgm:prSet presAssocID="{0C9BCEDC-FCD8-44BC-9B21-A48764A92CEE}" presName="sibTrans" presStyleLbl="sibTrans2D1" presStyleIdx="5" presStyleCnt="7"/>
      <dgm:spPr/>
    </dgm:pt>
    <dgm:pt modelId="{85D9DA84-C2C5-4C01-9E44-E98664FB7EDF}" type="pres">
      <dgm:prSet presAssocID="{0C9BCEDC-FCD8-44BC-9B21-A48764A92CEE}" presName="connectorText" presStyleLbl="sibTrans2D1" presStyleIdx="5" presStyleCnt="7"/>
      <dgm:spPr/>
    </dgm:pt>
    <dgm:pt modelId="{C650A3F9-5AE4-4DFF-96B8-9B1B6A4F4E4E}" type="pres">
      <dgm:prSet presAssocID="{8C0EF9EC-870E-476F-A56C-FAB6BB6A6816}" presName="node" presStyleLbl="node1" presStyleIdx="6" presStyleCnt="7" custRadScaleRad="106954" custRadScaleInc="-16274">
        <dgm:presLayoutVars>
          <dgm:bulletEnabled val="1"/>
        </dgm:presLayoutVars>
      </dgm:prSet>
      <dgm:spPr/>
    </dgm:pt>
    <dgm:pt modelId="{9EA6C397-F814-46CB-B0A4-A72E7EE215CD}" type="pres">
      <dgm:prSet presAssocID="{9F0ED39D-D85F-411C-8F26-ABAB74FD137B}" presName="sibTrans" presStyleLbl="sibTrans2D1" presStyleIdx="6" presStyleCnt="7"/>
      <dgm:spPr/>
    </dgm:pt>
    <dgm:pt modelId="{7BC0665F-A853-42DE-BAE4-3ABFD4A77999}" type="pres">
      <dgm:prSet presAssocID="{9F0ED39D-D85F-411C-8F26-ABAB74FD137B}" presName="connectorText" presStyleLbl="sibTrans2D1" presStyleIdx="6" presStyleCnt="7"/>
      <dgm:spPr/>
    </dgm:pt>
  </dgm:ptLst>
  <dgm:cxnLst>
    <dgm:cxn modelId="{F9166300-0559-4A68-A31C-A5CA3CE29F65}" type="presOf" srcId="{0C9BCEDC-FCD8-44BC-9B21-A48764A92CEE}" destId="{85D9DA84-C2C5-4C01-9E44-E98664FB7EDF}" srcOrd="1" destOrd="0" presId="urn:microsoft.com/office/officeart/2005/8/layout/cycle2"/>
    <dgm:cxn modelId="{66254604-5453-4E72-96F1-EFC25CD70571}" type="presOf" srcId="{6637206F-8AD1-45E9-B102-C64E84AFB47F}" destId="{1AA9FBD5-2E5A-4349-ABD9-275CB78AC737}" srcOrd="0" destOrd="0" presId="urn:microsoft.com/office/officeart/2005/8/layout/cycle2"/>
    <dgm:cxn modelId="{8B422006-EA97-40D6-92B5-AABAAF5CA9DB}" type="presOf" srcId="{8943ABC8-F79B-4A01-8671-7DED9E6DE496}" destId="{9C05A129-8503-47B8-A698-6CBCECB5CB38}" srcOrd="0" destOrd="0" presId="urn:microsoft.com/office/officeart/2005/8/layout/cycle2"/>
    <dgm:cxn modelId="{C2B5E306-321B-4E50-8F04-871F9207CEDA}" type="presOf" srcId="{793043AB-B2D0-4398-80EF-79854726D9F5}" destId="{CB9B9CA7-1231-41DA-89F7-FD6311F8C686}" srcOrd="0" destOrd="0" presId="urn:microsoft.com/office/officeart/2005/8/layout/cycle2"/>
    <dgm:cxn modelId="{229FE20B-93EF-4641-BC83-88B354A049E0}" type="presOf" srcId="{0C9BCEDC-FCD8-44BC-9B21-A48764A92CEE}" destId="{F6BBB033-B7A7-4BE9-8FFC-D4149AAFF18A}" srcOrd="0" destOrd="0" presId="urn:microsoft.com/office/officeart/2005/8/layout/cycle2"/>
    <dgm:cxn modelId="{7E7A3C18-FD22-4F5B-B4CF-AC19ADEE487C}" srcId="{CFAAC4CC-2B99-485A-A2CF-8ED5A9E00042}" destId="{7D03509E-EA64-4A4E-8253-B5B2AC0A1A9E}" srcOrd="4" destOrd="0" parTransId="{7B5A15B2-49E0-43FF-8613-21354FD0C26A}" sibTransId="{CC3583FB-3600-450E-A856-35285378A427}"/>
    <dgm:cxn modelId="{27D0C31F-AFAF-4E3A-BD52-816B4D169A7A}" type="presOf" srcId="{A7A03C18-DAEC-4873-8E6F-B27827AD71E0}" destId="{8C888882-C63B-47D3-89E4-22D21E28CE5A}" srcOrd="1" destOrd="0" presId="urn:microsoft.com/office/officeart/2005/8/layout/cycle2"/>
    <dgm:cxn modelId="{227B1520-4F8E-4034-BEC1-F31EB737DACE}" srcId="{CFAAC4CC-2B99-485A-A2CF-8ED5A9E00042}" destId="{D9F16D4D-5590-48DA-94F9-BC78C3F4EFA7}" srcOrd="2" destOrd="0" parTransId="{DD5844EB-0157-4A95-8592-32230CF47108}" sibTransId="{0B3A7B27-7398-4616-8024-962135EA1983}"/>
    <dgm:cxn modelId="{DEEC6120-F505-4F33-AAAC-DA3473450C8C}" type="presOf" srcId="{921EFF69-1EB6-4164-BEC9-420867197454}" destId="{C34E907C-4722-40AF-8111-0C4C4F27714D}" srcOrd="1" destOrd="0" presId="urn:microsoft.com/office/officeart/2005/8/layout/cycle2"/>
    <dgm:cxn modelId="{3B3ED126-8EDA-4F51-879B-C88B8E58AC5B}" srcId="{CFAAC4CC-2B99-485A-A2CF-8ED5A9E00042}" destId="{08D35754-E32B-4318-A40A-D4C0348E450F}" srcOrd="3" destOrd="0" parTransId="{2951DF90-DDF7-4C78-9A6E-EB282EBB04E7}" sibTransId="{A7A03C18-DAEC-4873-8E6F-B27827AD71E0}"/>
    <dgm:cxn modelId="{CAF0002B-4639-439F-958C-EF1CE35343A4}" type="presOf" srcId="{9F0ED39D-D85F-411C-8F26-ABAB74FD137B}" destId="{7BC0665F-A853-42DE-BAE4-3ABFD4A77999}" srcOrd="1" destOrd="0" presId="urn:microsoft.com/office/officeart/2005/8/layout/cycle2"/>
    <dgm:cxn modelId="{BA327530-102C-415F-BA7D-99DCE0A58E7E}" srcId="{CFAAC4CC-2B99-485A-A2CF-8ED5A9E00042}" destId="{8943ABC8-F79B-4A01-8671-7DED9E6DE496}" srcOrd="0" destOrd="0" parTransId="{6C79DC49-978D-4218-92FF-8E62452F9E7C}" sibTransId="{921EFF69-1EB6-4164-BEC9-420867197454}"/>
    <dgm:cxn modelId="{CAC6D033-1753-4D98-84C7-453B348BFA2D}" type="presOf" srcId="{A7A03C18-DAEC-4873-8E6F-B27827AD71E0}" destId="{83787917-C50C-47AC-BD8E-2CE6F15FCEDB}" srcOrd="0" destOrd="0" presId="urn:microsoft.com/office/officeart/2005/8/layout/cycle2"/>
    <dgm:cxn modelId="{DD60083E-059F-440E-861A-605D088AEEB4}" type="presOf" srcId="{CC3583FB-3600-450E-A856-35285378A427}" destId="{19DE7C85-14CA-4386-A3AF-F7F62F0C24CA}" srcOrd="1" destOrd="0" presId="urn:microsoft.com/office/officeart/2005/8/layout/cycle2"/>
    <dgm:cxn modelId="{81DBC064-6FDC-46AA-84DE-BDB81B8E402C}" type="presOf" srcId="{8C0EF9EC-870E-476F-A56C-FAB6BB6A6816}" destId="{C650A3F9-5AE4-4DFF-96B8-9B1B6A4F4E4E}" srcOrd="0" destOrd="0" presId="urn:microsoft.com/office/officeart/2005/8/layout/cycle2"/>
    <dgm:cxn modelId="{A8014F6A-8D98-42A4-8DDE-B64855E14674}" type="presOf" srcId="{D9F16D4D-5590-48DA-94F9-BC78C3F4EFA7}" destId="{265F5C60-08E9-4951-8433-68280BF03B26}" srcOrd="0" destOrd="0" presId="urn:microsoft.com/office/officeart/2005/8/layout/cycle2"/>
    <dgm:cxn modelId="{546ABB71-0318-4578-A8C4-E9FB3C7877BB}" type="presOf" srcId="{921EFF69-1EB6-4164-BEC9-420867197454}" destId="{48F6EF36-10E0-4BAE-8883-09C794A9198E}" srcOrd="0" destOrd="0" presId="urn:microsoft.com/office/officeart/2005/8/layout/cycle2"/>
    <dgm:cxn modelId="{3028B076-3226-4289-B8F1-8981014DBB89}" type="presOf" srcId="{7D03509E-EA64-4A4E-8253-B5B2AC0A1A9E}" destId="{A5751B01-7474-4A67-8C06-8A14DCE60BD4}" srcOrd="0" destOrd="0" presId="urn:microsoft.com/office/officeart/2005/8/layout/cycle2"/>
    <dgm:cxn modelId="{8A66EE82-B807-400C-B15C-70222EB74C30}" type="presOf" srcId="{08D35754-E32B-4318-A40A-D4C0348E450F}" destId="{B67E7FF1-CDA1-4199-A5DC-6A496D7A7B94}" srcOrd="0" destOrd="0" presId="urn:microsoft.com/office/officeart/2005/8/layout/cycle2"/>
    <dgm:cxn modelId="{6ED08E9F-E92C-43FA-9EAF-47FEE1DF3353}" type="presOf" srcId="{CC3583FB-3600-450E-A856-35285378A427}" destId="{9EE34DA7-0E4C-4723-8C8E-74BC50AF73BA}" srcOrd="0" destOrd="0" presId="urn:microsoft.com/office/officeart/2005/8/layout/cycle2"/>
    <dgm:cxn modelId="{35237DA4-2EAF-491A-9622-244DBB2FD243}" type="presOf" srcId="{0B3A7B27-7398-4616-8024-962135EA1983}" destId="{B4BB945C-C249-4CBE-8EEA-BD04EA65C4E0}" srcOrd="1" destOrd="0" presId="urn:microsoft.com/office/officeart/2005/8/layout/cycle2"/>
    <dgm:cxn modelId="{FFA5AAA9-31F1-4BDD-85BF-0DFA6CA05D83}" type="presOf" srcId="{CFAAC4CC-2B99-485A-A2CF-8ED5A9E00042}" destId="{05A6BFA8-D17F-44CB-90DD-2B576975408C}" srcOrd="0" destOrd="0" presId="urn:microsoft.com/office/officeart/2005/8/layout/cycle2"/>
    <dgm:cxn modelId="{57E59EB2-EB25-464D-B886-0C4F998CBFC1}" type="presOf" srcId="{0B3A7B27-7398-4616-8024-962135EA1983}" destId="{839B74FD-25C1-44F0-9908-96B2570F24F9}" srcOrd="0" destOrd="0" presId="urn:microsoft.com/office/officeart/2005/8/layout/cycle2"/>
    <dgm:cxn modelId="{9D33DBB7-F8F8-4D2B-A508-EBDB4E26284D}" type="presOf" srcId="{9F0ED39D-D85F-411C-8F26-ABAB74FD137B}" destId="{9EA6C397-F814-46CB-B0A4-A72E7EE215CD}" srcOrd="0" destOrd="0" presId="urn:microsoft.com/office/officeart/2005/8/layout/cycle2"/>
    <dgm:cxn modelId="{D51939B9-0E58-4AC7-86B7-8CFE13B65BF1}" srcId="{CFAAC4CC-2B99-485A-A2CF-8ED5A9E00042}" destId="{793043AB-B2D0-4398-80EF-79854726D9F5}" srcOrd="1" destOrd="0" parTransId="{3E93FB7F-E426-4E40-B493-131C3E905126}" sibTransId="{DC36BDA4-14CE-48C1-9F94-50C7238B6933}"/>
    <dgm:cxn modelId="{571E65BC-7AD9-4F28-9200-58E052371F7F}" type="presOf" srcId="{DC36BDA4-14CE-48C1-9F94-50C7238B6933}" destId="{706742C1-F532-4E80-BFB6-0CD1AF894518}" srcOrd="1" destOrd="0" presId="urn:microsoft.com/office/officeart/2005/8/layout/cycle2"/>
    <dgm:cxn modelId="{55BD2CC0-36C7-4BD3-B8C9-9CAAD576BBB3}" srcId="{CFAAC4CC-2B99-485A-A2CF-8ED5A9E00042}" destId="{6637206F-8AD1-45E9-B102-C64E84AFB47F}" srcOrd="5" destOrd="0" parTransId="{21A62B78-7884-4D5E-89D6-9A4752819D13}" sibTransId="{0C9BCEDC-FCD8-44BC-9B21-A48764A92CEE}"/>
    <dgm:cxn modelId="{EEEAF5D4-E0AF-493D-B5F9-444C0F6D3BBE}" srcId="{CFAAC4CC-2B99-485A-A2CF-8ED5A9E00042}" destId="{8C0EF9EC-870E-476F-A56C-FAB6BB6A6816}" srcOrd="6" destOrd="0" parTransId="{A61860DB-7101-417D-8550-A46AE7830148}" sibTransId="{9F0ED39D-D85F-411C-8F26-ABAB74FD137B}"/>
    <dgm:cxn modelId="{954B83F3-6AB5-437C-A188-CA47CA509181}" type="presOf" srcId="{DC36BDA4-14CE-48C1-9F94-50C7238B6933}" destId="{730EADE9-D23E-4AC7-81F8-A028AEE92CC3}" srcOrd="0" destOrd="0" presId="urn:microsoft.com/office/officeart/2005/8/layout/cycle2"/>
    <dgm:cxn modelId="{25F8247D-E46B-4AAA-8804-15E2EDE28B1C}" type="presParOf" srcId="{05A6BFA8-D17F-44CB-90DD-2B576975408C}" destId="{9C05A129-8503-47B8-A698-6CBCECB5CB38}" srcOrd="0" destOrd="0" presId="urn:microsoft.com/office/officeart/2005/8/layout/cycle2"/>
    <dgm:cxn modelId="{7C08E1E9-0327-4EFF-927D-9FD5DD6CB685}" type="presParOf" srcId="{05A6BFA8-D17F-44CB-90DD-2B576975408C}" destId="{48F6EF36-10E0-4BAE-8883-09C794A9198E}" srcOrd="1" destOrd="0" presId="urn:microsoft.com/office/officeart/2005/8/layout/cycle2"/>
    <dgm:cxn modelId="{4FBDEAF0-F6CD-4D0A-A61B-009C3C0A5DF3}" type="presParOf" srcId="{48F6EF36-10E0-4BAE-8883-09C794A9198E}" destId="{C34E907C-4722-40AF-8111-0C4C4F27714D}" srcOrd="0" destOrd="0" presId="urn:microsoft.com/office/officeart/2005/8/layout/cycle2"/>
    <dgm:cxn modelId="{61764130-9F39-4893-A2CE-776D3B0ED29F}" type="presParOf" srcId="{05A6BFA8-D17F-44CB-90DD-2B576975408C}" destId="{CB9B9CA7-1231-41DA-89F7-FD6311F8C686}" srcOrd="2" destOrd="0" presId="urn:microsoft.com/office/officeart/2005/8/layout/cycle2"/>
    <dgm:cxn modelId="{9478AE20-A4BA-4846-9040-5FF300E6DE7A}" type="presParOf" srcId="{05A6BFA8-D17F-44CB-90DD-2B576975408C}" destId="{730EADE9-D23E-4AC7-81F8-A028AEE92CC3}" srcOrd="3" destOrd="0" presId="urn:microsoft.com/office/officeart/2005/8/layout/cycle2"/>
    <dgm:cxn modelId="{80303EF1-C11F-4E7A-9980-E433C9158D1A}" type="presParOf" srcId="{730EADE9-D23E-4AC7-81F8-A028AEE92CC3}" destId="{706742C1-F532-4E80-BFB6-0CD1AF894518}" srcOrd="0" destOrd="0" presId="urn:microsoft.com/office/officeart/2005/8/layout/cycle2"/>
    <dgm:cxn modelId="{2EDC89D8-9FD3-49B8-8685-486F2BB9C8FB}" type="presParOf" srcId="{05A6BFA8-D17F-44CB-90DD-2B576975408C}" destId="{265F5C60-08E9-4951-8433-68280BF03B26}" srcOrd="4" destOrd="0" presId="urn:microsoft.com/office/officeart/2005/8/layout/cycle2"/>
    <dgm:cxn modelId="{64D7E94D-3B81-41E0-A7B8-2219C75A7681}" type="presParOf" srcId="{05A6BFA8-D17F-44CB-90DD-2B576975408C}" destId="{839B74FD-25C1-44F0-9908-96B2570F24F9}" srcOrd="5" destOrd="0" presId="urn:microsoft.com/office/officeart/2005/8/layout/cycle2"/>
    <dgm:cxn modelId="{40CE0C28-368F-4AE5-B28E-DFB2599A4956}" type="presParOf" srcId="{839B74FD-25C1-44F0-9908-96B2570F24F9}" destId="{B4BB945C-C249-4CBE-8EEA-BD04EA65C4E0}" srcOrd="0" destOrd="0" presId="urn:microsoft.com/office/officeart/2005/8/layout/cycle2"/>
    <dgm:cxn modelId="{1B42ADA5-3439-483F-8CA6-93D64DC641B6}" type="presParOf" srcId="{05A6BFA8-D17F-44CB-90DD-2B576975408C}" destId="{B67E7FF1-CDA1-4199-A5DC-6A496D7A7B94}" srcOrd="6" destOrd="0" presId="urn:microsoft.com/office/officeart/2005/8/layout/cycle2"/>
    <dgm:cxn modelId="{416F0463-DD90-4259-9212-E63EBD56BB37}" type="presParOf" srcId="{05A6BFA8-D17F-44CB-90DD-2B576975408C}" destId="{83787917-C50C-47AC-BD8E-2CE6F15FCEDB}" srcOrd="7" destOrd="0" presId="urn:microsoft.com/office/officeart/2005/8/layout/cycle2"/>
    <dgm:cxn modelId="{9DE7D046-C7E8-4729-AED2-62D494B2A563}" type="presParOf" srcId="{83787917-C50C-47AC-BD8E-2CE6F15FCEDB}" destId="{8C888882-C63B-47D3-89E4-22D21E28CE5A}" srcOrd="0" destOrd="0" presId="urn:microsoft.com/office/officeart/2005/8/layout/cycle2"/>
    <dgm:cxn modelId="{72967908-0705-4C36-9347-5DB043FFA817}" type="presParOf" srcId="{05A6BFA8-D17F-44CB-90DD-2B576975408C}" destId="{A5751B01-7474-4A67-8C06-8A14DCE60BD4}" srcOrd="8" destOrd="0" presId="urn:microsoft.com/office/officeart/2005/8/layout/cycle2"/>
    <dgm:cxn modelId="{C7AA3017-6079-4B4E-A7CD-BB9EB442AB79}" type="presParOf" srcId="{05A6BFA8-D17F-44CB-90DD-2B576975408C}" destId="{9EE34DA7-0E4C-4723-8C8E-74BC50AF73BA}" srcOrd="9" destOrd="0" presId="urn:microsoft.com/office/officeart/2005/8/layout/cycle2"/>
    <dgm:cxn modelId="{FD63CACF-4676-4B8A-ACA4-41D9DA9BE178}" type="presParOf" srcId="{9EE34DA7-0E4C-4723-8C8E-74BC50AF73BA}" destId="{19DE7C85-14CA-4386-A3AF-F7F62F0C24CA}" srcOrd="0" destOrd="0" presId="urn:microsoft.com/office/officeart/2005/8/layout/cycle2"/>
    <dgm:cxn modelId="{054A7E66-C8D8-44D2-85E2-623516118490}" type="presParOf" srcId="{05A6BFA8-D17F-44CB-90DD-2B576975408C}" destId="{1AA9FBD5-2E5A-4349-ABD9-275CB78AC737}" srcOrd="10" destOrd="0" presId="urn:microsoft.com/office/officeart/2005/8/layout/cycle2"/>
    <dgm:cxn modelId="{A76C18B9-7F17-4D00-A7CF-B96CDAAE265B}" type="presParOf" srcId="{05A6BFA8-D17F-44CB-90DD-2B576975408C}" destId="{F6BBB033-B7A7-4BE9-8FFC-D4149AAFF18A}" srcOrd="11" destOrd="0" presId="urn:microsoft.com/office/officeart/2005/8/layout/cycle2"/>
    <dgm:cxn modelId="{236FE24C-714E-42D9-99E6-A7A99C006F95}" type="presParOf" srcId="{F6BBB033-B7A7-4BE9-8FFC-D4149AAFF18A}" destId="{85D9DA84-C2C5-4C01-9E44-E98664FB7EDF}" srcOrd="0" destOrd="0" presId="urn:microsoft.com/office/officeart/2005/8/layout/cycle2"/>
    <dgm:cxn modelId="{85AD3BFC-79BC-4C4F-AA85-E68FC3262C60}" type="presParOf" srcId="{05A6BFA8-D17F-44CB-90DD-2B576975408C}" destId="{C650A3F9-5AE4-4DFF-96B8-9B1B6A4F4E4E}" srcOrd="12" destOrd="0" presId="urn:microsoft.com/office/officeart/2005/8/layout/cycle2"/>
    <dgm:cxn modelId="{25722909-6BFF-42DB-BEB3-936C2ED348A7}" type="presParOf" srcId="{05A6BFA8-D17F-44CB-90DD-2B576975408C}" destId="{9EA6C397-F814-46CB-B0A4-A72E7EE215CD}" srcOrd="13" destOrd="0" presId="urn:microsoft.com/office/officeart/2005/8/layout/cycle2"/>
    <dgm:cxn modelId="{1455C5CC-5568-458B-91CD-4C0029091328}" type="presParOf" srcId="{9EA6C397-F814-46CB-B0A4-A72E7EE215CD}" destId="{7BC0665F-A853-42DE-BAE4-3ABFD4A7799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180830-2463-4E88-8F32-856E690FFA0E}">
      <dsp:nvSpPr>
        <dsp:cNvPr id="0" name=""/>
        <dsp:cNvSpPr/>
      </dsp:nvSpPr>
      <dsp:spPr>
        <a:xfrm>
          <a:off x="146538" y="1440714"/>
          <a:ext cx="3831490" cy="22988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latin typeface="+mn-lt"/>
            </a:rPr>
            <a:t>A: Detection &amp; Segmentation</a:t>
          </a:r>
          <a:endParaRPr lang="en-US" sz="4300" kern="1200" dirty="0">
            <a:latin typeface="+mn-lt"/>
          </a:endParaRPr>
        </a:p>
      </dsp:txBody>
      <dsp:txXfrm>
        <a:off x="213870" y="1508046"/>
        <a:ext cx="3696826" cy="2164230"/>
      </dsp:txXfrm>
    </dsp:sp>
    <dsp:sp modelId="{95038EFD-EF47-4D93-B08D-6801C2F8B48C}">
      <dsp:nvSpPr>
        <dsp:cNvPr id="0" name=""/>
        <dsp:cNvSpPr/>
      </dsp:nvSpPr>
      <dsp:spPr>
        <a:xfrm rot="21535926">
          <a:off x="4327683" y="2065918"/>
          <a:ext cx="741533" cy="9502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4327702" y="2258033"/>
        <a:ext cx="519073" cy="570125"/>
      </dsp:txXfrm>
    </dsp:sp>
    <dsp:sp modelId="{E00BD824-4142-4FAA-B76A-76FF63889CED}">
      <dsp:nvSpPr>
        <dsp:cNvPr id="0" name=""/>
        <dsp:cNvSpPr/>
      </dsp:nvSpPr>
      <dsp:spPr>
        <a:xfrm>
          <a:off x="5376905" y="1343218"/>
          <a:ext cx="3831490" cy="22988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/>
            <a:t>B: Anomaly &amp; Accident Detection</a:t>
          </a:r>
          <a:endParaRPr lang="en-US" sz="4300" kern="1200" dirty="0"/>
        </a:p>
      </dsp:txBody>
      <dsp:txXfrm>
        <a:off x="5444237" y="1410550"/>
        <a:ext cx="3696826" cy="2164230"/>
      </dsp:txXfrm>
    </dsp:sp>
    <dsp:sp modelId="{7ECF45BB-17A3-4C30-B973-B977D1116406}">
      <dsp:nvSpPr>
        <dsp:cNvPr id="0" name=""/>
        <dsp:cNvSpPr/>
      </dsp:nvSpPr>
      <dsp:spPr>
        <a:xfrm>
          <a:off x="9591545" y="2017561"/>
          <a:ext cx="812275" cy="9502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9591545" y="2207603"/>
        <a:ext cx="568593" cy="570125"/>
      </dsp:txXfrm>
    </dsp:sp>
    <dsp:sp modelId="{113DB781-DC2D-4143-A4C7-1D0EDF7CD7BA}">
      <dsp:nvSpPr>
        <dsp:cNvPr id="0" name=""/>
        <dsp:cNvSpPr/>
      </dsp:nvSpPr>
      <dsp:spPr>
        <a:xfrm>
          <a:off x="10740992" y="1343218"/>
          <a:ext cx="3831490" cy="22988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/>
            <a:t>C:Environment &amp; Condition Analysis</a:t>
          </a:r>
          <a:endParaRPr lang="en-US" sz="4300" kern="1200" dirty="0"/>
        </a:p>
      </dsp:txBody>
      <dsp:txXfrm>
        <a:off x="10808324" y="1410550"/>
        <a:ext cx="3696826" cy="2164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5A129-8503-47B8-A698-6CBCECB5CB38}">
      <dsp:nvSpPr>
        <dsp:cNvPr id="0" name=""/>
        <dsp:cNvSpPr/>
      </dsp:nvSpPr>
      <dsp:spPr>
        <a:xfrm>
          <a:off x="5443321" y="92"/>
          <a:ext cx="1752724" cy="17527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Strong Focus on Road Scene Understanding</a:t>
          </a:r>
          <a:endParaRPr lang="en-US" sz="1600" b="1" kern="1200" dirty="0"/>
        </a:p>
      </dsp:txBody>
      <dsp:txXfrm>
        <a:off x="5700001" y="256772"/>
        <a:ext cx="1239364" cy="1239364"/>
      </dsp:txXfrm>
    </dsp:sp>
    <dsp:sp modelId="{48F6EF36-10E0-4BAE-8883-09C794A9198E}">
      <dsp:nvSpPr>
        <dsp:cNvPr id="0" name=""/>
        <dsp:cNvSpPr/>
      </dsp:nvSpPr>
      <dsp:spPr>
        <a:xfrm rot="1542857">
          <a:off x="7260712" y="1146249"/>
          <a:ext cx="466768" cy="5915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267646" y="1234180"/>
        <a:ext cx="326738" cy="354926"/>
      </dsp:txXfrm>
    </dsp:sp>
    <dsp:sp modelId="{CB9B9CA7-1231-41DA-89F7-FD6311F8C686}">
      <dsp:nvSpPr>
        <dsp:cNvPr id="0" name=""/>
        <dsp:cNvSpPr/>
      </dsp:nvSpPr>
      <dsp:spPr>
        <a:xfrm>
          <a:off x="7815951" y="1142690"/>
          <a:ext cx="1752724" cy="17527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Three Major Research Directions</a:t>
          </a:r>
          <a:endParaRPr lang="en-US" sz="1600" b="1" kern="1200" dirty="0"/>
        </a:p>
      </dsp:txBody>
      <dsp:txXfrm>
        <a:off x="8072631" y="1399370"/>
        <a:ext cx="1239364" cy="1239364"/>
      </dsp:txXfrm>
    </dsp:sp>
    <dsp:sp modelId="{730EADE9-D23E-4AC7-81F8-A028AEE92CC3}">
      <dsp:nvSpPr>
        <dsp:cNvPr id="0" name=""/>
        <dsp:cNvSpPr/>
      </dsp:nvSpPr>
      <dsp:spPr>
        <a:xfrm rot="4628571">
          <a:off x="8748985" y="2994099"/>
          <a:ext cx="466768" cy="5915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803420" y="3044148"/>
        <a:ext cx="326738" cy="354926"/>
      </dsp:txXfrm>
    </dsp:sp>
    <dsp:sp modelId="{265F5C60-08E9-4951-8433-68280BF03B26}">
      <dsp:nvSpPr>
        <dsp:cNvPr id="0" name=""/>
        <dsp:cNvSpPr/>
      </dsp:nvSpPr>
      <dsp:spPr>
        <a:xfrm>
          <a:off x="8401942" y="3710085"/>
          <a:ext cx="1752724" cy="17527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Shift Toward Handling Real-World Challenges</a:t>
          </a:r>
          <a:endParaRPr lang="en-US" sz="1600" b="1" kern="1200" dirty="0"/>
        </a:p>
      </dsp:txBody>
      <dsp:txXfrm>
        <a:off x="8658622" y="3966765"/>
        <a:ext cx="1239364" cy="1239364"/>
      </dsp:txXfrm>
    </dsp:sp>
    <dsp:sp modelId="{839B74FD-25C1-44F0-9908-96B2570F24F9}">
      <dsp:nvSpPr>
        <dsp:cNvPr id="0" name=""/>
        <dsp:cNvSpPr/>
      </dsp:nvSpPr>
      <dsp:spPr>
        <a:xfrm rot="7714286">
          <a:off x="8232201" y="5309793"/>
          <a:ext cx="466768" cy="5915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10800000">
        <a:off x="8345870" y="5373362"/>
        <a:ext cx="326738" cy="354926"/>
      </dsp:txXfrm>
    </dsp:sp>
    <dsp:sp modelId="{B67E7FF1-CDA1-4199-A5DC-6A496D7A7B94}">
      <dsp:nvSpPr>
        <dsp:cNvPr id="0" name=""/>
        <dsp:cNvSpPr/>
      </dsp:nvSpPr>
      <dsp:spPr>
        <a:xfrm>
          <a:off x="6760031" y="5768976"/>
          <a:ext cx="1752724" cy="17527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Use of Deep Learning Across All Papers</a:t>
          </a:r>
          <a:endParaRPr lang="en-US" sz="1600" b="1" kern="1200" dirty="0"/>
        </a:p>
      </dsp:txBody>
      <dsp:txXfrm>
        <a:off x="7016711" y="6025656"/>
        <a:ext cx="1239364" cy="1239364"/>
      </dsp:txXfrm>
    </dsp:sp>
    <dsp:sp modelId="{83787917-C50C-47AC-BD8E-2CE6F15FCEDB}">
      <dsp:nvSpPr>
        <dsp:cNvPr id="0" name=""/>
        <dsp:cNvSpPr/>
      </dsp:nvSpPr>
      <dsp:spPr>
        <a:xfrm rot="10800000">
          <a:off x="6099510" y="6349567"/>
          <a:ext cx="466768" cy="5915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10800000">
        <a:off x="6239540" y="6467876"/>
        <a:ext cx="326738" cy="354926"/>
      </dsp:txXfrm>
    </dsp:sp>
    <dsp:sp modelId="{A5751B01-7474-4A67-8C06-8A14DCE60BD4}">
      <dsp:nvSpPr>
        <dsp:cNvPr id="0" name=""/>
        <dsp:cNvSpPr/>
      </dsp:nvSpPr>
      <dsp:spPr>
        <a:xfrm>
          <a:off x="4126611" y="5768976"/>
          <a:ext cx="1752724" cy="17527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Safety and Reliability as the Core Goal</a:t>
          </a:r>
          <a:endParaRPr lang="en-US" sz="1600" b="1" kern="1200" dirty="0"/>
        </a:p>
      </dsp:txBody>
      <dsp:txXfrm>
        <a:off x="4383291" y="6025656"/>
        <a:ext cx="1239364" cy="1239364"/>
      </dsp:txXfrm>
    </dsp:sp>
    <dsp:sp modelId="{9EE34DA7-0E4C-4723-8C8E-74BC50AF73BA}">
      <dsp:nvSpPr>
        <dsp:cNvPr id="0" name=""/>
        <dsp:cNvSpPr/>
      </dsp:nvSpPr>
      <dsp:spPr>
        <a:xfrm rot="13885714">
          <a:off x="3956870" y="5330449"/>
          <a:ext cx="466768" cy="5915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10800000">
        <a:off x="4070539" y="5503498"/>
        <a:ext cx="326738" cy="354926"/>
      </dsp:txXfrm>
    </dsp:sp>
    <dsp:sp modelId="{1AA9FBD5-2E5A-4349-ABD9-275CB78AC737}">
      <dsp:nvSpPr>
        <dsp:cNvPr id="0" name=""/>
        <dsp:cNvSpPr/>
      </dsp:nvSpPr>
      <dsp:spPr>
        <a:xfrm>
          <a:off x="2484700" y="3710085"/>
          <a:ext cx="1752724" cy="17527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Move From Simple Detection → Understanding Full Scene Context</a:t>
          </a:r>
          <a:endParaRPr lang="en-US" sz="1600" b="1" kern="1200" dirty="0"/>
        </a:p>
      </dsp:txBody>
      <dsp:txXfrm>
        <a:off x="2741380" y="3966765"/>
        <a:ext cx="1239364" cy="1239364"/>
      </dsp:txXfrm>
    </dsp:sp>
    <dsp:sp modelId="{F6BBB033-B7A7-4BE9-8FFC-D4149AAFF18A}">
      <dsp:nvSpPr>
        <dsp:cNvPr id="0" name=""/>
        <dsp:cNvSpPr/>
      </dsp:nvSpPr>
      <dsp:spPr>
        <a:xfrm rot="16582278">
          <a:off x="3295439" y="3047973"/>
          <a:ext cx="408770" cy="5915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3349950" y="3227219"/>
        <a:ext cx="286139" cy="354926"/>
      </dsp:txXfrm>
    </dsp:sp>
    <dsp:sp modelId="{C650A3F9-5AE4-4DFF-96B8-9B1B6A4F4E4E}">
      <dsp:nvSpPr>
        <dsp:cNvPr id="0" name=""/>
        <dsp:cNvSpPr/>
      </dsp:nvSpPr>
      <dsp:spPr>
        <a:xfrm>
          <a:off x="2764790" y="1201685"/>
          <a:ext cx="1752724" cy="17527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latin typeface="+mn-lt"/>
            </a:rPr>
            <a:t>Increasing Focus on Unlabeled or Unknown Situation</a:t>
          </a:r>
          <a:endParaRPr lang="en-US" sz="1600" b="1" kern="1200" dirty="0">
            <a:latin typeface="+mn-lt"/>
          </a:endParaRPr>
        </a:p>
      </dsp:txBody>
      <dsp:txXfrm>
        <a:off x="3021470" y="1458365"/>
        <a:ext cx="1239364" cy="1239364"/>
      </dsp:txXfrm>
    </dsp:sp>
    <dsp:sp modelId="{9EA6C397-F814-46CB-B0A4-A72E7EE215CD}">
      <dsp:nvSpPr>
        <dsp:cNvPr id="0" name=""/>
        <dsp:cNvSpPr/>
      </dsp:nvSpPr>
      <dsp:spPr>
        <a:xfrm rot="20150335">
          <a:off x="4650739" y="1188741"/>
          <a:ext cx="626978" cy="5915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658512" y="1343368"/>
        <a:ext cx="449515" cy="3549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1CA57-189C-4816-AA3C-7D999AF9C31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73D60-5212-425F-9C62-66AD1793C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6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73D60-5212-425F-9C62-66AD1793C4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29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73D60-5212-425F-9C62-66AD1793C40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6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26" y="0"/>
            <a:ext cx="2224257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69352" y="0"/>
            <a:ext cx="8324850" cy="623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6000" b="1" spc="-89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/>
                <a:ea typeface="Telegraf Bold"/>
                <a:cs typeface="Telegraf Bold"/>
                <a:sym typeface="Telegraf Bold"/>
              </a:rPr>
              <a:t> </a:t>
            </a:r>
            <a:r>
              <a:rPr lang="en-US" sz="6000" b="1" spc="-89" dirty="0">
                <a:solidFill>
                  <a:srgbClr val="FFFFFF"/>
                </a:solidFill>
                <a:effectLst>
                  <a:outerShdw blurRad="50800" dist="50800" dir="1800000" algn="ctr" rotWithShape="0">
                    <a:srgbClr val="000000">
                      <a:alpha val="43137"/>
                    </a:srgbClr>
                  </a:outerShdw>
                </a:effectLst>
                <a:latin typeface="Arial Black"/>
                <a:ea typeface="Telegraf Bold"/>
                <a:cs typeface="Telegraf Bold"/>
                <a:sym typeface="Telegraf Bold"/>
              </a:rPr>
              <a:t>“An Overview of Research Papers Analysis Regarding Road Scene Analysis”</a:t>
            </a:r>
            <a:endParaRPr lang="en-US" sz="6000" dirty="0">
              <a:effectLst>
                <a:outerShdw blurRad="50800" dist="50800" dir="1800000" algn="ctr" rotWithShape="0">
                  <a:srgbClr val="000000">
                    <a:alpha val="43137"/>
                  </a:srgbClr>
                </a:outerShdw>
              </a:effectLst>
              <a:latin typeface="Arial Black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233B07-D651-4A95-8DE1-608F09EFF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85" y="632229"/>
            <a:ext cx="3736764" cy="3158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A858A-FB01-8042-5622-006D173E1CC2}"/>
              </a:ext>
            </a:extLst>
          </p:cNvPr>
          <p:cNvSpPr txBox="1"/>
          <p:nvPr/>
        </p:nvSpPr>
        <p:spPr>
          <a:xfrm>
            <a:off x="9343561" y="8406883"/>
            <a:ext cx="744537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Presented By : Anika Tahasin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9B78C4-A645-4D31-CD1E-04B69EF01842}"/>
              </a:ext>
            </a:extLst>
          </p:cNvPr>
          <p:cNvSpPr txBox="1"/>
          <p:nvPr/>
        </p:nvSpPr>
        <p:spPr>
          <a:xfrm>
            <a:off x="9343561" y="7550623"/>
            <a:ext cx="744537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Supervisor : MD. Tamim Hossain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C5D2-329F-59EE-53CC-B9CE420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38BA6F-B3A8-DB77-6AD1-BED855837DA4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D76E98-1422-39C7-41CE-5E7F33C67309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9F330C-C601-4360-582F-A46C8B534C0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DF0BB8A-D2BD-830B-7C85-CF892D90F2F1}"/>
              </a:ext>
            </a:extLst>
          </p:cNvPr>
          <p:cNvGrpSpPr/>
          <p:nvPr/>
        </p:nvGrpSpPr>
        <p:grpSpPr>
          <a:xfrm>
            <a:off x="718039" y="-11723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12AAD9C7-8090-183B-4C62-FDB86B6524C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80F482A1-7074-A0DB-AEEE-F8BA686171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3EC679C3-3583-BF66-9EBC-EF5C058F8693}"/>
              </a:ext>
            </a:extLst>
          </p:cNvPr>
          <p:cNvSpPr txBox="1"/>
          <p:nvPr/>
        </p:nvSpPr>
        <p:spPr>
          <a:xfrm>
            <a:off x="1863728" y="177359"/>
            <a:ext cx="6886575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Studied Papers &amp; Identified Categories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66E4E96E-E685-2927-3285-7333F374EABB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F554A56A-59A8-929C-0C13-AEE01A854C3F}"/>
              </a:ext>
            </a:extLst>
          </p:cNvPr>
          <p:cNvSpPr/>
          <p:nvPr/>
        </p:nvSpPr>
        <p:spPr>
          <a:xfrm flipV="1">
            <a:off x="1055743" y="9704177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 descr="Premier University | Center of Exellence for Quality Learning">
            <a:extLst>
              <a:ext uri="{FF2B5EF4-FFF2-40B4-BE49-F238E27FC236}">
                <a16:creationId xmlns:a16="http://schemas.microsoft.com/office/drawing/2014/main" id="{1EF7CF9B-3900-C46F-A0B6-83B7F3ED17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69B2AA79-62C9-F9D6-087D-8759CD0A30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3115190"/>
              </p:ext>
            </p:extLst>
          </p:nvPr>
        </p:nvGraphicFramePr>
        <p:xfrm>
          <a:off x="2154117" y="2875747"/>
          <a:ext cx="14585302" cy="4985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7353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C5D2-329F-59EE-53CC-B9CE420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38BA6F-B3A8-DB77-6AD1-BED855837DA4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D76E98-1422-39C7-41CE-5E7F33C67309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9F330C-C601-4360-582F-A46C8B534C0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DF0BB8A-D2BD-830B-7C85-CF892D90F2F1}"/>
              </a:ext>
            </a:extLst>
          </p:cNvPr>
          <p:cNvGrpSpPr/>
          <p:nvPr/>
        </p:nvGrpSpPr>
        <p:grpSpPr>
          <a:xfrm>
            <a:off x="718039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12AAD9C7-8090-183B-4C62-FDB86B6524C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80F482A1-7074-A0DB-AEEE-F8BA686171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3EC679C3-3583-BF66-9EBC-EF5C058F8693}"/>
              </a:ext>
            </a:extLst>
          </p:cNvPr>
          <p:cNvSpPr txBox="1"/>
          <p:nvPr/>
        </p:nvSpPr>
        <p:spPr>
          <a:xfrm>
            <a:off x="1863728" y="177359"/>
            <a:ext cx="6886575" cy="943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 Identified Patterns</a:t>
            </a:r>
            <a:endParaRPr lang="en-US" sz="6000" b="1" dirty="0">
              <a:solidFill>
                <a:srgbClr val="0070C0"/>
              </a:solidFill>
              <a:latin typeface="Arial Black"/>
            </a:endParaRP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66E4E96E-E685-2927-3285-7333F374EABB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F554A56A-59A8-929C-0C13-AEE01A854C3F}"/>
              </a:ext>
            </a:extLst>
          </p:cNvPr>
          <p:cNvSpPr/>
          <p:nvPr/>
        </p:nvSpPr>
        <p:spPr>
          <a:xfrm flipV="1">
            <a:off x="1055743" y="9704177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 descr="Premier University | Center of Exellence for Quality Learning">
            <a:extLst>
              <a:ext uri="{FF2B5EF4-FFF2-40B4-BE49-F238E27FC236}">
                <a16:creationId xmlns:a16="http://schemas.microsoft.com/office/drawing/2014/main" id="{1EF7CF9B-3900-C46F-A0B6-83B7F3ED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AF9E8E1D-4D6D-70BE-76B6-0B898AB7F5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227474"/>
              </p:ext>
            </p:extLst>
          </p:nvPr>
        </p:nvGraphicFramePr>
        <p:xfrm>
          <a:off x="4232788" y="1150259"/>
          <a:ext cx="12639368" cy="7521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471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766690" y="436506"/>
            <a:ext cx="13335658" cy="3139860"/>
            <a:chOff x="452317" y="-693817"/>
            <a:chExt cx="17780879" cy="4186479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452317" y="-693817"/>
              <a:ext cx="17780879" cy="25742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699"/>
                </a:lnSpc>
              </a:pPr>
              <a:r>
                <a:rPr lang="en-US" sz="6000" b="1" dirty="0">
                  <a:solidFill>
                    <a:srgbClr val="0070C0"/>
                  </a:solidFill>
                </a:rPr>
                <a:t>Category A: Detection &amp; Segmentation</a:t>
              </a:r>
              <a:endParaRPr lang="en-US" sz="6000" dirty="0">
                <a:solidFill>
                  <a:srgbClr val="0070C0"/>
                </a:solidFill>
              </a:endParaRPr>
            </a:p>
            <a:p>
              <a:pPr marL="0" lvl="0" indent="0" algn="l">
                <a:lnSpc>
                  <a:spcPts val="7699"/>
                </a:lnSpc>
              </a:pPr>
              <a:endParaRPr lang="en-US" sz="6000" b="1" spc="-69" dirty="0">
                <a:solidFill>
                  <a:srgbClr val="0070C0"/>
                </a:solidFill>
                <a:latin typeface="Arial Black"/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452317" y="2888907"/>
              <a:ext cx="9182100" cy="60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4000" b="1" u="sng" spc="-30" dirty="0"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4000" b="1" spc="-30" dirty="0"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5B3EAD88-FC20-5360-1AB0-219EA0646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853" y="3780320"/>
            <a:ext cx="553091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Accurate object detection (cars, bikes, pedestrians) is the foundation of road scene understanding.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Semantic segmentation helps identify drivable vs. non-drivable areas.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3D layout prediction helps understand hidden or occluded regions.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Models can perform well even in unstructured roads such as villages, narrow lanes, and traffic-heavy Bangladeshi roads.</a:t>
            </a:r>
          </a:p>
        </p:txBody>
      </p:sp>
    </p:spTree>
    <p:extLst>
      <p:ext uri="{BB962C8B-B14F-4D97-AF65-F5344CB8AC3E}">
        <p14:creationId xmlns:p14="http://schemas.microsoft.com/office/powerpoint/2010/main" val="175070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183712" y="4519972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500" b="1" dirty="0">
                <a:solidFill>
                  <a:schemeClr val="bg1"/>
                </a:solidFill>
              </a:rPr>
              <a:t>***</a:t>
            </a:r>
            <a:r>
              <a:rPr lang="en-GB" sz="3000" b="1" dirty="0">
                <a:solidFill>
                  <a:schemeClr val="bg1"/>
                </a:solidFill>
              </a:rPr>
              <a:t>Examples of training sets. Set (b) was generated for the </a:t>
            </a:r>
            <a:r>
              <a:rPr lang="en-GB" sz="3000" b="1" dirty="0" err="1">
                <a:solidFill>
                  <a:schemeClr val="bg1"/>
                </a:solidFill>
              </a:rPr>
              <a:t>MultiTask</a:t>
            </a:r>
            <a:r>
              <a:rPr lang="en-GB" sz="3000" b="1" dirty="0">
                <a:solidFill>
                  <a:schemeClr val="bg1"/>
                </a:solidFill>
              </a:rPr>
              <a:t> V3 network only, and sets (a), (c) and (d) for all models</a:t>
            </a: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Example &amp; Findings (Category A)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7189227" y="6527489"/>
            <a:ext cx="3060251" cy="4005384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196265" y="2214323"/>
            <a:ext cx="749606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chemeClr val="bg1"/>
                </a:solidFill>
              </a:rPr>
              <a:t>Example:</a:t>
            </a:r>
            <a:br>
              <a:rPr lang="en-GB" sz="3000" b="1" dirty="0">
                <a:solidFill>
                  <a:schemeClr val="bg1"/>
                </a:solidFill>
              </a:rPr>
            </a:br>
            <a:r>
              <a:rPr lang="en-GB" sz="3000" b="1" dirty="0">
                <a:solidFill>
                  <a:schemeClr val="bg1"/>
                </a:solidFill>
              </a:rPr>
              <a:t>Model detects a pedestrian, a rickshaw, and a pothole in a bike-mounted video.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Bounding boxes show the objects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Lane markings are segmented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The system identifies that the bike is approaching a pothole within 2 seconds</a:t>
            </a:r>
          </a:p>
          <a:p>
            <a:endParaRPr lang="en-US" sz="3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0A4626-CE0A-0B13-5D1B-431D24B76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181" y="1703176"/>
            <a:ext cx="7281547" cy="671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1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231965"/>
            <a:ext cx="6886573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96E463BD-C036-F60B-05EC-E48A80CF0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182" y="4455112"/>
            <a:ext cx="1312606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/>
              <a:t>1. Object Detection (Pedestrian, Vehicle, Pothole, Animal)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   Use YOLOv8/YOLOv9/YOLOv11 (nano or small model)</a:t>
            </a:r>
          </a:p>
          <a:p>
            <a:r>
              <a:rPr lang="en-US" sz="3000" b="1" dirty="0"/>
              <a:t>2. Lane &amp; Road Segmentation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  Use DeepLabv3, Fast-SCNN, or YOLO-World segmentation</a:t>
            </a:r>
          </a:p>
          <a:p>
            <a:r>
              <a:rPr lang="en-US" sz="3000" b="1" dirty="0"/>
              <a:t>3.Object Tracking (to detect actions over time)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  Use </a:t>
            </a:r>
            <a:r>
              <a:rPr lang="en-US" sz="3000" b="1" dirty="0" err="1"/>
              <a:t>DeepSORT</a:t>
            </a:r>
            <a:r>
              <a:rPr lang="en-US" sz="3000" b="1" dirty="0"/>
              <a:t> or </a:t>
            </a:r>
            <a:r>
              <a:rPr lang="en-US" sz="3000" b="1" dirty="0" err="1"/>
              <a:t>ByteTrack</a:t>
            </a:r>
            <a:endParaRPr lang="en-US" sz="3000" b="1" dirty="0"/>
          </a:p>
          <a:p>
            <a:r>
              <a:rPr lang="en-US" sz="3000" b="1" dirty="0"/>
              <a:t>4. Action Recognition (Frequent / Moderate / Rare)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 Combine detection + tracking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9A5B2E1-0981-3801-DF12-CB3C6AB6E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0693" y="2460317"/>
            <a:ext cx="140621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Category A papers build the foundation for any road scene analysis system.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They ensure the model can see, classify, and understand the environment before predicting actions or risks.</a:t>
            </a:r>
          </a:p>
        </p:txBody>
      </p:sp>
    </p:spTree>
    <p:extLst>
      <p:ext uri="{BB962C8B-B14F-4D97-AF65-F5344CB8AC3E}">
        <p14:creationId xmlns:p14="http://schemas.microsoft.com/office/powerpoint/2010/main" val="419924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899428" y="250090"/>
            <a:ext cx="12421256" cy="2758533"/>
            <a:chOff x="452318" y="-693817"/>
            <a:chExt cx="16561677" cy="3678043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452318" y="-693817"/>
              <a:ext cx="16522349" cy="25747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7699"/>
                </a:lnSpc>
              </a:pPr>
              <a:r>
                <a:rPr lang="en-GB" sz="6000" b="1" dirty="0">
                  <a:solidFill>
                    <a:srgbClr val="0070C0"/>
                  </a:solidFill>
                </a:rPr>
                <a:t>Category B: Anomaly &amp; Accident Detection</a:t>
              </a:r>
              <a:endParaRPr lang="en-US" sz="6000" b="1" spc="-69" dirty="0">
                <a:solidFill>
                  <a:srgbClr val="0070C0"/>
                </a:solidFill>
                <a:latin typeface="Arial Black"/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7831895" y="2398510"/>
              <a:ext cx="9182100" cy="5857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600" b="1" u="sng" spc="-30" dirty="0"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u="sng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  <a:endParaRPr lang="en-US" sz="3000" b="1" spc="-30" dirty="0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A32EE75F-B6FF-AB14-3A04-C2C7548A6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239" y="3396829"/>
            <a:ext cx="1100920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Unsupervised models can detect abnormal events without needing labeled accident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Models capture unusual motion patterns, sudden stops, sharp turns, and collisions.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Systems can identify unknown objects and rare events that normal detectors miss.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First-person camera views (helmet, dashcam) give strong signals for accident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323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879C0-4A93-F30B-5B31-322A80212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787CAA-FDDE-1297-4331-E20AA51C7CB0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CC7BB3-E1B6-6ACD-B884-0FAC11794D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4F1FA1D-5D9A-6C84-5A26-B5F349F541A9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9FBCA9BF-ACD2-44A2-3846-FB702A74B3E6}"/>
              </a:ext>
            </a:extLst>
          </p:cNvPr>
          <p:cNvSpPr txBox="1"/>
          <p:nvPr/>
        </p:nvSpPr>
        <p:spPr>
          <a:xfrm>
            <a:off x="1183712" y="4519972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500" b="1" dirty="0">
                <a:solidFill>
                  <a:schemeClr val="bg1"/>
                </a:solidFill>
              </a:rPr>
              <a:t>***</a:t>
            </a:r>
            <a:r>
              <a:rPr lang="en-GB" sz="3000" b="1" dirty="0">
                <a:solidFill>
                  <a:schemeClr val="bg1"/>
                </a:solidFill>
              </a:rPr>
              <a:t>When a vehicle suddenly cuts in, its attention score increases as it approaches, indicating its growing importance as a potential anomaly.</a:t>
            </a: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B8A3FC86-EE6D-64DF-4E99-EF9F0558D618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6190D3-DCD8-88AF-E1D4-6EBEB9713AF0}"/>
              </a:ext>
            </a:extLst>
          </p:cNvPr>
          <p:cNvSpPr txBox="1"/>
          <p:nvPr/>
        </p:nvSpPr>
        <p:spPr>
          <a:xfrm>
            <a:off x="1229897" y="328974"/>
            <a:ext cx="822324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Example &amp; Findings (Category B)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872D058C-6E26-7BD9-AD6A-DDFC60584EC4}"/>
              </a:ext>
            </a:extLst>
          </p:cNvPr>
          <p:cNvSpPr/>
          <p:nvPr/>
        </p:nvSpPr>
        <p:spPr>
          <a:xfrm rot="5400000" flipV="1">
            <a:off x="6607742" y="5984769"/>
            <a:ext cx="2423922" cy="4005384"/>
          </a:xfrm>
          <a:prstGeom prst="arc">
            <a:avLst>
              <a:gd name="adj1" fmla="val 12549592"/>
              <a:gd name="adj2" fmla="val 5574675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36190E-1884-9FC0-64E2-C4EF99D886B5}"/>
              </a:ext>
            </a:extLst>
          </p:cNvPr>
          <p:cNvSpPr txBox="1"/>
          <p:nvPr/>
        </p:nvSpPr>
        <p:spPr>
          <a:xfrm>
            <a:off x="1196265" y="2214323"/>
            <a:ext cx="749606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chemeClr val="bg1"/>
                </a:solidFill>
              </a:rPr>
              <a:t>Example:</a:t>
            </a:r>
            <a:br>
              <a:rPr lang="en-GB" sz="3000" b="1" dirty="0">
                <a:solidFill>
                  <a:schemeClr val="bg1"/>
                </a:solidFill>
              </a:rPr>
            </a:br>
            <a:r>
              <a:rPr lang="en-GB" sz="3000" b="1" dirty="0">
                <a:solidFill>
                  <a:schemeClr val="bg1"/>
                </a:solidFill>
              </a:rPr>
              <a:t>The system notices a sudden change in object motion: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A child runs into the road unexpectedly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A bike in front slips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A vehicle suddenly appears from the wrong direction</a:t>
            </a:r>
          </a:p>
          <a:p>
            <a:endParaRPr lang="en-US" sz="3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6A761-2928-BAB2-C231-E5336D854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909" y="929148"/>
            <a:ext cx="7813645" cy="69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51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D4DE5-9B22-338E-C968-92E397AD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8DA4E3-5B36-65EE-49F3-98D8C3C0A6A0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BEA14A9-9815-2E49-B2D9-3DE4ADA6703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41C2A41-92D2-10DE-0AE1-E28E46ED7137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25DD57E4-ADB6-0152-F3BF-3FA660930D7C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422A71ED-83B1-F1B5-D7AD-5ABA7BCA965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5B7B9C09-B2E7-5A3E-5624-B20E7AF3A195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157B2ACF-C165-58DF-2CB4-4A371231DEE0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4CE22C64-A914-121A-0E31-82EC0B985869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4987C01-59BA-0693-6D50-0BE37B1A338A}"/>
              </a:ext>
            </a:extLst>
          </p:cNvPr>
          <p:cNvSpPr txBox="1"/>
          <p:nvPr/>
        </p:nvSpPr>
        <p:spPr>
          <a:xfrm>
            <a:off x="1855182" y="231965"/>
            <a:ext cx="6886573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7DA9013E-F4A1-19FC-EF69-6C153191B562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06940CED-9B85-17B0-FAC9-AD1F6F4775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45449D7D-2EBF-AAD5-898A-4262D8048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0693" y="2460318"/>
            <a:ext cx="140621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GB" sz="3000" b="1" dirty="0"/>
              <a:t>Category B focuses on safety-critical detection.</a:t>
            </a:r>
            <a:br>
              <a:rPr lang="en-GB" sz="3000" b="1" dirty="0"/>
            </a:br>
            <a:r>
              <a:rPr lang="en-GB" sz="3000" b="1" dirty="0"/>
              <a:t>It understands not only what is present but also what is unusual or dangerous in a scene.</a:t>
            </a: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0177AD5-708E-EBBB-F8FA-6F1E9F137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182" y="4822245"/>
            <a:ext cx="1473363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/>
              <a:t>1. Sudden Movement / Abnormal </a:t>
            </a:r>
            <a:r>
              <a:rPr lang="en-US" sz="3000" b="1" dirty="0" err="1"/>
              <a:t>Behaviour</a:t>
            </a:r>
            <a:endParaRPr lang="en-US" sz="3000" b="1" dirty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 Use Optical Flow (RAFT, </a:t>
            </a:r>
            <a:r>
              <a:rPr lang="en-US" sz="3000" b="1" dirty="0" err="1"/>
              <a:t>LiteFlowNet</a:t>
            </a:r>
            <a:r>
              <a:rPr lang="en-US" sz="3000" b="1" dirty="0"/>
              <a:t>, </a:t>
            </a:r>
            <a:r>
              <a:rPr lang="en-US" sz="3000" b="1" dirty="0" err="1"/>
              <a:t>Farneback</a:t>
            </a:r>
            <a:r>
              <a:rPr lang="en-US" sz="3000" b="1" dirty="0"/>
              <a:t>)</a:t>
            </a:r>
          </a:p>
          <a:p>
            <a:r>
              <a:rPr lang="en-US" sz="3000" b="1" dirty="0"/>
              <a:t>2. Accident or Dangerous Event Detection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 Train a simple autoencoder</a:t>
            </a:r>
          </a:p>
          <a:p>
            <a:r>
              <a:rPr lang="en-US" sz="3000" b="1" dirty="0"/>
              <a:t>3. Time-to-Collision (TTC)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 Calculate distance between your camera and object</a:t>
            </a:r>
          </a:p>
          <a:p>
            <a:r>
              <a:rPr lang="en-US" sz="3000" b="1" dirty="0"/>
              <a:t>4. Danger / Accident Classifier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 Train a small classifier (CNN or LSTM) on short video clips</a:t>
            </a:r>
          </a:p>
        </p:txBody>
      </p:sp>
    </p:spTree>
    <p:extLst>
      <p:ext uri="{BB962C8B-B14F-4D97-AF65-F5344CB8AC3E}">
        <p14:creationId xmlns:p14="http://schemas.microsoft.com/office/powerpoint/2010/main" val="382591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552F3-620A-71D7-2DF3-A8856730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E55575F-B970-05CF-D62E-9801E465C8CA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C6D652-EE86-32F1-8DEC-16B5E3824831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F032BAA-DD5B-C72F-6F31-8BE6B4B8677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7E4901A4-CCB4-B9DF-2DCB-1B9DEF300078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7C8896F-E944-16F3-9301-F83506CD5A01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13FA813F-2602-F514-2709-58EA1FB7FFE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28AB1EF3-0846-6FB1-4595-C16A1A5CBA7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999A86FD-8D3F-5DE7-DDF3-6B61FF6BF930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6066551A-8386-3B40-08DE-1711EEFE0F76}"/>
              </a:ext>
            </a:extLst>
          </p:cNvPr>
          <p:cNvGrpSpPr/>
          <p:nvPr/>
        </p:nvGrpSpPr>
        <p:grpSpPr>
          <a:xfrm>
            <a:off x="1855182" y="231965"/>
            <a:ext cx="13099684" cy="3221302"/>
            <a:chOff x="452318" y="-693817"/>
            <a:chExt cx="13965320" cy="4295070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B33C1E2-75A0-8902-B9F1-225E207FCB8E}"/>
                </a:ext>
              </a:extLst>
            </p:cNvPr>
            <p:cNvSpPr txBox="1"/>
            <p:nvPr/>
          </p:nvSpPr>
          <p:spPr>
            <a:xfrm>
              <a:off x="452318" y="-693817"/>
              <a:ext cx="13965320" cy="36933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6000" b="1" dirty="0">
                  <a:solidFill>
                    <a:srgbClr val="0070C0"/>
                  </a:solidFill>
                </a:rPr>
                <a:t>Category C: Environment &amp; Condition Analysis</a:t>
              </a:r>
              <a:endParaRPr lang="en-US" sz="6000" dirty="0">
                <a:solidFill>
                  <a:srgbClr val="0070C0"/>
                </a:solidFill>
              </a:endParaRPr>
            </a:p>
            <a:p>
              <a:pPr lvl="0"/>
              <a:endParaRPr lang="en-US" sz="6000" dirty="0">
                <a:solidFill>
                  <a:srgbClr val="0070C0"/>
                </a:solidFill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FA521204-7869-65DD-2B7C-E31AC79D2880}"/>
                </a:ext>
              </a:extLst>
            </p:cNvPr>
            <p:cNvSpPr txBox="1"/>
            <p:nvPr/>
          </p:nvSpPr>
          <p:spPr>
            <a:xfrm>
              <a:off x="4952523" y="3015537"/>
              <a:ext cx="9182100" cy="5857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600" b="1" u="sng" spc="-30" dirty="0"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600" b="1" spc="-30" dirty="0">
                  <a:solidFill>
                    <a:srgbClr val="004D40"/>
                  </a:solidFill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1DDCF829-0B26-C02D-FBA7-6897E0768656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E423AF51-B0EF-39DD-E35E-A087C9E1A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60A470B9-1DA5-8165-5F31-13FD932CA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580" y="3797723"/>
            <a:ext cx="1196070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Hyperspectral imaging provides material-level road information (wet, dry, slippery, mud, sand).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Environment-feature detection helps identify infrastructure, such as sidewalks, crosswalks, poles, signboards.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Pedestrian risk prediction depends heavily on environment context, not only moving objects.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Improves understanding of static and subtle environmental cues.</a:t>
            </a:r>
          </a:p>
        </p:txBody>
      </p:sp>
    </p:spTree>
    <p:extLst>
      <p:ext uri="{BB962C8B-B14F-4D97-AF65-F5344CB8AC3E}">
        <p14:creationId xmlns:p14="http://schemas.microsoft.com/office/powerpoint/2010/main" val="1141471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A36C3-9D55-025B-2B16-B2E1FD98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D10F1A-F32B-B7B8-9430-EBD5E8736B3D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15FD82-97FF-4737-A8E3-C62B6E5FD8C2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9912219-5B86-81D8-8215-9678F14F358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EE8D713A-FD66-1815-B25E-7BCB5BAF52B1}"/>
              </a:ext>
            </a:extLst>
          </p:cNvPr>
          <p:cNvSpPr txBox="1"/>
          <p:nvPr/>
        </p:nvSpPr>
        <p:spPr>
          <a:xfrm>
            <a:off x="1183712" y="4519972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500" b="1" dirty="0">
                <a:solidFill>
                  <a:schemeClr val="bg1"/>
                </a:solidFill>
              </a:rPr>
              <a:t>***</a:t>
            </a:r>
            <a:r>
              <a:rPr lang="en-GB" sz="3000" b="1" dirty="0">
                <a:solidFill>
                  <a:schemeClr val="bg1"/>
                </a:solidFill>
              </a:rPr>
              <a:t>Comparative Overview of Imaging Modalities Across the Electromagnetic Spectrum</a:t>
            </a: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C034CD7A-554A-9995-D1FF-9DFEFA4C1FFD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429056-CE9F-0590-7379-0D11CC3D1816}"/>
              </a:ext>
            </a:extLst>
          </p:cNvPr>
          <p:cNvSpPr txBox="1"/>
          <p:nvPr/>
        </p:nvSpPr>
        <p:spPr>
          <a:xfrm>
            <a:off x="1229897" y="328974"/>
            <a:ext cx="822324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Example &amp; Findings (Category C)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05E2A797-4E4A-758B-CFB9-C0FD76E97398}"/>
              </a:ext>
            </a:extLst>
          </p:cNvPr>
          <p:cNvSpPr/>
          <p:nvPr/>
        </p:nvSpPr>
        <p:spPr>
          <a:xfrm rot="5400000" flipV="1">
            <a:off x="7014671" y="5270740"/>
            <a:ext cx="2297124" cy="4999703"/>
          </a:xfrm>
          <a:prstGeom prst="arc">
            <a:avLst>
              <a:gd name="adj1" fmla="val 13529782"/>
              <a:gd name="adj2" fmla="val 5532551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8AAF7C-A387-290C-DBDF-5D0B1028FE57}"/>
              </a:ext>
            </a:extLst>
          </p:cNvPr>
          <p:cNvSpPr txBox="1"/>
          <p:nvPr/>
        </p:nvSpPr>
        <p:spPr>
          <a:xfrm>
            <a:off x="1361157" y="2377677"/>
            <a:ext cx="749606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chemeClr val="bg1"/>
                </a:solidFill>
              </a:rPr>
              <a:t>Example:</a:t>
            </a:r>
            <a:br>
              <a:rPr lang="en-GB" sz="3000" b="1" dirty="0">
                <a:solidFill>
                  <a:schemeClr val="bg1"/>
                </a:solidFill>
              </a:rPr>
            </a:br>
            <a:r>
              <a:rPr lang="en-GB" sz="3000" b="1" dirty="0">
                <a:solidFill>
                  <a:schemeClr val="bg1"/>
                </a:solidFill>
              </a:rPr>
              <a:t>The system detects environmental states: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Low visibility due to dust or fog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Wet or shiny road surfaces</a:t>
            </a:r>
          </a:p>
          <a:p>
            <a:r>
              <a:rPr lang="en-GB" sz="3000" b="1" dirty="0">
                <a:solidFill>
                  <a:schemeClr val="bg1"/>
                </a:solidFill>
              </a:rPr>
              <a:t>Shadow regions causing difficulty in object detection</a:t>
            </a:r>
          </a:p>
          <a:p>
            <a:endParaRPr lang="en-US" sz="3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12EF22-C65C-BB87-F80A-0EDB86FE4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591" y="1538562"/>
            <a:ext cx="6716062" cy="596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2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14CD4-CC05-876B-FA83-C92229DA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0D1B7D-73D1-8FF0-4967-32BFA2C1E46B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3179D66-5B05-C3C3-A475-2512BB2EDF33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C767F9A-733A-D1DD-1907-B118EB106571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87D9322C-1EC7-E877-3ACD-E53E3C726DC8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5AEEB738-A56D-8786-F348-5CD351069ED9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1095275B-F03B-DDB6-22B2-A80BA4FF97CB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01F1C9B7-C02A-ACD8-0DF3-6943EF3205A9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049A3EFC-9976-8594-FF61-0A8FE4B5DE28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A929076B-031C-F737-D8A4-7F885ED99370}"/>
              </a:ext>
            </a:extLst>
          </p:cNvPr>
          <p:cNvSpPr txBox="1"/>
          <p:nvPr/>
        </p:nvSpPr>
        <p:spPr>
          <a:xfrm>
            <a:off x="1855182" y="231965"/>
            <a:ext cx="6886573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DB09E9DC-1570-F03B-D035-606E02E84F0A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279D4B6E-2928-3DFD-5EE6-E18AAD1B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4D53279D-A8EB-C8D0-53DF-C6385B2C2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182" y="4964361"/>
            <a:ext cx="131260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/>
              <a:t>1. Road Surface Condition Detection (wet, dry, muddy, sand, broken)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Train a classifier (CNN, </a:t>
            </a:r>
            <a:r>
              <a:rPr lang="en-US" sz="3000" b="1" dirty="0" err="1"/>
              <a:t>MobileNet</a:t>
            </a:r>
            <a:r>
              <a:rPr lang="en-US" sz="3000" b="1" dirty="0"/>
              <a:t>)</a:t>
            </a:r>
          </a:p>
          <a:p>
            <a:r>
              <a:rPr lang="en-US" sz="3000" b="1" dirty="0"/>
              <a:t>2. Lighting &amp; Visibility Classification (day/night, fog, haze, low-light, shadow)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Use a small CNN or Vision Transformer</a:t>
            </a:r>
          </a:p>
          <a:p>
            <a:r>
              <a:rPr lang="en-US" sz="3000" b="1" dirty="0"/>
              <a:t>3. Weather Tagging (rain, dust, clear, fog)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  Use frame-level or clip-level classifier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E72BD13-265E-5FCF-FE16-F069060E3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0693" y="2460317"/>
            <a:ext cx="140621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GB" sz="3000" b="1" dirty="0"/>
              <a:t>Category C adds environment depth, providing information that normal RGB-based perception cannot capture.</a:t>
            </a:r>
            <a:br>
              <a:rPr lang="en-GB" sz="3000" b="1" dirty="0"/>
            </a:br>
            <a:r>
              <a:rPr lang="en-GB" sz="3000" b="1" dirty="0"/>
              <a:t>It strengthens the system by adding context and material awareness.</a:t>
            </a: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876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146538" y="-142784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537504-2527-1616-797E-F8202DD8C744}"/>
              </a:ext>
            </a:extLst>
          </p:cNvPr>
          <p:cNvGrpSpPr/>
          <p:nvPr/>
        </p:nvGrpSpPr>
        <p:grpSpPr>
          <a:xfrm>
            <a:off x="9" y="3506023"/>
            <a:ext cx="16588144" cy="1329746"/>
            <a:chOff x="3182425" y="3506023"/>
            <a:chExt cx="1084860" cy="6359977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0966A004-6C73-ED32-89FF-9E77E20E7BE8}"/>
                </a:ext>
              </a:extLst>
            </p:cNvPr>
            <p:cNvSpPr/>
            <p:nvPr/>
          </p:nvSpPr>
          <p:spPr>
            <a:xfrm>
              <a:off x="3182425" y="9259286"/>
              <a:ext cx="405385" cy="606714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7D76C5C5-8B20-48E7-A3A2-2BF5EF2E4E6A}"/>
                </a:ext>
              </a:extLst>
            </p:cNvPr>
            <p:cNvSpPr txBox="1"/>
            <p:nvPr/>
          </p:nvSpPr>
          <p:spPr>
            <a:xfrm>
              <a:off x="3414347" y="3506023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B5A4E3-7598-584E-FDF0-61F079D2445E}"/>
              </a:ext>
            </a:extLst>
          </p:cNvPr>
          <p:cNvGrpSpPr/>
          <p:nvPr/>
        </p:nvGrpSpPr>
        <p:grpSpPr>
          <a:xfrm>
            <a:off x="19" y="2377677"/>
            <a:ext cx="16734674" cy="2243316"/>
            <a:chOff x="3172842" y="3506023"/>
            <a:chExt cx="1094443" cy="10729446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418B3947-5B98-2CCD-F9AD-F346A3F2885A}"/>
                </a:ext>
              </a:extLst>
            </p:cNvPr>
            <p:cNvSpPr/>
            <p:nvPr/>
          </p:nvSpPr>
          <p:spPr>
            <a:xfrm flipV="1">
              <a:off x="3172842" y="13720791"/>
              <a:ext cx="405385" cy="514678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E80C229-E174-5AB3-FAB3-6351B5A7160E}"/>
                </a:ext>
              </a:extLst>
            </p:cNvPr>
            <p:cNvSpPr txBox="1"/>
            <p:nvPr/>
          </p:nvSpPr>
          <p:spPr>
            <a:xfrm>
              <a:off x="3414347" y="3506023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6583240" y="3817327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THANK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C982EA-A270-FF9B-0158-0C06B32CB517}"/>
              </a:ext>
            </a:extLst>
          </p:cNvPr>
          <p:cNvSpPr txBox="1"/>
          <p:nvPr/>
        </p:nvSpPr>
        <p:spPr>
          <a:xfrm>
            <a:off x="9780487" y="4799453"/>
            <a:ext cx="9342782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baseline="0">
                <a:solidFill>
                  <a:schemeClr val="bg1"/>
                </a:solidFill>
                <a:latin typeface="Arial Black"/>
              </a:rPr>
              <a:t>YOU</a:t>
            </a:r>
            <a:endParaRPr lang="en-US" sz="6000">
              <a:solidFill>
                <a:schemeClr val="bg1"/>
              </a:solidFill>
              <a:latin typeface="Arial Black"/>
              <a:ea typeface="Calibri"/>
              <a:cs typeface="Calibri"/>
            </a:endParaRPr>
          </a:p>
          <a:p>
            <a:pPr algn="ctr"/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20D05EBA-8541-6E80-C5C7-CD03BBC1B390}"/>
              </a:ext>
            </a:extLst>
          </p:cNvPr>
          <p:cNvSpPr/>
          <p:nvPr/>
        </p:nvSpPr>
        <p:spPr>
          <a:xfrm>
            <a:off x="12095294" y="5989663"/>
            <a:ext cx="6198574" cy="126852"/>
          </a:xfrm>
          <a:custGeom>
            <a:avLst/>
            <a:gdLst/>
            <a:ahLst/>
            <a:cxnLst/>
            <a:rect l="l" t="t" r="r" b="b"/>
            <a:pathLst>
              <a:path w="852938" h="2709333">
                <a:moveTo>
                  <a:pt x="0" y="0"/>
                </a:moveTo>
                <a:lnTo>
                  <a:pt x="852938" y="0"/>
                </a:lnTo>
                <a:lnTo>
                  <a:pt x="852938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A0D9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B070343A-E5C4-34AB-6635-A402F8FB21EE}"/>
              </a:ext>
            </a:extLst>
          </p:cNvPr>
          <p:cNvSpPr/>
          <p:nvPr/>
        </p:nvSpPr>
        <p:spPr>
          <a:xfrm flipV="1">
            <a:off x="12095304" y="6233746"/>
            <a:ext cx="6198574" cy="107609"/>
          </a:xfrm>
          <a:custGeom>
            <a:avLst/>
            <a:gdLst/>
            <a:ahLst/>
            <a:cxnLst/>
            <a:rect l="l" t="t" r="r" b="b"/>
            <a:pathLst>
              <a:path w="852938" h="2709333">
                <a:moveTo>
                  <a:pt x="0" y="0"/>
                </a:moveTo>
                <a:lnTo>
                  <a:pt x="852938" y="0"/>
                </a:lnTo>
                <a:lnTo>
                  <a:pt x="852938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 descr="A logo of a university&#10;&#10;AI-generated content may be incorrect.">
            <a:extLst>
              <a:ext uri="{FF2B5EF4-FFF2-40B4-BE49-F238E27FC236}">
                <a16:creationId xmlns:a16="http://schemas.microsoft.com/office/drawing/2014/main" id="{11206C05-1FD3-CAD0-5F64-1211FE43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053" y="8018839"/>
            <a:ext cx="1709913" cy="150055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C4B2147-C344-F8C9-8FEC-44EAA0476170}"/>
              </a:ext>
            </a:extLst>
          </p:cNvPr>
          <p:cNvSpPr txBox="1"/>
          <p:nvPr/>
        </p:nvSpPr>
        <p:spPr>
          <a:xfrm>
            <a:off x="7657537" y="9528662"/>
            <a:ext cx="296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PREMIERE UNIVERSITY</a:t>
            </a:r>
          </a:p>
        </p:txBody>
      </p:sp>
    </p:spTree>
    <p:extLst>
      <p:ext uri="{BB962C8B-B14F-4D97-AF65-F5344CB8AC3E}">
        <p14:creationId xmlns:p14="http://schemas.microsoft.com/office/powerpoint/2010/main" val="61973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819</Words>
  <Application>Microsoft Office PowerPoint</Application>
  <PresentationFormat>Custom</PresentationFormat>
  <Paragraphs>108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Black</vt:lpstr>
      <vt:lpstr>Telegraf Bold</vt:lpstr>
      <vt:lpstr>Wingdings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Innovations in Sustainable Design</dc:title>
  <dc:creator>Anika Tahasin</dc:creator>
  <dc:description>Presentation - Innovations in Sustainable Design</dc:description>
  <cp:lastModifiedBy>Anika Tahasin</cp:lastModifiedBy>
  <cp:revision>66</cp:revision>
  <dcterms:created xsi:type="dcterms:W3CDTF">2006-08-16T00:00:00Z</dcterms:created>
  <dcterms:modified xsi:type="dcterms:W3CDTF">2025-12-02T04:17:48Z</dcterms:modified>
  <dc:identifier>DAG6GVWpC6w</dc:identifier>
</cp:coreProperties>
</file>