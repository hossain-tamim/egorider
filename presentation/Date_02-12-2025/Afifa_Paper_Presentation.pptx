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42" r:id="rId1"/>
  </p:sldMasterIdLst>
  <p:sldIdLst>
    <p:sldId id="266" r:id="rId2"/>
    <p:sldId id="270" r:id="rId3"/>
    <p:sldId id="272" r:id="rId4"/>
    <p:sldId id="271" r:id="rId5"/>
    <p:sldId id="261" r:id="rId6"/>
    <p:sldId id="273" r:id="rId7"/>
    <p:sldId id="274" r:id="rId8"/>
    <p:sldId id="256" r:id="rId9"/>
    <p:sldId id="275" r:id="rId10"/>
    <p:sldId id="26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BBB"/>
    <a:srgbClr val="002F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385648-3C0D-4C23-ADAD-DAD71226204A}" v="991" dt="2025-11-30T18:07:45.748"/>
    <p1510:client id="{6A9677BE-99C8-12C3-DE7C-05E1E21A8672}" v="1861" dt="2025-12-01T12:04:36.065"/>
    <p1510:client id="{8781E55E-7285-2E33-81B6-527580194B31}" v="66" dt="2025-11-30T18:00:05.814"/>
    <p1510:client id="{9E45FBB3-DE6F-67FD-EDD5-CBD40BDF9132}" v="13" dt="2025-11-30T18:08:28.569"/>
    <p1510:client id="{B0B88FE7-37BF-4159-8F2A-792653DBFE7C}" v="90" dt="2025-12-01T15:34:20.649"/>
    <p1510:client id="{C4A55E44-A5DA-48F0-85FB-83E99FE770FE}" v="1507" dt="2025-12-01T07:02:25.294"/>
    <p1510:client id="{DF440D0C-31B3-3DBD-FB88-802775FEAA6B}" v="296" dt="2025-12-01T03:06:07.6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54E6B855E0B258E6/Paper_Presentation_Pi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54E6B855E0B258E6/Paper_Presentation_ComboColumnClusteredLine%201.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chemeClr val="accent1"/>
            </a:solidFill>
            <a:ln w="19050">
              <a:solidFill>
                <a:schemeClr val="lt1"/>
              </a:solidFill>
            </a:ln>
            <a:effectLst/>
          </c:spPr>
          <c:invertIfNegative val="0"/>
          <c:dPt>
            <c:idx val="0"/>
            <c:invertIfNegative val="0"/>
            <c:bubble3D val="0"/>
            <c:spPr>
              <a:solidFill>
                <a:srgbClr val="A6C9EC"/>
              </a:solidFill>
              <a:ln w="19050">
                <a:solidFill>
                  <a:schemeClr val="lt1"/>
                </a:solidFill>
              </a:ln>
              <a:effectLst/>
            </c:spPr>
            <c:extLst>
              <c:ext xmlns:c16="http://schemas.microsoft.com/office/drawing/2014/chart" uri="{C3380CC4-5D6E-409C-BE32-E72D297353CC}">
                <c16:uniqueId val="{00000001-5D38-42B7-A742-36EB42544897}"/>
              </c:ext>
            </c:extLst>
          </c:dPt>
          <c:dPt>
            <c:idx val="1"/>
            <c:invertIfNegative val="0"/>
            <c:bubble3D val="0"/>
            <c:spPr>
              <a:solidFill>
                <a:srgbClr val="E87331"/>
              </a:solidFill>
              <a:ln w="19050">
                <a:solidFill>
                  <a:schemeClr val="lt1"/>
                </a:solidFill>
              </a:ln>
              <a:effectLst/>
            </c:spPr>
            <c:extLst>
              <c:ext xmlns:c16="http://schemas.microsoft.com/office/drawing/2014/chart" uri="{C3380CC4-5D6E-409C-BE32-E72D297353CC}">
                <c16:uniqueId val="{00000003-5D38-42B7-A742-36EB42544897}"/>
              </c:ext>
            </c:extLst>
          </c:dPt>
          <c:dPt>
            <c:idx val="2"/>
            <c:invertIfNegative val="0"/>
            <c:bubble3D val="0"/>
            <c:spPr>
              <a:solidFill>
                <a:srgbClr val="45D65A"/>
              </a:solidFill>
              <a:ln w="19050">
                <a:solidFill>
                  <a:schemeClr val="lt1"/>
                </a:solidFill>
              </a:ln>
              <a:effectLst/>
            </c:spPr>
            <c:extLst>
              <c:ext xmlns:c16="http://schemas.microsoft.com/office/drawing/2014/chart" uri="{C3380CC4-5D6E-409C-BE32-E72D297353CC}">
                <c16:uniqueId val="{00000005-5D38-42B7-A742-36EB42544897}"/>
              </c:ext>
            </c:extLst>
          </c:dPt>
          <c:dPt>
            <c:idx val="3"/>
            <c:invertIfNegative val="0"/>
            <c:bubble3D val="0"/>
            <c:spPr>
              <a:solidFill>
                <a:srgbClr val="D86DCD"/>
              </a:solidFill>
              <a:ln w="19050">
                <a:solidFill>
                  <a:schemeClr val="lt1"/>
                </a:solidFill>
              </a:ln>
              <a:effectLst/>
            </c:spPr>
            <c:extLst>
              <c:ext xmlns:c16="http://schemas.microsoft.com/office/drawing/2014/chart" uri="{C3380CC4-5D6E-409C-BE32-E72D297353CC}">
                <c16:uniqueId val="{00000007-5D38-42B7-A742-36EB42544897}"/>
              </c:ext>
            </c:extLst>
          </c:dPt>
          <c:dPt>
            <c:idx val="5"/>
            <c:invertIfNegative val="0"/>
            <c:bubble3D val="0"/>
            <c:spPr>
              <a:solidFill>
                <a:srgbClr val="FF0000"/>
              </a:solidFill>
              <a:ln w="19050">
                <a:solidFill>
                  <a:schemeClr val="lt1"/>
                </a:solidFill>
              </a:ln>
              <a:effectLst/>
            </c:spPr>
            <c:extLst>
              <c:ext xmlns:c16="http://schemas.microsoft.com/office/drawing/2014/chart" uri="{C3380CC4-5D6E-409C-BE32-E72D297353CC}">
                <c16:uniqueId val="{00000009-5D38-42B7-A742-36EB42544897}"/>
              </c:ext>
            </c:extLst>
          </c:dPt>
          <c:dPt>
            <c:idx val="6"/>
            <c:invertIfNegative val="0"/>
            <c:bubble3D val="0"/>
            <c:spPr>
              <a:solidFill>
                <a:srgbClr val="F2CEEF"/>
              </a:solidFill>
              <a:ln w="19050">
                <a:solidFill>
                  <a:schemeClr val="lt1"/>
                </a:solidFill>
              </a:ln>
              <a:effectLst/>
            </c:spPr>
            <c:extLst>
              <c:ext xmlns:c16="http://schemas.microsoft.com/office/drawing/2014/chart" uri="{C3380CC4-5D6E-409C-BE32-E72D297353CC}">
                <c16:uniqueId val="{0000000B-5D38-42B7-A742-36EB42544897}"/>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Perception</c:v>
                </c:pt>
                <c:pt idx="1">
                  <c:v>Incapacitation</c:v>
                </c:pt>
                <c:pt idx="2">
                  <c:v>Planning/Deciding</c:v>
                </c:pt>
                <c:pt idx="3">
                  <c:v>Execution/Performance</c:v>
                </c:pt>
                <c:pt idx="4">
                  <c:v>Predicting</c:v>
                </c:pt>
                <c:pt idx="5">
                  <c:v>Speeding</c:v>
                </c:pt>
                <c:pt idx="6">
                  <c:v>Maneuvers</c:v>
                </c:pt>
              </c:strCache>
            </c:strRef>
          </c:cat>
          <c:val>
            <c:numRef>
              <c:f>Sheet1!$B$2:$B$8</c:f>
              <c:numCache>
                <c:formatCode>General</c:formatCode>
                <c:ptCount val="7"/>
                <c:pt idx="0">
                  <c:v>23</c:v>
                </c:pt>
                <c:pt idx="1">
                  <c:v>10</c:v>
                </c:pt>
                <c:pt idx="2">
                  <c:v>41</c:v>
                </c:pt>
                <c:pt idx="3">
                  <c:v>23</c:v>
                </c:pt>
                <c:pt idx="4">
                  <c:v>17</c:v>
                </c:pt>
                <c:pt idx="5">
                  <c:v>23</c:v>
                </c:pt>
                <c:pt idx="6">
                  <c:v>15</c:v>
                </c:pt>
              </c:numCache>
            </c:numRef>
          </c:val>
          <c:extLst>
            <c:ext xmlns:c16="http://schemas.microsoft.com/office/drawing/2014/chart" uri="{C3380CC4-5D6E-409C-BE32-E72D297353CC}">
              <c16:uniqueId val="{00000000-749B-4AD5-841C-1F8E6B8598A8}"/>
            </c:ext>
          </c:extLst>
        </c:ser>
        <c:dLbls>
          <c:dLblPos val="outEnd"/>
          <c:showLegendKey val="0"/>
          <c:showVal val="1"/>
          <c:showCatName val="0"/>
          <c:showSerName val="0"/>
          <c:showPercent val="0"/>
          <c:showBubbleSize val="0"/>
        </c:dLbls>
        <c:gapWidth val="150"/>
        <c:axId val="406713864"/>
        <c:axId val="406715912"/>
      </c:barChart>
      <c:catAx>
        <c:axId val="406713864"/>
        <c:scaling>
          <c:orientation val="minMax"/>
        </c:scaling>
        <c:delete val="0"/>
        <c:axPos val="b"/>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06715912"/>
        <c:crosses val="autoZero"/>
        <c:auto val="1"/>
        <c:lblAlgn val="ctr"/>
        <c:lblOffset val="100"/>
        <c:noMultiLvlLbl val="0"/>
      </c:catAx>
      <c:valAx>
        <c:axId val="40671591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40671386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       </c:v>
                </c:pt>
              </c:strCache>
            </c:strRef>
          </c:tx>
          <c:spPr>
            <a:solidFill>
              <a:srgbClr val="B5E6A2"/>
            </a:solidFill>
            <a:ln>
              <a:noFill/>
            </a:ln>
            <a:effectLst/>
          </c:spPr>
          <c:invertIfNegative val="0"/>
          <c:dPt>
            <c:idx val="0"/>
            <c:invertIfNegative val="0"/>
            <c:bubble3D val="0"/>
            <c:spPr>
              <a:solidFill>
                <a:srgbClr val="A6C9EC"/>
              </a:solidFill>
              <a:ln>
                <a:noFill/>
              </a:ln>
              <a:effectLst/>
            </c:spPr>
            <c:extLst>
              <c:ext xmlns:c16="http://schemas.microsoft.com/office/drawing/2014/chart" uri="{C3380CC4-5D6E-409C-BE32-E72D297353CC}">
                <c16:uniqueId val="{00000001-0BBA-4E96-9FD3-4730D6A38992}"/>
              </c:ext>
            </c:extLst>
          </c:dPt>
          <c:dPt>
            <c:idx val="1"/>
            <c:invertIfNegative val="0"/>
            <c:bubble3D val="0"/>
            <c:spPr>
              <a:solidFill>
                <a:srgbClr val="FFC000"/>
              </a:solidFill>
              <a:ln>
                <a:noFill/>
              </a:ln>
              <a:effectLst/>
            </c:spPr>
            <c:extLst>
              <c:ext xmlns:c16="http://schemas.microsoft.com/office/drawing/2014/chart" uri="{C3380CC4-5D6E-409C-BE32-E72D297353CC}">
                <c16:uniqueId val="{00000003-0BBA-4E96-9FD3-4730D6A38992}"/>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Speeding</c:v>
                </c:pt>
                <c:pt idx="1">
                  <c:v>Visibility Issue</c:v>
                </c:pt>
                <c:pt idx="2">
                  <c:v>Awarness Failure(Fatigue Realted)</c:v>
                </c:pt>
              </c:strCache>
            </c:strRef>
          </c:cat>
          <c:val>
            <c:numRef>
              <c:f>Sheet1!$B$2:$B$4</c:f>
              <c:numCache>
                <c:formatCode>General</c:formatCode>
                <c:ptCount val="3"/>
                <c:pt idx="0">
                  <c:v>34</c:v>
                </c:pt>
                <c:pt idx="1">
                  <c:v>20</c:v>
                </c:pt>
                <c:pt idx="2">
                  <c:v>48</c:v>
                </c:pt>
              </c:numCache>
            </c:numRef>
          </c:val>
          <c:extLst>
            <c:ext xmlns:c16="http://schemas.microsoft.com/office/drawing/2014/chart" uri="{C3380CC4-5D6E-409C-BE32-E72D297353CC}">
              <c16:uniqueId val="{00000000-1FBF-416A-BCB2-E7B4E5CF0AED}"/>
            </c:ext>
          </c:extLst>
        </c:ser>
        <c:dLbls>
          <c:dLblPos val="outEnd"/>
          <c:showLegendKey val="0"/>
          <c:showVal val="1"/>
          <c:showCatName val="0"/>
          <c:showSerName val="0"/>
          <c:showPercent val="0"/>
          <c:showBubbleSize val="0"/>
        </c:dLbls>
        <c:gapWidth val="150"/>
        <c:axId val="1497510896"/>
        <c:axId val="1524794320"/>
      </c:barChart>
      <c:catAx>
        <c:axId val="1497510896"/>
        <c:scaling>
          <c:orientation val="minMax"/>
        </c:scaling>
        <c:delete val="1"/>
        <c:axPos val="b"/>
        <c:numFmt formatCode="General" sourceLinked="1"/>
        <c:majorTickMark val="none"/>
        <c:minorTickMark val="none"/>
        <c:tickLblPos val="nextTo"/>
        <c:crossAx val="1524794320"/>
        <c:crosses val="autoZero"/>
        <c:auto val="1"/>
        <c:lblAlgn val="ctr"/>
        <c:lblOffset val="100"/>
        <c:noMultiLvlLbl val="0"/>
      </c:catAx>
      <c:valAx>
        <c:axId val="152479432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49751089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24540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07961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83173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2557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82719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67572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020581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42832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15140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30562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38887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3496499030"/>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CE486-9C62-5CB3-79FA-E0730D3E728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3127BD1-FFFB-D18D-FD0D-F516661A0A69}"/>
              </a:ext>
            </a:extLst>
          </p:cNvPr>
          <p:cNvSpPr/>
          <p:nvPr/>
        </p:nvSpPr>
        <p:spPr>
          <a:xfrm>
            <a:off x="4762" y="-4762"/>
            <a:ext cx="12180093" cy="6870860"/>
          </a:xfrm>
          <a:prstGeom prst="rect">
            <a:avLst/>
          </a:prstGeom>
          <a:solidFill>
            <a:srgbClr val="002F56"/>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endParaRPr lang="en-US" sz="4400" b="1">
              <a:solidFill>
                <a:srgbClr val="005BBB"/>
              </a:solidFill>
              <a:latin typeface="Georgia"/>
              <a:ea typeface="Calibri" panose="020F0502020204030204"/>
              <a:cs typeface="Calibri" panose="020F0502020204030204"/>
            </a:endParaRPr>
          </a:p>
        </p:txBody>
      </p:sp>
      <p:sp>
        <p:nvSpPr>
          <p:cNvPr id="5" name="Title 4">
            <a:extLst>
              <a:ext uri="{FF2B5EF4-FFF2-40B4-BE49-F238E27FC236}">
                <a16:creationId xmlns:a16="http://schemas.microsoft.com/office/drawing/2014/main" id="{8D7C8D83-AACB-2603-AB21-106C72D8A6AB}"/>
              </a:ext>
            </a:extLst>
          </p:cNvPr>
          <p:cNvSpPr>
            <a:spLocks noGrp="1"/>
          </p:cNvSpPr>
          <p:nvPr>
            <p:ph type="ctrTitle"/>
          </p:nvPr>
        </p:nvSpPr>
        <p:spPr>
          <a:xfrm>
            <a:off x="381000" y="1122363"/>
            <a:ext cx="11658600" cy="2387600"/>
          </a:xfrm>
        </p:spPr>
        <p:txBody>
          <a:bodyPr/>
          <a:lstStyle/>
          <a:p>
            <a:r>
              <a:rPr lang="en-US" b="1" dirty="0">
                <a:solidFill>
                  <a:schemeClr val="bg1"/>
                </a:solidFill>
                <a:latin typeface="Arial"/>
                <a:ea typeface="Calibri Light"/>
                <a:cs typeface="Calibri Light"/>
              </a:rPr>
              <a:t>Literature Review  </a:t>
            </a:r>
          </a:p>
        </p:txBody>
      </p:sp>
      <p:sp>
        <p:nvSpPr>
          <p:cNvPr id="7" name="Subtitle 6">
            <a:extLst>
              <a:ext uri="{FF2B5EF4-FFF2-40B4-BE49-F238E27FC236}">
                <a16:creationId xmlns:a16="http://schemas.microsoft.com/office/drawing/2014/main" id="{8EC33747-1A6D-3105-CBCD-66874EB9B1A7}"/>
              </a:ext>
            </a:extLst>
          </p:cNvPr>
          <p:cNvSpPr>
            <a:spLocks noGrp="1"/>
          </p:cNvSpPr>
          <p:nvPr>
            <p:ph type="subTitle" idx="1"/>
          </p:nvPr>
        </p:nvSpPr>
        <p:spPr>
          <a:xfrm>
            <a:off x="1371600" y="3582988"/>
            <a:ext cx="9144000" cy="1655762"/>
          </a:xfrm>
        </p:spPr>
        <p:txBody>
          <a:bodyPr vert="horz" lIns="91440" tIns="45720" rIns="91440" bIns="45720" rtlCol="0" anchor="t">
            <a:normAutofit/>
          </a:bodyPr>
          <a:lstStyle/>
          <a:p>
            <a:r>
              <a:rPr lang="en-US" sz="2800" dirty="0">
                <a:solidFill>
                  <a:schemeClr val="bg1"/>
                </a:solidFill>
                <a:latin typeface="Georgia"/>
                <a:ea typeface="Calibri"/>
                <a:cs typeface="Calibri"/>
              </a:rPr>
              <a:t>Domain analysis on Egocentric FPV</a:t>
            </a:r>
            <a:endParaRPr lang="en-US" dirty="0">
              <a:solidFill>
                <a:schemeClr val="bg1"/>
              </a:solidFill>
            </a:endParaRPr>
          </a:p>
        </p:txBody>
      </p:sp>
    </p:spTree>
    <p:extLst>
      <p:ext uri="{BB962C8B-B14F-4D97-AF65-F5344CB8AC3E}">
        <p14:creationId xmlns:p14="http://schemas.microsoft.com/office/powerpoint/2010/main" val="4121539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0D00F-1D2C-A21C-F117-88AC8AD9AB8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A594EF3-FC77-BB65-EE22-31E67967C349}"/>
              </a:ext>
            </a:extLst>
          </p:cNvPr>
          <p:cNvSpPr/>
          <p:nvPr/>
        </p:nvSpPr>
        <p:spPr>
          <a:xfrm>
            <a:off x="4762" y="-4762"/>
            <a:ext cx="12180093" cy="917735"/>
          </a:xfrm>
          <a:prstGeom prst="rect">
            <a:avLst/>
          </a:prstGeom>
          <a:solidFill>
            <a:srgbClr val="002F56"/>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4400" b="1">
                <a:latin typeface="Georgia"/>
              </a:rPr>
              <a:t>Premier University</a:t>
            </a:r>
            <a:endParaRPr lang="en-US" sz="4400" b="1">
              <a:latin typeface="Georgia"/>
              <a:ea typeface="Calibri" panose="020F0502020204030204"/>
              <a:cs typeface="Calibri" panose="020F0502020204030204"/>
            </a:endParaRPr>
          </a:p>
        </p:txBody>
      </p:sp>
      <p:sp>
        <p:nvSpPr>
          <p:cNvPr id="9" name="Minus Sign 8">
            <a:extLst>
              <a:ext uri="{FF2B5EF4-FFF2-40B4-BE49-F238E27FC236}">
                <a16:creationId xmlns:a16="http://schemas.microsoft.com/office/drawing/2014/main" id="{03E5DE5D-9DF9-098A-142F-02E6C5A1DE23}"/>
              </a:ext>
            </a:extLst>
          </p:cNvPr>
          <p:cNvSpPr/>
          <p:nvPr/>
        </p:nvSpPr>
        <p:spPr>
          <a:xfrm>
            <a:off x="-2185988" y="6286500"/>
            <a:ext cx="16546487" cy="917278"/>
          </a:xfrm>
          <a:prstGeom prst="mathMinus">
            <a:avLst/>
          </a:prstGeom>
          <a:solidFill>
            <a:srgbClr val="002F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CC33E1D8-2AE1-96F9-51C3-2CE36119748F}"/>
              </a:ext>
            </a:extLst>
          </p:cNvPr>
          <p:cNvSpPr>
            <a:spLocks noGrp="1"/>
          </p:cNvSpPr>
          <p:nvPr>
            <p:ph type="title"/>
          </p:nvPr>
        </p:nvSpPr>
        <p:spPr>
          <a:xfrm>
            <a:off x="2206388" y="1088410"/>
            <a:ext cx="7769316" cy="635956"/>
          </a:xfrm>
        </p:spPr>
        <p:txBody>
          <a:bodyPr>
            <a:noAutofit/>
          </a:bodyPr>
          <a:lstStyle/>
          <a:p>
            <a:pPr algn="ctr"/>
            <a:r>
              <a:rPr lang="en-US" sz="3600" dirty="0">
                <a:solidFill>
                  <a:srgbClr val="005BBB"/>
                </a:solidFill>
                <a:latin typeface="Georgia"/>
                <a:ea typeface="Calibri Light"/>
                <a:cs typeface="Calibri Light"/>
              </a:rPr>
              <a:t>Thematic Analysis</a:t>
            </a:r>
          </a:p>
        </p:txBody>
      </p:sp>
      <p:sp>
        <p:nvSpPr>
          <p:cNvPr id="15" name="Slide Number Placeholder 14">
            <a:extLst>
              <a:ext uri="{FF2B5EF4-FFF2-40B4-BE49-F238E27FC236}">
                <a16:creationId xmlns:a16="http://schemas.microsoft.com/office/drawing/2014/main" id="{FDF25989-C827-CFD3-3A90-118840C654F1}"/>
              </a:ext>
            </a:extLst>
          </p:cNvPr>
          <p:cNvSpPr>
            <a:spLocks noGrp="1"/>
          </p:cNvSpPr>
          <p:nvPr>
            <p:ph type="sldNum" sz="quarter" idx="12"/>
          </p:nvPr>
        </p:nvSpPr>
        <p:spPr/>
        <p:txBody>
          <a:bodyPr/>
          <a:lstStyle/>
          <a:p>
            <a:fld id="{48F63A3B-78C7-47BE-AE5E-E10140E04643}" type="slidenum">
              <a:rPr lang="en-US" sz="1400" dirty="0">
                <a:latin typeface="Georgia"/>
              </a:rPr>
              <a:t>2</a:t>
            </a:fld>
            <a:endParaRPr lang="en-US" sz="1400">
              <a:latin typeface="Georgia"/>
            </a:endParaRPr>
          </a:p>
        </p:txBody>
      </p:sp>
      <p:grpSp>
        <p:nvGrpSpPr>
          <p:cNvPr id="13" name="Group 12">
            <a:extLst>
              <a:ext uri="{FF2B5EF4-FFF2-40B4-BE49-F238E27FC236}">
                <a16:creationId xmlns:a16="http://schemas.microsoft.com/office/drawing/2014/main" id="{D2D2B99A-53E1-D3F8-E09F-582840ADFC69}"/>
              </a:ext>
            </a:extLst>
          </p:cNvPr>
          <p:cNvGrpSpPr/>
          <p:nvPr/>
        </p:nvGrpSpPr>
        <p:grpSpPr>
          <a:xfrm>
            <a:off x="909850" y="1769461"/>
            <a:ext cx="6357582" cy="371598"/>
            <a:chOff x="909850" y="2752298"/>
            <a:chExt cx="6357582" cy="371598"/>
          </a:xfrm>
        </p:grpSpPr>
        <p:sp>
          <p:nvSpPr>
            <p:cNvPr id="4" name="TextBox 3">
              <a:extLst>
                <a:ext uri="{FF2B5EF4-FFF2-40B4-BE49-F238E27FC236}">
                  <a16:creationId xmlns:a16="http://schemas.microsoft.com/office/drawing/2014/main" id="{7237DD5B-93E1-0466-20A9-202548B63BFF}"/>
                </a:ext>
              </a:extLst>
            </p:cNvPr>
            <p:cNvSpPr txBox="1"/>
            <p:nvPr/>
          </p:nvSpPr>
          <p:spPr>
            <a:xfrm>
              <a:off x="909850" y="2752298"/>
              <a:ext cx="63575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a:latin typeface="Arial"/>
                  <a:ea typeface="+mn-lt"/>
                  <a:cs typeface="+mn-lt"/>
                </a:rPr>
                <a:t>Human Behavior &amp; Safety Factors</a:t>
              </a:r>
              <a:endParaRPr lang="en-US">
                <a:latin typeface="Arial"/>
                <a:cs typeface="Arial"/>
              </a:endParaRPr>
            </a:p>
          </p:txBody>
        </p:sp>
        <p:sp>
          <p:nvSpPr>
            <p:cNvPr id="5" name="Flowchart: Connector 4">
              <a:extLst>
                <a:ext uri="{FF2B5EF4-FFF2-40B4-BE49-F238E27FC236}">
                  <a16:creationId xmlns:a16="http://schemas.microsoft.com/office/drawing/2014/main" id="{4889EC68-8C46-33D9-3E63-35BC755BD4E1}"/>
                </a:ext>
              </a:extLst>
            </p:cNvPr>
            <p:cNvSpPr/>
            <p:nvPr/>
          </p:nvSpPr>
          <p:spPr>
            <a:xfrm>
              <a:off x="1012208" y="2763671"/>
              <a:ext cx="367123" cy="36022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1</a:t>
              </a:r>
            </a:p>
          </p:txBody>
        </p:sp>
      </p:grpSp>
      <p:grpSp>
        <p:nvGrpSpPr>
          <p:cNvPr id="14" name="Group 13">
            <a:extLst>
              <a:ext uri="{FF2B5EF4-FFF2-40B4-BE49-F238E27FC236}">
                <a16:creationId xmlns:a16="http://schemas.microsoft.com/office/drawing/2014/main" id="{FBA62821-9B49-3257-C068-6364EFDFF8D9}"/>
              </a:ext>
            </a:extLst>
          </p:cNvPr>
          <p:cNvGrpSpPr/>
          <p:nvPr/>
        </p:nvGrpSpPr>
        <p:grpSpPr>
          <a:xfrm>
            <a:off x="909849" y="2870385"/>
            <a:ext cx="6357582" cy="371598"/>
            <a:chOff x="909850" y="2752298"/>
            <a:chExt cx="6357582" cy="371598"/>
          </a:xfrm>
        </p:grpSpPr>
        <p:sp>
          <p:nvSpPr>
            <p:cNvPr id="18" name="TextBox 17">
              <a:extLst>
                <a:ext uri="{FF2B5EF4-FFF2-40B4-BE49-F238E27FC236}">
                  <a16:creationId xmlns:a16="http://schemas.microsoft.com/office/drawing/2014/main" id="{54E13ECA-AE7E-7246-146C-3AC25129EE7F}"/>
                </a:ext>
              </a:extLst>
            </p:cNvPr>
            <p:cNvSpPr txBox="1"/>
            <p:nvPr/>
          </p:nvSpPr>
          <p:spPr>
            <a:xfrm>
              <a:off x="909850" y="2752298"/>
              <a:ext cx="63575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a:latin typeface="Arial"/>
                  <a:ea typeface="Calibri"/>
                  <a:cs typeface="Arial"/>
                </a:rPr>
                <a:t>Perception and Scene Understanding</a:t>
              </a:r>
            </a:p>
          </p:txBody>
        </p:sp>
        <p:sp>
          <p:nvSpPr>
            <p:cNvPr id="19" name="Flowchart: Connector 18">
              <a:extLst>
                <a:ext uri="{FF2B5EF4-FFF2-40B4-BE49-F238E27FC236}">
                  <a16:creationId xmlns:a16="http://schemas.microsoft.com/office/drawing/2014/main" id="{ED8011D4-F88B-C545-6C24-C67405951876}"/>
                </a:ext>
              </a:extLst>
            </p:cNvPr>
            <p:cNvSpPr/>
            <p:nvPr/>
          </p:nvSpPr>
          <p:spPr>
            <a:xfrm>
              <a:off x="1012208" y="2763671"/>
              <a:ext cx="367123" cy="36022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2</a:t>
              </a:r>
              <a:endParaRPr lang="en-US"/>
            </a:p>
          </p:txBody>
        </p:sp>
      </p:grpSp>
      <p:sp>
        <p:nvSpPr>
          <p:cNvPr id="29" name="Minus Sign 28">
            <a:extLst>
              <a:ext uri="{FF2B5EF4-FFF2-40B4-BE49-F238E27FC236}">
                <a16:creationId xmlns:a16="http://schemas.microsoft.com/office/drawing/2014/main" id="{46D50046-C081-664E-3C38-289F5830D12E}"/>
              </a:ext>
            </a:extLst>
          </p:cNvPr>
          <p:cNvSpPr/>
          <p:nvPr/>
        </p:nvSpPr>
        <p:spPr>
          <a:xfrm>
            <a:off x="3352800" y="1679994"/>
            <a:ext cx="5480026" cy="94624"/>
          </a:xfrm>
          <a:custGeom>
            <a:avLst/>
            <a:gdLst>
              <a:gd name="csX0" fmla="*/ 726377 w 5480026"/>
              <a:gd name="csY0" fmla="*/ 36184 h 94624"/>
              <a:gd name="csX1" fmla="*/ 1437862 w 5480026"/>
              <a:gd name="csY1" fmla="*/ 36184 h 94624"/>
              <a:gd name="csX2" fmla="*/ 1988256 w 5480026"/>
              <a:gd name="csY2" fmla="*/ 36184 h 94624"/>
              <a:gd name="csX3" fmla="*/ 2619195 w 5480026"/>
              <a:gd name="csY3" fmla="*/ 36184 h 94624"/>
              <a:gd name="csX4" fmla="*/ 3330680 w 5480026"/>
              <a:gd name="csY4" fmla="*/ 36184 h 94624"/>
              <a:gd name="csX5" fmla="*/ 3881073 w 5480026"/>
              <a:gd name="csY5" fmla="*/ 36184 h 94624"/>
              <a:gd name="csX6" fmla="*/ 4753649 w 5480026"/>
              <a:gd name="csY6" fmla="*/ 36184 h 94624"/>
              <a:gd name="csX7" fmla="*/ 4753649 w 5480026"/>
              <a:gd name="csY7" fmla="*/ 58440 h 94624"/>
              <a:gd name="csX8" fmla="*/ 4082437 w 5480026"/>
              <a:gd name="csY8" fmla="*/ 58440 h 94624"/>
              <a:gd name="csX9" fmla="*/ 3370952 w 5480026"/>
              <a:gd name="csY9" fmla="*/ 58440 h 94624"/>
              <a:gd name="csX10" fmla="*/ 2820558 w 5480026"/>
              <a:gd name="csY10" fmla="*/ 58440 h 94624"/>
              <a:gd name="csX11" fmla="*/ 2189619 w 5480026"/>
              <a:gd name="csY11" fmla="*/ 58440 h 94624"/>
              <a:gd name="csX12" fmla="*/ 1478134 w 5480026"/>
              <a:gd name="csY12" fmla="*/ 58440 h 94624"/>
              <a:gd name="csX13" fmla="*/ 726377 w 5480026"/>
              <a:gd name="csY13" fmla="*/ 58440 h 94624"/>
              <a:gd name="csX14" fmla="*/ 726377 w 5480026"/>
              <a:gd name="csY14" fmla="*/ 36184 h 946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480026" h="94624" fill="none" extrusionOk="0">
                <a:moveTo>
                  <a:pt x="726377" y="36184"/>
                </a:moveTo>
                <a:cubicBezTo>
                  <a:pt x="911788" y="19780"/>
                  <a:pt x="1237901" y="12608"/>
                  <a:pt x="1437862" y="36184"/>
                </a:cubicBezTo>
                <a:cubicBezTo>
                  <a:pt x="1637824" y="59760"/>
                  <a:pt x="1733256" y="18292"/>
                  <a:pt x="1988256" y="36184"/>
                </a:cubicBezTo>
                <a:cubicBezTo>
                  <a:pt x="2243256" y="54076"/>
                  <a:pt x="2405741" y="30484"/>
                  <a:pt x="2619195" y="36184"/>
                </a:cubicBezTo>
                <a:cubicBezTo>
                  <a:pt x="2832649" y="41884"/>
                  <a:pt x="3048700" y="28925"/>
                  <a:pt x="3330680" y="36184"/>
                </a:cubicBezTo>
                <a:cubicBezTo>
                  <a:pt x="3612660" y="43443"/>
                  <a:pt x="3719128" y="62328"/>
                  <a:pt x="3881073" y="36184"/>
                </a:cubicBezTo>
                <a:cubicBezTo>
                  <a:pt x="4043018" y="10040"/>
                  <a:pt x="4567695" y="-34"/>
                  <a:pt x="4753649" y="36184"/>
                </a:cubicBezTo>
                <a:cubicBezTo>
                  <a:pt x="4754423" y="41747"/>
                  <a:pt x="4753312" y="52707"/>
                  <a:pt x="4753649" y="58440"/>
                </a:cubicBezTo>
                <a:cubicBezTo>
                  <a:pt x="4579509" y="72312"/>
                  <a:pt x="4354978" y="61719"/>
                  <a:pt x="4082437" y="58440"/>
                </a:cubicBezTo>
                <a:cubicBezTo>
                  <a:pt x="3809896" y="55161"/>
                  <a:pt x="3631760" y="73307"/>
                  <a:pt x="3370952" y="58440"/>
                </a:cubicBezTo>
                <a:cubicBezTo>
                  <a:pt x="3110144" y="43573"/>
                  <a:pt x="2944482" y="50918"/>
                  <a:pt x="2820558" y="58440"/>
                </a:cubicBezTo>
                <a:cubicBezTo>
                  <a:pt x="2696634" y="65962"/>
                  <a:pt x="2328319" y="72580"/>
                  <a:pt x="2189619" y="58440"/>
                </a:cubicBezTo>
                <a:cubicBezTo>
                  <a:pt x="2050919" y="44300"/>
                  <a:pt x="1789139" y="89242"/>
                  <a:pt x="1478134" y="58440"/>
                </a:cubicBezTo>
                <a:cubicBezTo>
                  <a:pt x="1167130" y="27638"/>
                  <a:pt x="1012539" y="24602"/>
                  <a:pt x="726377" y="58440"/>
                </a:cubicBezTo>
                <a:cubicBezTo>
                  <a:pt x="726135" y="51783"/>
                  <a:pt x="726177" y="40942"/>
                  <a:pt x="726377" y="36184"/>
                </a:cubicBezTo>
                <a:close/>
              </a:path>
              <a:path w="5480026" h="94624" stroke="0" extrusionOk="0">
                <a:moveTo>
                  <a:pt x="726377" y="36184"/>
                </a:moveTo>
                <a:cubicBezTo>
                  <a:pt x="1011518" y="72599"/>
                  <a:pt x="1112442" y="36627"/>
                  <a:pt x="1478134" y="36184"/>
                </a:cubicBezTo>
                <a:cubicBezTo>
                  <a:pt x="1843826" y="35741"/>
                  <a:pt x="1927524" y="62916"/>
                  <a:pt x="2109074" y="36184"/>
                </a:cubicBezTo>
                <a:cubicBezTo>
                  <a:pt x="2290624" y="9452"/>
                  <a:pt x="2442027" y="33053"/>
                  <a:pt x="2659468" y="36184"/>
                </a:cubicBezTo>
                <a:cubicBezTo>
                  <a:pt x="2876909" y="39315"/>
                  <a:pt x="3110458" y="2855"/>
                  <a:pt x="3330680" y="36184"/>
                </a:cubicBezTo>
                <a:cubicBezTo>
                  <a:pt x="3550902" y="69513"/>
                  <a:pt x="3862724" y="21092"/>
                  <a:pt x="4001892" y="36184"/>
                </a:cubicBezTo>
                <a:cubicBezTo>
                  <a:pt x="4141060" y="51276"/>
                  <a:pt x="4393809" y="54627"/>
                  <a:pt x="4753649" y="36184"/>
                </a:cubicBezTo>
                <a:cubicBezTo>
                  <a:pt x="4754416" y="42385"/>
                  <a:pt x="4752648" y="50668"/>
                  <a:pt x="4753649" y="58440"/>
                </a:cubicBezTo>
                <a:cubicBezTo>
                  <a:pt x="4557853" y="58442"/>
                  <a:pt x="4272190" y="45819"/>
                  <a:pt x="4082437" y="58440"/>
                </a:cubicBezTo>
                <a:cubicBezTo>
                  <a:pt x="3892684" y="71061"/>
                  <a:pt x="3770225" y="75327"/>
                  <a:pt x="3532043" y="58440"/>
                </a:cubicBezTo>
                <a:cubicBezTo>
                  <a:pt x="3293861" y="41553"/>
                  <a:pt x="3083764" y="42032"/>
                  <a:pt x="2860831" y="58440"/>
                </a:cubicBezTo>
                <a:cubicBezTo>
                  <a:pt x="2637898" y="74848"/>
                  <a:pt x="2444006" y="81015"/>
                  <a:pt x="2149346" y="58440"/>
                </a:cubicBezTo>
                <a:cubicBezTo>
                  <a:pt x="1854687" y="35865"/>
                  <a:pt x="1639028" y="68151"/>
                  <a:pt x="1397589" y="58440"/>
                </a:cubicBezTo>
                <a:cubicBezTo>
                  <a:pt x="1156150" y="48729"/>
                  <a:pt x="896383" y="28851"/>
                  <a:pt x="726377" y="58440"/>
                </a:cubicBezTo>
                <a:cubicBezTo>
                  <a:pt x="725675" y="49926"/>
                  <a:pt x="726826" y="45865"/>
                  <a:pt x="726377" y="36184"/>
                </a:cubicBezTo>
                <a:close/>
              </a:path>
            </a:pathLst>
          </a:custGeom>
          <a:ln>
            <a:extLst>
              <a:ext uri="{C807C97D-BFC1-408E-A445-0C87EB9F89A2}">
                <ask:lineSketchStyleProps xmlns:ask="http://schemas.microsoft.com/office/drawing/2018/sketchyshapes" sd="3989574929">
                  <a:prstGeom prst="mathMinus">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034920F0-AC8D-BFF8-CB07-9B6F01362D38}"/>
              </a:ext>
            </a:extLst>
          </p:cNvPr>
          <p:cNvSpPr>
            <a:spLocks noGrp="1"/>
          </p:cNvSpPr>
          <p:nvPr>
            <p:ph type="ftr" sz="quarter" idx="11"/>
          </p:nvPr>
        </p:nvSpPr>
        <p:spPr>
          <a:xfrm>
            <a:off x="625522" y="5901425"/>
            <a:ext cx="10938679" cy="820050"/>
          </a:xfrm>
        </p:spPr>
        <p:txBody>
          <a:bodyPr/>
          <a:lstStyle/>
          <a:p>
            <a:r>
              <a:rPr lang="en-US" sz="1400" dirty="0">
                <a:latin typeface="Arial"/>
                <a:cs typeface="Arial"/>
              </a:rPr>
              <a:t>Total Papers Analyzed: 6 </a:t>
            </a:r>
          </a:p>
        </p:txBody>
      </p:sp>
      <p:grpSp>
        <p:nvGrpSpPr>
          <p:cNvPr id="6" name="Group 5">
            <a:extLst>
              <a:ext uri="{FF2B5EF4-FFF2-40B4-BE49-F238E27FC236}">
                <a16:creationId xmlns:a16="http://schemas.microsoft.com/office/drawing/2014/main" id="{C79B89A4-6E7F-C9BB-379C-5773AECB5035}"/>
              </a:ext>
            </a:extLst>
          </p:cNvPr>
          <p:cNvGrpSpPr/>
          <p:nvPr/>
        </p:nvGrpSpPr>
        <p:grpSpPr>
          <a:xfrm>
            <a:off x="904728" y="4838858"/>
            <a:ext cx="6357582" cy="483649"/>
            <a:chOff x="909850" y="2752298"/>
            <a:chExt cx="6357582" cy="369332"/>
          </a:xfrm>
        </p:grpSpPr>
        <p:sp>
          <p:nvSpPr>
            <p:cNvPr id="7" name="TextBox 6">
              <a:extLst>
                <a:ext uri="{FF2B5EF4-FFF2-40B4-BE49-F238E27FC236}">
                  <a16:creationId xmlns:a16="http://schemas.microsoft.com/office/drawing/2014/main" id="{89F056E3-B741-13F7-654B-7ECAFFA857A5}"/>
                </a:ext>
              </a:extLst>
            </p:cNvPr>
            <p:cNvSpPr txBox="1"/>
            <p:nvPr/>
          </p:nvSpPr>
          <p:spPr>
            <a:xfrm>
              <a:off x="909850" y="2752298"/>
              <a:ext cx="63575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a:latin typeface="Arial"/>
                  <a:ea typeface="+mn-lt"/>
                  <a:cs typeface="Arial"/>
                </a:rPr>
                <a:t>Traffic Rule Violation flagging </a:t>
              </a:r>
            </a:p>
          </p:txBody>
        </p:sp>
        <p:sp>
          <p:nvSpPr>
            <p:cNvPr id="8" name="Flowchart: Connector 7">
              <a:extLst>
                <a:ext uri="{FF2B5EF4-FFF2-40B4-BE49-F238E27FC236}">
                  <a16:creationId xmlns:a16="http://schemas.microsoft.com/office/drawing/2014/main" id="{311757DB-4505-3B8F-52C9-AA5B3259143C}"/>
                </a:ext>
              </a:extLst>
            </p:cNvPr>
            <p:cNvSpPr/>
            <p:nvPr/>
          </p:nvSpPr>
          <p:spPr>
            <a:xfrm>
              <a:off x="1012208" y="2763672"/>
              <a:ext cx="357103" cy="281788"/>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3</a:t>
              </a:r>
            </a:p>
          </p:txBody>
        </p:sp>
      </p:grpSp>
      <p:grpSp>
        <p:nvGrpSpPr>
          <p:cNvPr id="20" name="Group 19">
            <a:extLst>
              <a:ext uri="{FF2B5EF4-FFF2-40B4-BE49-F238E27FC236}">
                <a16:creationId xmlns:a16="http://schemas.microsoft.com/office/drawing/2014/main" id="{43619A7B-A302-6596-D088-55FFCAA657FB}"/>
              </a:ext>
            </a:extLst>
          </p:cNvPr>
          <p:cNvGrpSpPr/>
          <p:nvPr/>
        </p:nvGrpSpPr>
        <p:grpSpPr>
          <a:xfrm>
            <a:off x="1354020" y="4460172"/>
            <a:ext cx="8818889" cy="615016"/>
            <a:chOff x="1483056" y="2563505"/>
            <a:chExt cx="8088205" cy="656941"/>
          </a:xfrm>
        </p:grpSpPr>
        <p:sp>
          <p:nvSpPr>
            <p:cNvPr id="11" name="Flowchart: Connector 10">
              <a:extLst>
                <a:ext uri="{FF2B5EF4-FFF2-40B4-BE49-F238E27FC236}">
                  <a16:creationId xmlns:a16="http://schemas.microsoft.com/office/drawing/2014/main" id="{4C72542E-CB03-45DB-74D4-3DCA29A0093F}"/>
                </a:ext>
              </a:extLst>
            </p:cNvPr>
            <p:cNvSpPr/>
            <p:nvPr/>
          </p:nvSpPr>
          <p:spPr>
            <a:xfrm>
              <a:off x="1699145" y="2654489"/>
              <a:ext cx="174066" cy="180911"/>
            </a:xfrm>
            <a:prstGeom prst="flowChartConnector">
              <a:avLst/>
            </a:prstGeom>
            <a:solidFill>
              <a:srgbClr val="002F56"/>
            </a:solidFill>
            <a:ln>
              <a:solidFill>
                <a:srgbClr val="002F56"/>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Calibri"/>
                <a:cs typeface="Calibri"/>
              </a:endParaRPr>
            </a:p>
          </p:txBody>
        </p:sp>
        <p:sp>
          <p:nvSpPr>
            <p:cNvPr id="17" name="TextBox 16">
              <a:extLst>
                <a:ext uri="{FF2B5EF4-FFF2-40B4-BE49-F238E27FC236}">
                  <a16:creationId xmlns:a16="http://schemas.microsoft.com/office/drawing/2014/main" id="{585ADC1F-1EAA-7474-5ECD-34CEC32CE503}"/>
                </a:ext>
              </a:extLst>
            </p:cNvPr>
            <p:cNvSpPr txBox="1"/>
            <p:nvPr/>
          </p:nvSpPr>
          <p:spPr>
            <a:xfrm>
              <a:off x="1483056" y="2563505"/>
              <a:ext cx="8088205" cy="6569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a:ea typeface="+mn-lt"/>
                  <a:cs typeface="+mn-lt"/>
                </a:rPr>
                <a:t>Focus on dynamic and static environmental understanding for autonomous driving</a:t>
              </a:r>
              <a:endParaRPr lang="en-US"/>
            </a:p>
          </p:txBody>
        </p:sp>
      </p:grpSp>
      <p:sp>
        <p:nvSpPr>
          <p:cNvPr id="31" name="Flowchart: Connector 30">
            <a:extLst>
              <a:ext uri="{FF2B5EF4-FFF2-40B4-BE49-F238E27FC236}">
                <a16:creationId xmlns:a16="http://schemas.microsoft.com/office/drawing/2014/main" id="{A6058E7B-7205-55B3-25EE-4374379979A1}"/>
              </a:ext>
            </a:extLst>
          </p:cNvPr>
          <p:cNvSpPr/>
          <p:nvPr/>
        </p:nvSpPr>
        <p:spPr>
          <a:xfrm>
            <a:off x="1578057" y="3599733"/>
            <a:ext cx="174066" cy="180911"/>
          </a:xfrm>
          <a:prstGeom prst="flowChartConnector">
            <a:avLst/>
          </a:prstGeom>
          <a:solidFill>
            <a:srgbClr val="002F56"/>
          </a:solidFill>
          <a:ln>
            <a:solidFill>
              <a:srgbClr val="002F56"/>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Calibri"/>
              <a:cs typeface="Calibri"/>
            </a:endParaRPr>
          </a:p>
        </p:txBody>
      </p:sp>
      <p:sp>
        <p:nvSpPr>
          <p:cNvPr id="38" name="Flowchart: Connector 37">
            <a:extLst>
              <a:ext uri="{FF2B5EF4-FFF2-40B4-BE49-F238E27FC236}">
                <a16:creationId xmlns:a16="http://schemas.microsoft.com/office/drawing/2014/main" id="{AAD299E1-15D9-72EB-7DC6-539A2B4662AE}"/>
              </a:ext>
            </a:extLst>
          </p:cNvPr>
          <p:cNvSpPr/>
          <p:nvPr/>
        </p:nvSpPr>
        <p:spPr>
          <a:xfrm>
            <a:off x="1578451" y="5287694"/>
            <a:ext cx="174066" cy="180911"/>
          </a:xfrm>
          <a:prstGeom prst="flowChartConnector">
            <a:avLst/>
          </a:prstGeom>
          <a:solidFill>
            <a:srgbClr val="002F56"/>
          </a:solidFill>
          <a:ln>
            <a:solidFill>
              <a:srgbClr val="002F56"/>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Calibri"/>
              <a:cs typeface="Calibri"/>
            </a:endParaRPr>
          </a:p>
        </p:txBody>
      </p:sp>
      <p:sp>
        <p:nvSpPr>
          <p:cNvPr id="40" name="TextBox 39">
            <a:extLst>
              <a:ext uri="{FF2B5EF4-FFF2-40B4-BE49-F238E27FC236}">
                <a16:creationId xmlns:a16="http://schemas.microsoft.com/office/drawing/2014/main" id="{8A193508-95BE-1E0B-9BE2-D4416AA966FD}"/>
              </a:ext>
            </a:extLst>
          </p:cNvPr>
          <p:cNvSpPr txBox="1"/>
          <p:nvPr/>
        </p:nvSpPr>
        <p:spPr>
          <a:xfrm>
            <a:off x="1734460" y="3152530"/>
            <a:ext cx="709144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LiDAR-based scene perception using high-fidelity digital twins (HiFi DTs)</a:t>
            </a:r>
            <a:endParaRPr lang="en-US">
              <a:ea typeface="Calibri" panose="020F0502020204030204"/>
              <a:cs typeface="Calibri" panose="020F0502020204030204"/>
            </a:endParaRPr>
          </a:p>
        </p:txBody>
      </p:sp>
      <p:sp>
        <p:nvSpPr>
          <p:cNvPr id="42" name="Flowchart: Connector 41">
            <a:extLst>
              <a:ext uri="{FF2B5EF4-FFF2-40B4-BE49-F238E27FC236}">
                <a16:creationId xmlns:a16="http://schemas.microsoft.com/office/drawing/2014/main" id="{FB8C0C36-B90A-671B-63EC-ED1492A39F6C}"/>
              </a:ext>
            </a:extLst>
          </p:cNvPr>
          <p:cNvSpPr/>
          <p:nvPr/>
        </p:nvSpPr>
        <p:spPr>
          <a:xfrm>
            <a:off x="1567619" y="3246996"/>
            <a:ext cx="174066" cy="180911"/>
          </a:xfrm>
          <a:prstGeom prst="flowChartConnector">
            <a:avLst/>
          </a:prstGeom>
          <a:solidFill>
            <a:srgbClr val="002F56"/>
          </a:solidFill>
          <a:ln>
            <a:solidFill>
              <a:srgbClr val="002F56"/>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Calibri"/>
              <a:cs typeface="Calibri"/>
            </a:endParaRPr>
          </a:p>
        </p:txBody>
      </p:sp>
      <p:sp>
        <p:nvSpPr>
          <p:cNvPr id="43" name="TextBox 42">
            <a:extLst>
              <a:ext uri="{FF2B5EF4-FFF2-40B4-BE49-F238E27FC236}">
                <a16:creationId xmlns:a16="http://schemas.microsoft.com/office/drawing/2014/main" id="{166D8CBB-1AA6-2414-046C-D993FB24D0BA}"/>
              </a:ext>
            </a:extLst>
          </p:cNvPr>
          <p:cNvSpPr txBox="1"/>
          <p:nvPr/>
        </p:nvSpPr>
        <p:spPr>
          <a:xfrm>
            <a:off x="1732767" y="3521466"/>
            <a:ext cx="687245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Ego-vehicle camera-based pedestrian trajectory prediction (BA-PTP)</a:t>
            </a:r>
            <a:endParaRPr lang="en-US"/>
          </a:p>
        </p:txBody>
      </p:sp>
      <p:sp>
        <p:nvSpPr>
          <p:cNvPr id="45" name="TextBox 44">
            <a:extLst>
              <a:ext uri="{FF2B5EF4-FFF2-40B4-BE49-F238E27FC236}">
                <a16:creationId xmlns:a16="http://schemas.microsoft.com/office/drawing/2014/main" id="{297AB099-3FA4-A190-2773-93E90B696312}"/>
              </a:ext>
            </a:extLst>
          </p:cNvPr>
          <p:cNvSpPr txBox="1"/>
          <p:nvPr/>
        </p:nvSpPr>
        <p:spPr>
          <a:xfrm>
            <a:off x="1753643" y="5198298"/>
            <a:ext cx="8056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Detection and tracking of moving objects to flag potential violations</a:t>
            </a:r>
            <a:endParaRPr lang="en-US"/>
          </a:p>
        </p:txBody>
      </p:sp>
      <p:sp>
        <p:nvSpPr>
          <p:cNvPr id="48" name="Flowchart: Connector 47">
            <a:extLst>
              <a:ext uri="{FF2B5EF4-FFF2-40B4-BE49-F238E27FC236}">
                <a16:creationId xmlns:a16="http://schemas.microsoft.com/office/drawing/2014/main" id="{D0DDC4CB-CD5B-54B3-A084-47EB359B68A3}"/>
              </a:ext>
            </a:extLst>
          </p:cNvPr>
          <p:cNvSpPr/>
          <p:nvPr/>
        </p:nvSpPr>
        <p:spPr>
          <a:xfrm>
            <a:off x="1572432" y="2602205"/>
            <a:ext cx="174066" cy="177989"/>
          </a:xfrm>
          <a:prstGeom prst="flowChartConnector">
            <a:avLst/>
          </a:prstGeom>
          <a:solidFill>
            <a:srgbClr val="002F56"/>
          </a:solidFill>
          <a:ln>
            <a:solidFill>
              <a:srgbClr val="002F56"/>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Calibri"/>
              <a:cs typeface="Calibri"/>
            </a:endParaRPr>
          </a:p>
        </p:txBody>
      </p:sp>
      <p:sp>
        <p:nvSpPr>
          <p:cNvPr id="50" name="TextBox 49">
            <a:extLst>
              <a:ext uri="{FF2B5EF4-FFF2-40B4-BE49-F238E27FC236}">
                <a16:creationId xmlns:a16="http://schemas.microsoft.com/office/drawing/2014/main" id="{18BF0EFC-2002-B5D1-9B38-4E5BAB86F5DC}"/>
              </a:ext>
            </a:extLst>
          </p:cNvPr>
          <p:cNvSpPr txBox="1"/>
          <p:nvPr/>
        </p:nvSpPr>
        <p:spPr>
          <a:xfrm>
            <a:off x="1750887" y="2506190"/>
            <a:ext cx="56868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Highlights safety-related behavioral patterns in traffic</a:t>
            </a:r>
            <a:endParaRPr lang="en-US"/>
          </a:p>
        </p:txBody>
      </p:sp>
      <p:grpSp>
        <p:nvGrpSpPr>
          <p:cNvPr id="51" name="Group 50">
            <a:extLst>
              <a:ext uri="{FF2B5EF4-FFF2-40B4-BE49-F238E27FC236}">
                <a16:creationId xmlns:a16="http://schemas.microsoft.com/office/drawing/2014/main" id="{805BEA43-A2E6-7356-40B3-4F62681D9B00}"/>
              </a:ext>
            </a:extLst>
          </p:cNvPr>
          <p:cNvGrpSpPr/>
          <p:nvPr/>
        </p:nvGrpSpPr>
        <p:grpSpPr>
          <a:xfrm>
            <a:off x="1354016" y="3895707"/>
            <a:ext cx="7469963" cy="646330"/>
            <a:chOff x="1483056" y="2563504"/>
            <a:chExt cx="6866130" cy="656941"/>
          </a:xfrm>
        </p:grpSpPr>
        <p:sp>
          <p:nvSpPr>
            <p:cNvPr id="52" name="Flowchart: Connector 51">
              <a:extLst>
                <a:ext uri="{FF2B5EF4-FFF2-40B4-BE49-F238E27FC236}">
                  <a16:creationId xmlns:a16="http://schemas.microsoft.com/office/drawing/2014/main" id="{6F1F2A57-6813-333E-F44C-38FFCB62AC8B}"/>
                </a:ext>
              </a:extLst>
            </p:cNvPr>
            <p:cNvSpPr/>
            <p:nvPr/>
          </p:nvSpPr>
          <p:spPr>
            <a:xfrm>
              <a:off x="1699145" y="2654489"/>
              <a:ext cx="174066" cy="180911"/>
            </a:xfrm>
            <a:prstGeom prst="flowChartConnector">
              <a:avLst/>
            </a:prstGeom>
            <a:solidFill>
              <a:srgbClr val="002F56"/>
            </a:solidFill>
            <a:ln>
              <a:solidFill>
                <a:srgbClr val="002F56"/>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Calibri"/>
                <a:cs typeface="Calibri"/>
              </a:endParaRPr>
            </a:p>
          </p:txBody>
        </p:sp>
        <p:sp>
          <p:nvSpPr>
            <p:cNvPr id="53" name="TextBox 52">
              <a:extLst>
                <a:ext uri="{FF2B5EF4-FFF2-40B4-BE49-F238E27FC236}">
                  <a16:creationId xmlns:a16="http://schemas.microsoft.com/office/drawing/2014/main" id="{4CA702D2-453D-184F-3248-471E04E30FA3}"/>
                </a:ext>
              </a:extLst>
            </p:cNvPr>
            <p:cNvSpPr txBox="1"/>
            <p:nvPr/>
          </p:nvSpPr>
          <p:spPr>
            <a:xfrm>
              <a:off x="1483056" y="2563504"/>
              <a:ext cx="6866130" cy="6569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a:ea typeface="+mn-lt"/>
                  <a:cs typeface="+mn-lt"/>
                </a:rPr>
                <a:t>Incorporates behavioral cues (body/head orientation, pose) and ego-motion compensation</a:t>
              </a:r>
              <a:endParaRPr lang="en-US"/>
            </a:p>
          </p:txBody>
        </p:sp>
      </p:grpSp>
      <p:grpSp>
        <p:nvGrpSpPr>
          <p:cNvPr id="56" name="Group 55">
            <a:extLst>
              <a:ext uri="{FF2B5EF4-FFF2-40B4-BE49-F238E27FC236}">
                <a16:creationId xmlns:a16="http://schemas.microsoft.com/office/drawing/2014/main" id="{668CBA92-5D49-E1CC-834A-427D89E3A604}"/>
              </a:ext>
            </a:extLst>
          </p:cNvPr>
          <p:cNvGrpSpPr/>
          <p:nvPr/>
        </p:nvGrpSpPr>
        <p:grpSpPr>
          <a:xfrm>
            <a:off x="1354020" y="2132423"/>
            <a:ext cx="8818888" cy="369332"/>
            <a:chOff x="1483056" y="2563506"/>
            <a:chExt cx="8088205" cy="394508"/>
          </a:xfrm>
        </p:grpSpPr>
        <p:sp>
          <p:nvSpPr>
            <p:cNvPr id="57" name="Flowchart: Connector 56">
              <a:extLst>
                <a:ext uri="{FF2B5EF4-FFF2-40B4-BE49-F238E27FC236}">
                  <a16:creationId xmlns:a16="http://schemas.microsoft.com/office/drawing/2014/main" id="{34813BF7-A003-71D9-08CC-4C5A5AEA3A7C}"/>
                </a:ext>
              </a:extLst>
            </p:cNvPr>
            <p:cNvSpPr/>
            <p:nvPr/>
          </p:nvSpPr>
          <p:spPr>
            <a:xfrm>
              <a:off x="1699145" y="2654489"/>
              <a:ext cx="174066" cy="180911"/>
            </a:xfrm>
            <a:prstGeom prst="flowChartConnector">
              <a:avLst/>
            </a:prstGeom>
            <a:solidFill>
              <a:srgbClr val="002F56"/>
            </a:solidFill>
            <a:ln>
              <a:solidFill>
                <a:srgbClr val="002F56"/>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Calibri"/>
                <a:cs typeface="Calibri"/>
              </a:endParaRPr>
            </a:p>
          </p:txBody>
        </p:sp>
        <p:sp>
          <p:nvSpPr>
            <p:cNvPr id="58" name="TextBox 57">
              <a:extLst>
                <a:ext uri="{FF2B5EF4-FFF2-40B4-BE49-F238E27FC236}">
                  <a16:creationId xmlns:a16="http://schemas.microsoft.com/office/drawing/2014/main" id="{115A858E-7F0D-7A47-7F7E-884204C28314}"/>
                </a:ext>
              </a:extLst>
            </p:cNvPr>
            <p:cNvSpPr txBox="1"/>
            <p:nvPr/>
          </p:nvSpPr>
          <p:spPr>
            <a:xfrm>
              <a:off x="1483056" y="2563506"/>
              <a:ext cx="8088205" cy="3945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a:ea typeface="Calibri"/>
                  <a:cs typeface="Calibri"/>
                </a:rPr>
                <a:t>Examines riders behavior ( speeding ,Visibility, alertness)</a:t>
              </a:r>
              <a:endParaRPr lang="en-US"/>
            </a:p>
          </p:txBody>
        </p:sp>
      </p:grpSp>
      <p:grpSp>
        <p:nvGrpSpPr>
          <p:cNvPr id="61" name="Group 60">
            <a:extLst>
              <a:ext uri="{FF2B5EF4-FFF2-40B4-BE49-F238E27FC236}">
                <a16:creationId xmlns:a16="http://schemas.microsoft.com/office/drawing/2014/main" id="{5410227D-DF57-92DE-AF69-64D1329ABBFD}"/>
              </a:ext>
            </a:extLst>
          </p:cNvPr>
          <p:cNvGrpSpPr/>
          <p:nvPr/>
        </p:nvGrpSpPr>
        <p:grpSpPr>
          <a:xfrm>
            <a:off x="1354015" y="5565847"/>
            <a:ext cx="7469963" cy="369332"/>
            <a:chOff x="1483056" y="2563504"/>
            <a:chExt cx="6866130" cy="375395"/>
          </a:xfrm>
        </p:grpSpPr>
        <p:sp>
          <p:nvSpPr>
            <p:cNvPr id="62" name="Flowchart: Connector 61">
              <a:extLst>
                <a:ext uri="{FF2B5EF4-FFF2-40B4-BE49-F238E27FC236}">
                  <a16:creationId xmlns:a16="http://schemas.microsoft.com/office/drawing/2014/main" id="{29E5E073-3D08-BEF5-19E0-B45D82B7B9B8}"/>
                </a:ext>
              </a:extLst>
            </p:cNvPr>
            <p:cNvSpPr/>
            <p:nvPr/>
          </p:nvSpPr>
          <p:spPr>
            <a:xfrm>
              <a:off x="1699145" y="2654489"/>
              <a:ext cx="174066" cy="180911"/>
            </a:xfrm>
            <a:prstGeom prst="flowChartConnector">
              <a:avLst/>
            </a:prstGeom>
            <a:solidFill>
              <a:srgbClr val="002F56"/>
            </a:solidFill>
            <a:ln>
              <a:solidFill>
                <a:srgbClr val="002F56"/>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ea typeface="Calibri"/>
                <a:cs typeface="Calibri"/>
              </a:endParaRPr>
            </a:p>
          </p:txBody>
        </p:sp>
        <p:sp>
          <p:nvSpPr>
            <p:cNvPr id="63" name="TextBox 62">
              <a:extLst>
                <a:ext uri="{FF2B5EF4-FFF2-40B4-BE49-F238E27FC236}">
                  <a16:creationId xmlns:a16="http://schemas.microsoft.com/office/drawing/2014/main" id="{E8A624AA-DD6B-2091-29BA-AA13F8ED8D50}"/>
                </a:ext>
              </a:extLst>
            </p:cNvPr>
            <p:cNvSpPr txBox="1"/>
            <p:nvPr/>
          </p:nvSpPr>
          <p:spPr>
            <a:xfrm>
              <a:off x="1483056" y="2563504"/>
              <a:ext cx="6866130" cy="3753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a:ea typeface="+mn-lt"/>
                  <a:cs typeface="+mn-lt"/>
                </a:rPr>
                <a:t>Analyze rare events</a:t>
              </a:r>
              <a:endParaRPr lang="en-US">
                <a:ea typeface="Calibri"/>
                <a:cs typeface="Calibri"/>
              </a:endParaRPr>
            </a:p>
          </p:txBody>
        </p:sp>
      </p:grpSp>
    </p:spTree>
    <p:extLst>
      <p:ext uri="{BB962C8B-B14F-4D97-AF65-F5344CB8AC3E}">
        <p14:creationId xmlns:p14="http://schemas.microsoft.com/office/powerpoint/2010/main" val="3932925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872C7-FE63-4FD1-F56D-02D93A7AC46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506C6C1-767B-2597-03EE-47C2D562374D}"/>
              </a:ext>
            </a:extLst>
          </p:cNvPr>
          <p:cNvSpPr/>
          <p:nvPr/>
        </p:nvSpPr>
        <p:spPr>
          <a:xfrm>
            <a:off x="4762" y="-4762"/>
            <a:ext cx="12180093" cy="917735"/>
          </a:xfrm>
          <a:prstGeom prst="rect">
            <a:avLst/>
          </a:prstGeom>
          <a:solidFill>
            <a:srgbClr val="002F56"/>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4400" b="1">
                <a:latin typeface="Georgia"/>
              </a:rPr>
              <a:t>Premier University</a:t>
            </a:r>
            <a:endParaRPr lang="en-US" sz="4400" b="1">
              <a:latin typeface="Georgia"/>
              <a:ea typeface="Calibri" panose="020F0502020204030204"/>
              <a:cs typeface="Calibri" panose="020F0502020204030204"/>
            </a:endParaRPr>
          </a:p>
        </p:txBody>
      </p:sp>
      <p:sp>
        <p:nvSpPr>
          <p:cNvPr id="9" name="Minus Sign 8">
            <a:extLst>
              <a:ext uri="{FF2B5EF4-FFF2-40B4-BE49-F238E27FC236}">
                <a16:creationId xmlns:a16="http://schemas.microsoft.com/office/drawing/2014/main" id="{8CD4E618-5618-0E41-6802-2FF829FA2A4B}"/>
              </a:ext>
            </a:extLst>
          </p:cNvPr>
          <p:cNvSpPr/>
          <p:nvPr/>
        </p:nvSpPr>
        <p:spPr>
          <a:xfrm>
            <a:off x="-2185988" y="6286500"/>
            <a:ext cx="16546487" cy="917278"/>
          </a:xfrm>
          <a:prstGeom prst="mathMinus">
            <a:avLst/>
          </a:prstGeom>
          <a:solidFill>
            <a:srgbClr val="002F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F3A5C101-E4E9-433B-F0A7-E5CEEF5F9B60}"/>
              </a:ext>
            </a:extLst>
          </p:cNvPr>
          <p:cNvSpPr>
            <a:spLocks noGrp="1"/>
          </p:cNvSpPr>
          <p:nvPr>
            <p:ph type="title"/>
          </p:nvPr>
        </p:nvSpPr>
        <p:spPr>
          <a:xfrm>
            <a:off x="827762" y="582618"/>
            <a:ext cx="10515600" cy="1325563"/>
          </a:xfrm>
        </p:spPr>
        <p:txBody>
          <a:bodyPr>
            <a:normAutofit/>
          </a:bodyPr>
          <a:lstStyle/>
          <a:p>
            <a:pPr algn="ctr"/>
            <a:r>
              <a:rPr lang="en-US" sz="3600">
                <a:solidFill>
                  <a:srgbClr val="005BBB"/>
                </a:solidFill>
                <a:latin typeface="Georgia"/>
                <a:ea typeface="+mj-lt"/>
                <a:cs typeface="+mj-lt"/>
              </a:rPr>
              <a:t>Human Behavior and Safety factoring</a:t>
            </a:r>
            <a:endParaRPr lang="en-US">
              <a:solidFill>
                <a:srgbClr val="000000"/>
              </a:solidFill>
              <a:latin typeface="Calibri Light"/>
              <a:ea typeface="Calibri Light"/>
              <a:cs typeface="Calibri Light"/>
            </a:endParaRPr>
          </a:p>
        </p:txBody>
      </p:sp>
      <p:sp>
        <p:nvSpPr>
          <p:cNvPr id="15" name="Slide Number Placeholder 14">
            <a:extLst>
              <a:ext uri="{FF2B5EF4-FFF2-40B4-BE49-F238E27FC236}">
                <a16:creationId xmlns:a16="http://schemas.microsoft.com/office/drawing/2014/main" id="{6D81F35A-91CD-0232-FFDB-A2419D7DFEE3}"/>
              </a:ext>
            </a:extLst>
          </p:cNvPr>
          <p:cNvSpPr>
            <a:spLocks noGrp="1"/>
          </p:cNvSpPr>
          <p:nvPr>
            <p:ph type="sldNum" sz="quarter" idx="12"/>
          </p:nvPr>
        </p:nvSpPr>
        <p:spPr/>
        <p:txBody>
          <a:bodyPr/>
          <a:lstStyle/>
          <a:p>
            <a:fld id="{48F63A3B-78C7-47BE-AE5E-E10140E04643}" type="slidenum">
              <a:rPr lang="en-US" sz="1400" dirty="0">
                <a:latin typeface="Georgia"/>
              </a:rPr>
              <a:t>3</a:t>
            </a:fld>
            <a:endParaRPr lang="en-US" sz="1400">
              <a:latin typeface="Georgia"/>
            </a:endParaRPr>
          </a:p>
        </p:txBody>
      </p:sp>
      <p:sp>
        <p:nvSpPr>
          <p:cNvPr id="7" name="Minus Sign 6">
            <a:extLst>
              <a:ext uri="{FF2B5EF4-FFF2-40B4-BE49-F238E27FC236}">
                <a16:creationId xmlns:a16="http://schemas.microsoft.com/office/drawing/2014/main" id="{DB79741D-B424-078A-6B53-6EC5342BBA8E}"/>
              </a:ext>
            </a:extLst>
          </p:cNvPr>
          <p:cNvSpPr/>
          <p:nvPr/>
        </p:nvSpPr>
        <p:spPr>
          <a:xfrm>
            <a:off x="2967103" y="1473113"/>
            <a:ext cx="5480026" cy="94624"/>
          </a:xfrm>
          <a:custGeom>
            <a:avLst/>
            <a:gdLst>
              <a:gd name="csX0" fmla="*/ 726377 w 5480026"/>
              <a:gd name="csY0" fmla="*/ 36184 h 94624"/>
              <a:gd name="csX1" fmla="*/ 1437862 w 5480026"/>
              <a:gd name="csY1" fmla="*/ 36184 h 94624"/>
              <a:gd name="csX2" fmla="*/ 1988256 w 5480026"/>
              <a:gd name="csY2" fmla="*/ 36184 h 94624"/>
              <a:gd name="csX3" fmla="*/ 2619195 w 5480026"/>
              <a:gd name="csY3" fmla="*/ 36184 h 94624"/>
              <a:gd name="csX4" fmla="*/ 3330680 w 5480026"/>
              <a:gd name="csY4" fmla="*/ 36184 h 94624"/>
              <a:gd name="csX5" fmla="*/ 3881073 w 5480026"/>
              <a:gd name="csY5" fmla="*/ 36184 h 94624"/>
              <a:gd name="csX6" fmla="*/ 4753649 w 5480026"/>
              <a:gd name="csY6" fmla="*/ 36184 h 94624"/>
              <a:gd name="csX7" fmla="*/ 4753649 w 5480026"/>
              <a:gd name="csY7" fmla="*/ 58440 h 94624"/>
              <a:gd name="csX8" fmla="*/ 4082437 w 5480026"/>
              <a:gd name="csY8" fmla="*/ 58440 h 94624"/>
              <a:gd name="csX9" fmla="*/ 3370952 w 5480026"/>
              <a:gd name="csY9" fmla="*/ 58440 h 94624"/>
              <a:gd name="csX10" fmla="*/ 2820558 w 5480026"/>
              <a:gd name="csY10" fmla="*/ 58440 h 94624"/>
              <a:gd name="csX11" fmla="*/ 2189619 w 5480026"/>
              <a:gd name="csY11" fmla="*/ 58440 h 94624"/>
              <a:gd name="csX12" fmla="*/ 1478134 w 5480026"/>
              <a:gd name="csY12" fmla="*/ 58440 h 94624"/>
              <a:gd name="csX13" fmla="*/ 726377 w 5480026"/>
              <a:gd name="csY13" fmla="*/ 58440 h 94624"/>
              <a:gd name="csX14" fmla="*/ 726377 w 5480026"/>
              <a:gd name="csY14" fmla="*/ 36184 h 946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480026" h="94624" fill="none" extrusionOk="0">
                <a:moveTo>
                  <a:pt x="726377" y="36184"/>
                </a:moveTo>
                <a:cubicBezTo>
                  <a:pt x="911788" y="19780"/>
                  <a:pt x="1237901" y="12608"/>
                  <a:pt x="1437862" y="36184"/>
                </a:cubicBezTo>
                <a:cubicBezTo>
                  <a:pt x="1637824" y="59760"/>
                  <a:pt x="1733256" y="18292"/>
                  <a:pt x="1988256" y="36184"/>
                </a:cubicBezTo>
                <a:cubicBezTo>
                  <a:pt x="2243256" y="54076"/>
                  <a:pt x="2405741" y="30484"/>
                  <a:pt x="2619195" y="36184"/>
                </a:cubicBezTo>
                <a:cubicBezTo>
                  <a:pt x="2832649" y="41884"/>
                  <a:pt x="3048700" y="28925"/>
                  <a:pt x="3330680" y="36184"/>
                </a:cubicBezTo>
                <a:cubicBezTo>
                  <a:pt x="3612660" y="43443"/>
                  <a:pt x="3719128" y="62328"/>
                  <a:pt x="3881073" y="36184"/>
                </a:cubicBezTo>
                <a:cubicBezTo>
                  <a:pt x="4043018" y="10040"/>
                  <a:pt x="4567695" y="-34"/>
                  <a:pt x="4753649" y="36184"/>
                </a:cubicBezTo>
                <a:cubicBezTo>
                  <a:pt x="4754423" y="41747"/>
                  <a:pt x="4753312" y="52707"/>
                  <a:pt x="4753649" y="58440"/>
                </a:cubicBezTo>
                <a:cubicBezTo>
                  <a:pt x="4579509" y="72312"/>
                  <a:pt x="4354978" y="61719"/>
                  <a:pt x="4082437" y="58440"/>
                </a:cubicBezTo>
                <a:cubicBezTo>
                  <a:pt x="3809896" y="55161"/>
                  <a:pt x="3631760" y="73307"/>
                  <a:pt x="3370952" y="58440"/>
                </a:cubicBezTo>
                <a:cubicBezTo>
                  <a:pt x="3110144" y="43573"/>
                  <a:pt x="2944482" y="50918"/>
                  <a:pt x="2820558" y="58440"/>
                </a:cubicBezTo>
                <a:cubicBezTo>
                  <a:pt x="2696634" y="65962"/>
                  <a:pt x="2328319" y="72580"/>
                  <a:pt x="2189619" y="58440"/>
                </a:cubicBezTo>
                <a:cubicBezTo>
                  <a:pt x="2050919" y="44300"/>
                  <a:pt x="1789139" y="89242"/>
                  <a:pt x="1478134" y="58440"/>
                </a:cubicBezTo>
                <a:cubicBezTo>
                  <a:pt x="1167130" y="27638"/>
                  <a:pt x="1012539" y="24602"/>
                  <a:pt x="726377" y="58440"/>
                </a:cubicBezTo>
                <a:cubicBezTo>
                  <a:pt x="726135" y="51783"/>
                  <a:pt x="726177" y="40942"/>
                  <a:pt x="726377" y="36184"/>
                </a:cubicBezTo>
                <a:close/>
              </a:path>
              <a:path w="5480026" h="94624" stroke="0" extrusionOk="0">
                <a:moveTo>
                  <a:pt x="726377" y="36184"/>
                </a:moveTo>
                <a:cubicBezTo>
                  <a:pt x="1011518" y="72599"/>
                  <a:pt x="1112442" y="36627"/>
                  <a:pt x="1478134" y="36184"/>
                </a:cubicBezTo>
                <a:cubicBezTo>
                  <a:pt x="1843826" y="35741"/>
                  <a:pt x="1927524" y="62916"/>
                  <a:pt x="2109074" y="36184"/>
                </a:cubicBezTo>
                <a:cubicBezTo>
                  <a:pt x="2290624" y="9452"/>
                  <a:pt x="2442027" y="33053"/>
                  <a:pt x="2659468" y="36184"/>
                </a:cubicBezTo>
                <a:cubicBezTo>
                  <a:pt x="2876909" y="39315"/>
                  <a:pt x="3110458" y="2855"/>
                  <a:pt x="3330680" y="36184"/>
                </a:cubicBezTo>
                <a:cubicBezTo>
                  <a:pt x="3550902" y="69513"/>
                  <a:pt x="3862724" y="21092"/>
                  <a:pt x="4001892" y="36184"/>
                </a:cubicBezTo>
                <a:cubicBezTo>
                  <a:pt x="4141060" y="51276"/>
                  <a:pt x="4393809" y="54627"/>
                  <a:pt x="4753649" y="36184"/>
                </a:cubicBezTo>
                <a:cubicBezTo>
                  <a:pt x="4754416" y="42385"/>
                  <a:pt x="4752648" y="50668"/>
                  <a:pt x="4753649" y="58440"/>
                </a:cubicBezTo>
                <a:cubicBezTo>
                  <a:pt x="4557853" y="58442"/>
                  <a:pt x="4272190" y="45819"/>
                  <a:pt x="4082437" y="58440"/>
                </a:cubicBezTo>
                <a:cubicBezTo>
                  <a:pt x="3892684" y="71061"/>
                  <a:pt x="3770225" y="75327"/>
                  <a:pt x="3532043" y="58440"/>
                </a:cubicBezTo>
                <a:cubicBezTo>
                  <a:pt x="3293861" y="41553"/>
                  <a:pt x="3083764" y="42032"/>
                  <a:pt x="2860831" y="58440"/>
                </a:cubicBezTo>
                <a:cubicBezTo>
                  <a:pt x="2637898" y="74848"/>
                  <a:pt x="2444006" y="81015"/>
                  <a:pt x="2149346" y="58440"/>
                </a:cubicBezTo>
                <a:cubicBezTo>
                  <a:pt x="1854687" y="35865"/>
                  <a:pt x="1639028" y="68151"/>
                  <a:pt x="1397589" y="58440"/>
                </a:cubicBezTo>
                <a:cubicBezTo>
                  <a:pt x="1156150" y="48729"/>
                  <a:pt x="896383" y="28851"/>
                  <a:pt x="726377" y="58440"/>
                </a:cubicBezTo>
                <a:cubicBezTo>
                  <a:pt x="725675" y="49926"/>
                  <a:pt x="726826" y="45865"/>
                  <a:pt x="726377" y="36184"/>
                </a:cubicBezTo>
                <a:close/>
              </a:path>
            </a:pathLst>
          </a:custGeom>
          <a:ln>
            <a:extLst>
              <a:ext uri="{C807C97D-BFC1-408E-A445-0C87EB9F89A2}">
                <ask:lineSketchStyleProps xmlns:ask="http://schemas.microsoft.com/office/drawing/2018/sketchyshapes" sd="3989574929">
                  <a:prstGeom prst="mathMinus">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BDBDD197-5DBE-C862-BCDE-E600E5F13C46}"/>
              </a:ext>
            </a:extLst>
          </p:cNvPr>
          <p:cNvGrpSpPr/>
          <p:nvPr/>
        </p:nvGrpSpPr>
        <p:grpSpPr>
          <a:xfrm>
            <a:off x="141456" y="1570670"/>
            <a:ext cx="9457773" cy="371598"/>
            <a:chOff x="909850" y="2752298"/>
            <a:chExt cx="9457773" cy="371598"/>
          </a:xfrm>
        </p:grpSpPr>
        <p:sp>
          <p:nvSpPr>
            <p:cNvPr id="18" name="TextBox 17">
              <a:extLst>
                <a:ext uri="{FF2B5EF4-FFF2-40B4-BE49-F238E27FC236}">
                  <a16:creationId xmlns:a16="http://schemas.microsoft.com/office/drawing/2014/main" id="{EBDAA658-99F9-EF6A-325E-D9F70A591E72}"/>
                </a:ext>
              </a:extLst>
            </p:cNvPr>
            <p:cNvSpPr txBox="1"/>
            <p:nvPr/>
          </p:nvSpPr>
          <p:spPr>
            <a:xfrm>
              <a:off x="909850" y="2752298"/>
              <a:ext cx="94577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dirty="0">
                  <a:latin typeface="Arial"/>
                  <a:ea typeface="+mn-lt"/>
                  <a:cs typeface="+mn-lt"/>
                </a:rPr>
                <a:t>Accidents that causes because of drivers according to 2 different survey</a:t>
              </a:r>
            </a:p>
          </p:txBody>
        </p:sp>
        <p:sp>
          <p:nvSpPr>
            <p:cNvPr id="19" name="Flowchart: Connector 18">
              <a:extLst>
                <a:ext uri="{FF2B5EF4-FFF2-40B4-BE49-F238E27FC236}">
                  <a16:creationId xmlns:a16="http://schemas.microsoft.com/office/drawing/2014/main" id="{53D7421C-FAF8-A895-454A-E674B8EE7B45}"/>
                </a:ext>
              </a:extLst>
            </p:cNvPr>
            <p:cNvSpPr/>
            <p:nvPr/>
          </p:nvSpPr>
          <p:spPr>
            <a:xfrm>
              <a:off x="1012208" y="2763671"/>
              <a:ext cx="367123" cy="36022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ea typeface="Calibri"/>
                <a:cs typeface="Calibri"/>
              </a:endParaRPr>
            </a:p>
          </p:txBody>
        </p:sp>
      </p:grpSp>
      <p:graphicFrame>
        <p:nvGraphicFramePr>
          <p:cNvPr id="8" name="Chart 7">
            <a:extLst>
              <a:ext uri="{FF2B5EF4-FFF2-40B4-BE49-F238E27FC236}">
                <a16:creationId xmlns:a16="http://schemas.microsoft.com/office/drawing/2014/main" id="{19F99FE4-2F0C-C9C7-56A9-00D7E8EA8A46}"/>
              </a:ext>
            </a:extLst>
          </p:cNvPr>
          <p:cNvGraphicFramePr/>
          <p:nvPr>
            <p:extLst>
              <p:ext uri="{D42A27DB-BD31-4B8C-83A1-F6EECF244321}">
                <p14:modId xmlns:p14="http://schemas.microsoft.com/office/powerpoint/2010/main" val="1958391108"/>
              </p:ext>
            </p:extLst>
          </p:nvPr>
        </p:nvGraphicFramePr>
        <p:xfrm>
          <a:off x="407488" y="2295960"/>
          <a:ext cx="6096000" cy="414655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C80CAEFD-094B-C84C-7EC0-4300073DCD98}"/>
              </a:ext>
            </a:extLst>
          </p:cNvPr>
          <p:cNvGraphicFramePr/>
          <p:nvPr>
            <p:extLst>
              <p:ext uri="{D42A27DB-BD31-4B8C-83A1-F6EECF244321}">
                <p14:modId xmlns:p14="http://schemas.microsoft.com/office/powerpoint/2010/main" val="3932907406"/>
              </p:ext>
            </p:extLst>
          </p:nvPr>
        </p:nvGraphicFramePr>
        <p:xfrm>
          <a:off x="6503096" y="2399560"/>
          <a:ext cx="5334000" cy="41465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67400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696D2-567D-50C7-2B6F-0DF82A8F133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0726B4F-E23D-1F64-EA8D-C47C372EFDF3}"/>
              </a:ext>
            </a:extLst>
          </p:cNvPr>
          <p:cNvSpPr/>
          <p:nvPr/>
        </p:nvSpPr>
        <p:spPr>
          <a:xfrm>
            <a:off x="4762" y="-4762"/>
            <a:ext cx="12180093" cy="917735"/>
          </a:xfrm>
          <a:prstGeom prst="rect">
            <a:avLst/>
          </a:prstGeom>
          <a:solidFill>
            <a:srgbClr val="002F56"/>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4400" b="1">
                <a:latin typeface="Georgia"/>
              </a:rPr>
              <a:t>Premier University</a:t>
            </a:r>
            <a:endParaRPr lang="en-US" sz="4400" b="1">
              <a:latin typeface="Georgia"/>
              <a:ea typeface="Calibri" panose="020F0502020204030204"/>
              <a:cs typeface="Calibri" panose="020F0502020204030204"/>
            </a:endParaRPr>
          </a:p>
        </p:txBody>
      </p:sp>
      <p:sp>
        <p:nvSpPr>
          <p:cNvPr id="9" name="Minus Sign 8">
            <a:extLst>
              <a:ext uri="{FF2B5EF4-FFF2-40B4-BE49-F238E27FC236}">
                <a16:creationId xmlns:a16="http://schemas.microsoft.com/office/drawing/2014/main" id="{DBBDD926-0848-B28F-6B5D-3674793F0BFA}"/>
              </a:ext>
            </a:extLst>
          </p:cNvPr>
          <p:cNvSpPr/>
          <p:nvPr/>
        </p:nvSpPr>
        <p:spPr>
          <a:xfrm>
            <a:off x="-2185988" y="6286500"/>
            <a:ext cx="16546487" cy="917278"/>
          </a:xfrm>
          <a:prstGeom prst="mathMinus">
            <a:avLst/>
          </a:prstGeom>
          <a:solidFill>
            <a:srgbClr val="002F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14">
            <a:extLst>
              <a:ext uri="{FF2B5EF4-FFF2-40B4-BE49-F238E27FC236}">
                <a16:creationId xmlns:a16="http://schemas.microsoft.com/office/drawing/2014/main" id="{6BF09ACE-D085-A0C5-7092-91B6AF7549E5}"/>
              </a:ext>
            </a:extLst>
          </p:cNvPr>
          <p:cNvSpPr>
            <a:spLocks noGrp="1"/>
          </p:cNvSpPr>
          <p:nvPr>
            <p:ph type="sldNum" sz="quarter" idx="12"/>
          </p:nvPr>
        </p:nvSpPr>
        <p:spPr/>
        <p:txBody>
          <a:bodyPr/>
          <a:lstStyle/>
          <a:p>
            <a:fld id="{48F63A3B-78C7-47BE-AE5E-E10140E04643}" type="slidenum">
              <a:rPr lang="en-US" sz="1400" dirty="0">
                <a:latin typeface="Georgia"/>
              </a:rPr>
              <a:t>4</a:t>
            </a:fld>
            <a:endParaRPr lang="en-US" sz="1400">
              <a:latin typeface="Georgia"/>
            </a:endParaRPr>
          </a:p>
        </p:txBody>
      </p:sp>
      <p:sp>
        <p:nvSpPr>
          <p:cNvPr id="8" name="TextBox 7">
            <a:extLst>
              <a:ext uri="{FF2B5EF4-FFF2-40B4-BE49-F238E27FC236}">
                <a16:creationId xmlns:a16="http://schemas.microsoft.com/office/drawing/2014/main" id="{7F86D03B-E0F6-0DF1-8636-44CF893E1276}"/>
              </a:ext>
            </a:extLst>
          </p:cNvPr>
          <p:cNvSpPr txBox="1"/>
          <p:nvPr/>
        </p:nvSpPr>
        <p:spPr>
          <a:xfrm>
            <a:off x="3048000" y="3429000"/>
            <a:ext cx="60960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dirty="0">
                <a:solidFill>
                  <a:srgbClr val="000000"/>
                </a:solidFill>
                <a:latin typeface="Calibri"/>
                <a:ea typeface="Calibri"/>
                <a:cs typeface="Calibri"/>
              </a:rPr>
              <a:t>​</a:t>
            </a:r>
            <a:endParaRPr lang="en-US" dirty="0"/>
          </a:p>
        </p:txBody>
      </p:sp>
      <p:grpSp>
        <p:nvGrpSpPr>
          <p:cNvPr id="16" name="Group 15">
            <a:extLst>
              <a:ext uri="{FF2B5EF4-FFF2-40B4-BE49-F238E27FC236}">
                <a16:creationId xmlns:a16="http://schemas.microsoft.com/office/drawing/2014/main" id="{3CAE44F8-CCD8-C90E-9FAB-0B29A130784E}"/>
              </a:ext>
            </a:extLst>
          </p:cNvPr>
          <p:cNvGrpSpPr/>
          <p:nvPr/>
        </p:nvGrpSpPr>
        <p:grpSpPr>
          <a:xfrm>
            <a:off x="411810" y="1407701"/>
            <a:ext cx="6357582" cy="923330"/>
            <a:chOff x="909850" y="2752298"/>
            <a:chExt cx="6357582" cy="923330"/>
          </a:xfrm>
        </p:grpSpPr>
        <p:sp>
          <p:nvSpPr>
            <p:cNvPr id="13" name="TextBox 12">
              <a:extLst>
                <a:ext uri="{FF2B5EF4-FFF2-40B4-BE49-F238E27FC236}">
                  <a16:creationId xmlns:a16="http://schemas.microsoft.com/office/drawing/2014/main" id="{440FEB6F-C201-3B62-5A90-86C588C1AB5F}"/>
                </a:ext>
              </a:extLst>
            </p:cNvPr>
            <p:cNvSpPr txBox="1"/>
            <p:nvPr/>
          </p:nvSpPr>
          <p:spPr>
            <a:xfrm>
              <a:off x="909850" y="2752298"/>
              <a:ext cx="6357582" cy="92333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b="1" dirty="0">
                  <a:latin typeface="Calibri"/>
                  <a:ea typeface="Calibri" panose="020F0502020204030204"/>
                  <a:cs typeface="Calibri"/>
                </a:rPr>
                <a:t>94% of crashes</a:t>
              </a:r>
              <a:r>
                <a:rPr lang="en-US" dirty="0">
                  <a:latin typeface="Calibri"/>
                  <a:ea typeface="Calibri" panose="020F0502020204030204"/>
                  <a:cs typeface="Calibri"/>
                </a:rPr>
                <a:t> involve human-related perception/decision errors.</a:t>
              </a:r>
              <a:endParaRPr lang="en-US" dirty="0"/>
            </a:p>
            <a:p>
              <a:pPr lvl="1"/>
              <a:endParaRPr lang="en-US" dirty="0">
                <a:latin typeface="Arial"/>
                <a:ea typeface="Calibri"/>
                <a:cs typeface="Arial"/>
              </a:endParaRPr>
            </a:p>
          </p:txBody>
        </p:sp>
        <p:sp>
          <p:nvSpPr>
            <p:cNvPr id="14" name="Flowchart: Connector 13">
              <a:extLst>
                <a:ext uri="{FF2B5EF4-FFF2-40B4-BE49-F238E27FC236}">
                  <a16:creationId xmlns:a16="http://schemas.microsoft.com/office/drawing/2014/main" id="{D1BC551A-950D-CD69-027D-019EA1D9D034}"/>
                </a:ext>
              </a:extLst>
            </p:cNvPr>
            <p:cNvSpPr/>
            <p:nvPr/>
          </p:nvSpPr>
          <p:spPr>
            <a:xfrm>
              <a:off x="1022646" y="2805424"/>
              <a:ext cx="277351" cy="269203"/>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grpSp>
      <p:grpSp>
        <p:nvGrpSpPr>
          <p:cNvPr id="4" name="Group 3">
            <a:extLst>
              <a:ext uri="{FF2B5EF4-FFF2-40B4-BE49-F238E27FC236}">
                <a16:creationId xmlns:a16="http://schemas.microsoft.com/office/drawing/2014/main" id="{BA7A0828-5EFB-416E-3D6B-BD8CD74B13E0}"/>
              </a:ext>
            </a:extLst>
          </p:cNvPr>
          <p:cNvGrpSpPr/>
          <p:nvPr/>
        </p:nvGrpSpPr>
        <p:grpSpPr>
          <a:xfrm>
            <a:off x="411810" y="2198275"/>
            <a:ext cx="6357582" cy="646331"/>
            <a:chOff x="909850" y="2752298"/>
            <a:chExt cx="6357582" cy="646331"/>
          </a:xfrm>
        </p:grpSpPr>
        <p:sp>
          <p:nvSpPr>
            <p:cNvPr id="5" name="TextBox 4">
              <a:extLst>
                <a:ext uri="{FF2B5EF4-FFF2-40B4-BE49-F238E27FC236}">
                  <a16:creationId xmlns:a16="http://schemas.microsoft.com/office/drawing/2014/main" id="{E7B1BF38-4631-05F6-BD3A-962D1FB9FBCE}"/>
                </a:ext>
              </a:extLst>
            </p:cNvPr>
            <p:cNvSpPr txBox="1"/>
            <p:nvPr/>
          </p:nvSpPr>
          <p:spPr>
            <a:xfrm>
              <a:off x="909850" y="2752298"/>
              <a:ext cx="6357582" cy="64633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b="1" dirty="0">
                  <a:latin typeface="Calibri"/>
                  <a:ea typeface="Calibri" panose="020F0502020204030204"/>
                  <a:cs typeface="Calibri"/>
                </a:rPr>
                <a:t>Only 1.9 %</a:t>
              </a:r>
              <a:r>
                <a:rPr lang="en-US" dirty="0">
                  <a:latin typeface="Calibri"/>
                  <a:ea typeface="Calibri" panose="020F0502020204030204"/>
                  <a:cs typeface="Calibri"/>
                </a:rPr>
                <a:t> of The accident were unavoidable by the Driver </a:t>
              </a:r>
            </a:p>
            <a:p>
              <a:pPr lvl="1"/>
              <a:endParaRPr lang="en-US" dirty="0">
                <a:latin typeface="Arial"/>
                <a:ea typeface="Calibri"/>
                <a:cs typeface="Arial"/>
              </a:endParaRPr>
            </a:p>
          </p:txBody>
        </p:sp>
        <p:sp>
          <p:nvSpPr>
            <p:cNvPr id="6" name="Flowchart: Connector 5">
              <a:extLst>
                <a:ext uri="{FF2B5EF4-FFF2-40B4-BE49-F238E27FC236}">
                  <a16:creationId xmlns:a16="http://schemas.microsoft.com/office/drawing/2014/main" id="{25A221D8-3215-ABD8-53F2-3D2BF098A9DD}"/>
                </a:ext>
              </a:extLst>
            </p:cNvPr>
            <p:cNvSpPr/>
            <p:nvPr/>
          </p:nvSpPr>
          <p:spPr>
            <a:xfrm>
              <a:off x="1022646" y="2805424"/>
              <a:ext cx="277351" cy="269203"/>
            </a:xfrm>
            <a:prstGeom prst="flowChartConnector">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grpSp>
      <p:sp>
        <p:nvSpPr>
          <p:cNvPr id="7" name="TextBox 6">
            <a:extLst>
              <a:ext uri="{FF2B5EF4-FFF2-40B4-BE49-F238E27FC236}">
                <a16:creationId xmlns:a16="http://schemas.microsoft.com/office/drawing/2014/main" id="{8DC329B9-FC85-AC3C-4247-20E8888AB44A}"/>
              </a:ext>
            </a:extLst>
          </p:cNvPr>
          <p:cNvSpPr txBox="1"/>
          <p:nvPr/>
        </p:nvSpPr>
        <p:spPr>
          <a:xfrm>
            <a:off x="1717798" y="3424765"/>
            <a:ext cx="708516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ea typeface="+mn-lt"/>
                <a:cs typeface="+mn-lt"/>
              </a:rPr>
              <a:t>Only about a third of serious crashes could likely be preventable</a:t>
            </a:r>
            <a:endParaRPr lang="en-US">
              <a:latin typeface="Arial"/>
              <a:cs typeface="Arial"/>
            </a:endParaRPr>
          </a:p>
          <a:p>
            <a:r>
              <a:rPr lang="en-US" dirty="0">
                <a:latin typeface="Arial"/>
                <a:ea typeface="+mn-lt"/>
                <a:cs typeface="+mn-lt"/>
              </a:rPr>
              <a:t>by AVs if they are not also designed to respond safely to what they</a:t>
            </a:r>
            <a:endParaRPr lang="en-US">
              <a:latin typeface="Arial"/>
              <a:cs typeface="Arial"/>
            </a:endParaRPr>
          </a:p>
          <a:p>
            <a:pPr algn="l"/>
            <a:r>
              <a:rPr lang="en-US" dirty="0">
                <a:latin typeface="Arial"/>
                <a:ea typeface="+mn-lt"/>
                <a:cs typeface="+mn-lt"/>
              </a:rPr>
              <a:t>Perceive.</a:t>
            </a:r>
          </a:p>
          <a:p>
            <a:r>
              <a:rPr lang="en-US" dirty="0">
                <a:ea typeface="Calibri"/>
                <a:cs typeface="Calibri"/>
              </a:rPr>
              <a:t>Because neither a machine is drunk or fatigue nor it will have perception error</a:t>
            </a:r>
          </a:p>
        </p:txBody>
      </p:sp>
    </p:spTree>
    <p:extLst>
      <p:ext uri="{BB962C8B-B14F-4D97-AF65-F5344CB8AC3E}">
        <p14:creationId xmlns:p14="http://schemas.microsoft.com/office/powerpoint/2010/main" val="1268762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6B0F9-4A11-83F4-538C-0ADA2B9694B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5B14B40-D9BC-8C77-7512-25433A6B6853}"/>
              </a:ext>
            </a:extLst>
          </p:cNvPr>
          <p:cNvSpPr/>
          <p:nvPr/>
        </p:nvSpPr>
        <p:spPr>
          <a:xfrm>
            <a:off x="15200" y="5676"/>
            <a:ext cx="12180093" cy="917735"/>
          </a:xfrm>
          <a:prstGeom prst="rect">
            <a:avLst/>
          </a:prstGeom>
          <a:solidFill>
            <a:srgbClr val="002F56"/>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4400" b="1">
                <a:latin typeface="Georgia"/>
              </a:rPr>
              <a:t>Premier University</a:t>
            </a:r>
            <a:endParaRPr lang="en-US" sz="4400" b="1">
              <a:latin typeface="Georgia"/>
              <a:ea typeface="Calibri" panose="020F0502020204030204"/>
              <a:cs typeface="Calibri" panose="020F0502020204030204"/>
            </a:endParaRPr>
          </a:p>
        </p:txBody>
      </p:sp>
      <p:sp>
        <p:nvSpPr>
          <p:cNvPr id="9" name="Minus Sign 8">
            <a:extLst>
              <a:ext uri="{FF2B5EF4-FFF2-40B4-BE49-F238E27FC236}">
                <a16:creationId xmlns:a16="http://schemas.microsoft.com/office/drawing/2014/main" id="{76A3721E-E339-F7E0-778E-AA035DDA0811}"/>
              </a:ext>
            </a:extLst>
          </p:cNvPr>
          <p:cNvSpPr/>
          <p:nvPr/>
        </p:nvSpPr>
        <p:spPr>
          <a:xfrm>
            <a:off x="-2185988" y="6359568"/>
            <a:ext cx="16546487" cy="917278"/>
          </a:xfrm>
          <a:prstGeom prst="mathMinus">
            <a:avLst/>
          </a:prstGeom>
          <a:solidFill>
            <a:srgbClr val="002F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5B4C9E87-AF9F-6976-AC4B-2C6A173D7FFB}"/>
              </a:ext>
            </a:extLst>
          </p:cNvPr>
          <p:cNvSpPr>
            <a:spLocks noGrp="1"/>
          </p:cNvSpPr>
          <p:nvPr>
            <p:ph type="title"/>
          </p:nvPr>
        </p:nvSpPr>
        <p:spPr>
          <a:xfrm>
            <a:off x="827762" y="587446"/>
            <a:ext cx="10515600" cy="1325563"/>
          </a:xfrm>
        </p:spPr>
        <p:txBody>
          <a:bodyPr>
            <a:normAutofit/>
          </a:bodyPr>
          <a:lstStyle/>
          <a:p>
            <a:pPr algn="ctr"/>
            <a:r>
              <a:rPr lang="en-US" sz="3600" dirty="0">
                <a:solidFill>
                  <a:srgbClr val="005BBB"/>
                </a:solidFill>
                <a:latin typeface="Georgia"/>
                <a:ea typeface="Calibri Light"/>
                <a:cs typeface="Calibri Light"/>
              </a:rPr>
              <a:t>Perception and Scene Understanding</a:t>
            </a:r>
          </a:p>
        </p:txBody>
      </p:sp>
      <p:sp>
        <p:nvSpPr>
          <p:cNvPr id="15" name="Slide Number Placeholder 14">
            <a:extLst>
              <a:ext uri="{FF2B5EF4-FFF2-40B4-BE49-F238E27FC236}">
                <a16:creationId xmlns:a16="http://schemas.microsoft.com/office/drawing/2014/main" id="{55F666F3-B570-DCF5-8905-4C6AD6E38A57}"/>
              </a:ext>
            </a:extLst>
          </p:cNvPr>
          <p:cNvSpPr>
            <a:spLocks noGrp="1"/>
          </p:cNvSpPr>
          <p:nvPr>
            <p:ph type="sldNum" sz="quarter" idx="12"/>
          </p:nvPr>
        </p:nvSpPr>
        <p:spPr/>
        <p:txBody>
          <a:bodyPr/>
          <a:lstStyle/>
          <a:p>
            <a:fld id="{48F63A3B-78C7-47BE-AE5E-E10140E04643}" type="slidenum">
              <a:rPr lang="en-US" sz="1400" dirty="0">
                <a:latin typeface="Georgia"/>
              </a:rPr>
              <a:t>5</a:t>
            </a:fld>
            <a:endParaRPr lang="en-US" sz="1400">
              <a:latin typeface="Georgia"/>
            </a:endParaRPr>
          </a:p>
        </p:txBody>
      </p:sp>
      <p:sp>
        <p:nvSpPr>
          <p:cNvPr id="7" name="Minus Sign 6">
            <a:extLst>
              <a:ext uri="{FF2B5EF4-FFF2-40B4-BE49-F238E27FC236}">
                <a16:creationId xmlns:a16="http://schemas.microsoft.com/office/drawing/2014/main" id="{7AAF7F05-94E2-6FD9-5CDD-52D6BAE72410}"/>
              </a:ext>
            </a:extLst>
          </p:cNvPr>
          <p:cNvSpPr/>
          <p:nvPr/>
        </p:nvSpPr>
        <p:spPr>
          <a:xfrm>
            <a:off x="3133595" y="1616379"/>
            <a:ext cx="5480026" cy="94624"/>
          </a:xfrm>
          <a:custGeom>
            <a:avLst/>
            <a:gdLst>
              <a:gd name="csX0" fmla="*/ 726377 w 5480026"/>
              <a:gd name="csY0" fmla="*/ 36184 h 94624"/>
              <a:gd name="csX1" fmla="*/ 1437862 w 5480026"/>
              <a:gd name="csY1" fmla="*/ 36184 h 94624"/>
              <a:gd name="csX2" fmla="*/ 1988256 w 5480026"/>
              <a:gd name="csY2" fmla="*/ 36184 h 94624"/>
              <a:gd name="csX3" fmla="*/ 2619195 w 5480026"/>
              <a:gd name="csY3" fmla="*/ 36184 h 94624"/>
              <a:gd name="csX4" fmla="*/ 3330680 w 5480026"/>
              <a:gd name="csY4" fmla="*/ 36184 h 94624"/>
              <a:gd name="csX5" fmla="*/ 3881073 w 5480026"/>
              <a:gd name="csY5" fmla="*/ 36184 h 94624"/>
              <a:gd name="csX6" fmla="*/ 4753649 w 5480026"/>
              <a:gd name="csY6" fmla="*/ 36184 h 94624"/>
              <a:gd name="csX7" fmla="*/ 4753649 w 5480026"/>
              <a:gd name="csY7" fmla="*/ 58440 h 94624"/>
              <a:gd name="csX8" fmla="*/ 4082437 w 5480026"/>
              <a:gd name="csY8" fmla="*/ 58440 h 94624"/>
              <a:gd name="csX9" fmla="*/ 3370952 w 5480026"/>
              <a:gd name="csY9" fmla="*/ 58440 h 94624"/>
              <a:gd name="csX10" fmla="*/ 2820558 w 5480026"/>
              <a:gd name="csY10" fmla="*/ 58440 h 94624"/>
              <a:gd name="csX11" fmla="*/ 2189619 w 5480026"/>
              <a:gd name="csY11" fmla="*/ 58440 h 94624"/>
              <a:gd name="csX12" fmla="*/ 1478134 w 5480026"/>
              <a:gd name="csY12" fmla="*/ 58440 h 94624"/>
              <a:gd name="csX13" fmla="*/ 726377 w 5480026"/>
              <a:gd name="csY13" fmla="*/ 58440 h 94624"/>
              <a:gd name="csX14" fmla="*/ 726377 w 5480026"/>
              <a:gd name="csY14" fmla="*/ 36184 h 946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480026" h="94624" fill="none" extrusionOk="0">
                <a:moveTo>
                  <a:pt x="726377" y="36184"/>
                </a:moveTo>
                <a:cubicBezTo>
                  <a:pt x="911788" y="19780"/>
                  <a:pt x="1237901" y="12608"/>
                  <a:pt x="1437862" y="36184"/>
                </a:cubicBezTo>
                <a:cubicBezTo>
                  <a:pt x="1637824" y="59760"/>
                  <a:pt x="1733256" y="18292"/>
                  <a:pt x="1988256" y="36184"/>
                </a:cubicBezTo>
                <a:cubicBezTo>
                  <a:pt x="2243256" y="54076"/>
                  <a:pt x="2405741" y="30484"/>
                  <a:pt x="2619195" y="36184"/>
                </a:cubicBezTo>
                <a:cubicBezTo>
                  <a:pt x="2832649" y="41884"/>
                  <a:pt x="3048700" y="28925"/>
                  <a:pt x="3330680" y="36184"/>
                </a:cubicBezTo>
                <a:cubicBezTo>
                  <a:pt x="3612660" y="43443"/>
                  <a:pt x="3719128" y="62328"/>
                  <a:pt x="3881073" y="36184"/>
                </a:cubicBezTo>
                <a:cubicBezTo>
                  <a:pt x="4043018" y="10040"/>
                  <a:pt x="4567695" y="-34"/>
                  <a:pt x="4753649" y="36184"/>
                </a:cubicBezTo>
                <a:cubicBezTo>
                  <a:pt x="4754423" y="41747"/>
                  <a:pt x="4753312" y="52707"/>
                  <a:pt x="4753649" y="58440"/>
                </a:cubicBezTo>
                <a:cubicBezTo>
                  <a:pt x="4579509" y="72312"/>
                  <a:pt x="4354978" y="61719"/>
                  <a:pt x="4082437" y="58440"/>
                </a:cubicBezTo>
                <a:cubicBezTo>
                  <a:pt x="3809896" y="55161"/>
                  <a:pt x="3631760" y="73307"/>
                  <a:pt x="3370952" y="58440"/>
                </a:cubicBezTo>
                <a:cubicBezTo>
                  <a:pt x="3110144" y="43573"/>
                  <a:pt x="2944482" y="50918"/>
                  <a:pt x="2820558" y="58440"/>
                </a:cubicBezTo>
                <a:cubicBezTo>
                  <a:pt x="2696634" y="65962"/>
                  <a:pt x="2328319" y="72580"/>
                  <a:pt x="2189619" y="58440"/>
                </a:cubicBezTo>
                <a:cubicBezTo>
                  <a:pt x="2050919" y="44300"/>
                  <a:pt x="1789139" y="89242"/>
                  <a:pt x="1478134" y="58440"/>
                </a:cubicBezTo>
                <a:cubicBezTo>
                  <a:pt x="1167130" y="27638"/>
                  <a:pt x="1012539" y="24602"/>
                  <a:pt x="726377" y="58440"/>
                </a:cubicBezTo>
                <a:cubicBezTo>
                  <a:pt x="726135" y="51783"/>
                  <a:pt x="726177" y="40942"/>
                  <a:pt x="726377" y="36184"/>
                </a:cubicBezTo>
                <a:close/>
              </a:path>
              <a:path w="5480026" h="94624" stroke="0" extrusionOk="0">
                <a:moveTo>
                  <a:pt x="726377" y="36184"/>
                </a:moveTo>
                <a:cubicBezTo>
                  <a:pt x="1011518" y="72599"/>
                  <a:pt x="1112442" y="36627"/>
                  <a:pt x="1478134" y="36184"/>
                </a:cubicBezTo>
                <a:cubicBezTo>
                  <a:pt x="1843826" y="35741"/>
                  <a:pt x="1927524" y="62916"/>
                  <a:pt x="2109074" y="36184"/>
                </a:cubicBezTo>
                <a:cubicBezTo>
                  <a:pt x="2290624" y="9452"/>
                  <a:pt x="2442027" y="33053"/>
                  <a:pt x="2659468" y="36184"/>
                </a:cubicBezTo>
                <a:cubicBezTo>
                  <a:pt x="2876909" y="39315"/>
                  <a:pt x="3110458" y="2855"/>
                  <a:pt x="3330680" y="36184"/>
                </a:cubicBezTo>
                <a:cubicBezTo>
                  <a:pt x="3550902" y="69513"/>
                  <a:pt x="3862724" y="21092"/>
                  <a:pt x="4001892" y="36184"/>
                </a:cubicBezTo>
                <a:cubicBezTo>
                  <a:pt x="4141060" y="51276"/>
                  <a:pt x="4393809" y="54627"/>
                  <a:pt x="4753649" y="36184"/>
                </a:cubicBezTo>
                <a:cubicBezTo>
                  <a:pt x="4754416" y="42385"/>
                  <a:pt x="4752648" y="50668"/>
                  <a:pt x="4753649" y="58440"/>
                </a:cubicBezTo>
                <a:cubicBezTo>
                  <a:pt x="4557853" y="58442"/>
                  <a:pt x="4272190" y="45819"/>
                  <a:pt x="4082437" y="58440"/>
                </a:cubicBezTo>
                <a:cubicBezTo>
                  <a:pt x="3892684" y="71061"/>
                  <a:pt x="3770225" y="75327"/>
                  <a:pt x="3532043" y="58440"/>
                </a:cubicBezTo>
                <a:cubicBezTo>
                  <a:pt x="3293861" y="41553"/>
                  <a:pt x="3083764" y="42032"/>
                  <a:pt x="2860831" y="58440"/>
                </a:cubicBezTo>
                <a:cubicBezTo>
                  <a:pt x="2637898" y="74848"/>
                  <a:pt x="2444006" y="81015"/>
                  <a:pt x="2149346" y="58440"/>
                </a:cubicBezTo>
                <a:cubicBezTo>
                  <a:pt x="1854687" y="35865"/>
                  <a:pt x="1639028" y="68151"/>
                  <a:pt x="1397589" y="58440"/>
                </a:cubicBezTo>
                <a:cubicBezTo>
                  <a:pt x="1156150" y="48729"/>
                  <a:pt x="896383" y="28851"/>
                  <a:pt x="726377" y="58440"/>
                </a:cubicBezTo>
                <a:cubicBezTo>
                  <a:pt x="725675" y="49926"/>
                  <a:pt x="726826" y="45865"/>
                  <a:pt x="726377" y="36184"/>
                </a:cubicBezTo>
                <a:close/>
              </a:path>
            </a:pathLst>
          </a:custGeom>
          <a:ln>
            <a:extLst>
              <a:ext uri="{C807C97D-BFC1-408E-A445-0C87EB9F89A2}">
                <ask:lineSketchStyleProps xmlns:ask="http://schemas.microsoft.com/office/drawing/2018/sketchyshapes" sd="3989574929">
                  <a:prstGeom prst="mathMinus">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16">
            <a:extLst>
              <a:ext uri="{FF2B5EF4-FFF2-40B4-BE49-F238E27FC236}">
                <a16:creationId xmlns:a16="http://schemas.microsoft.com/office/drawing/2014/main" id="{B43321E0-E4EB-1B1B-BC1A-B7AE8CFE4A92}"/>
              </a:ext>
            </a:extLst>
          </p:cNvPr>
          <p:cNvSpPr txBox="1">
            <a:spLocks/>
          </p:cNvSpPr>
          <p:nvPr/>
        </p:nvSpPr>
        <p:spPr>
          <a:xfrm>
            <a:off x="1116489" y="2648465"/>
            <a:ext cx="8738374" cy="2303573"/>
          </a:xfrm>
          <a:prstGeom prst="rect">
            <a:avLst/>
          </a:prstGeom>
          <a:noFill/>
          <a:ln w="12700" cap="flat" cmpd="sng" algn="ctr">
            <a:noFill/>
            <a:prstDash val="solid"/>
            <a:miter lim="800000"/>
          </a:ln>
        </p:spPr>
        <p:style>
          <a:lnRef idx="2">
            <a:schemeClr val="accent1"/>
          </a:lnRef>
          <a:fillRef idx="1">
            <a:schemeClr val="lt1"/>
          </a:fillRef>
          <a:effectRef idx="0">
            <a:schemeClr val="accent1"/>
          </a:effectRef>
          <a:fontRef idx="minor">
            <a:schemeClr val="dk1"/>
          </a:fontRef>
        </p:style>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lvl="1" algn="just">
              <a:lnSpc>
                <a:spcPct val="150000"/>
              </a:lnSpc>
            </a:pPr>
            <a:r>
              <a:rPr lang="en-US" sz="1800" dirty="0">
                <a:latin typeface="Arial"/>
                <a:ea typeface="+mn-lt"/>
                <a:cs typeface="+mn-lt"/>
              </a:rPr>
              <a:t>Robust Vehicle &amp; Small Object Detection</a:t>
            </a:r>
          </a:p>
          <a:p>
            <a:pPr marL="457200" lvl="1" indent="0" algn="just">
              <a:lnSpc>
                <a:spcPct val="150000"/>
              </a:lnSpc>
              <a:buNone/>
            </a:pPr>
            <a:r>
              <a:rPr lang="en-US" sz="1800" dirty="0">
                <a:latin typeface="Arial"/>
                <a:ea typeface="+mn-lt"/>
                <a:cs typeface="+mn-lt"/>
              </a:rPr>
              <a:t>       - Includes critical small elements (e.g., potholes, road signs, debris).</a:t>
            </a:r>
            <a:endParaRPr lang="en-US" sz="1800">
              <a:latin typeface="Arial"/>
              <a:ea typeface="+mn-lt"/>
              <a:cs typeface="Arial"/>
            </a:endParaRPr>
          </a:p>
          <a:p>
            <a:pPr marL="457200" lvl="1" indent="0" algn="just">
              <a:lnSpc>
                <a:spcPct val="150000"/>
              </a:lnSpc>
              <a:buNone/>
            </a:pPr>
            <a:r>
              <a:rPr lang="en-US" sz="1800" dirty="0">
                <a:latin typeface="Arial"/>
                <a:ea typeface="+mn-lt"/>
                <a:cs typeface="+mn-lt"/>
              </a:rPr>
              <a:t>       - Ensures safety in fast-changing, cluttered cyclist environments.</a:t>
            </a:r>
            <a:endParaRPr lang="en-US" sz="1800">
              <a:latin typeface="Arial"/>
              <a:ea typeface="+mn-lt"/>
              <a:cs typeface="Arial"/>
            </a:endParaRPr>
          </a:p>
          <a:p>
            <a:pPr lvl="1" algn="just">
              <a:lnSpc>
                <a:spcPct val="150000"/>
              </a:lnSpc>
            </a:pPr>
            <a:r>
              <a:rPr lang="en-US" sz="1800" dirty="0">
                <a:latin typeface="Arial"/>
                <a:ea typeface="+mn-lt"/>
                <a:cs typeface="+mn-lt"/>
              </a:rPr>
              <a:t>Drivable Area and Lane line Segmentation </a:t>
            </a:r>
          </a:p>
          <a:p>
            <a:pPr marL="457200" lvl="1" indent="0" algn="just">
              <a:lnSpc>
                <a:spcPct val="150000"/>
              </a:lnSpc>
              <a:buNone/>
            </a:pPr>
            <a:r>
              <a:rPr lang="en-US" sz="1800" dirty="0">
                <a:latin typeface="Arial"/>
                <a:ea typeface="+mn-lt"/>
                <a:cs typeface="+mn-lt"/>
              </a:rPr>
              <a:t>       - Essential for safe riding in urban mixed traffic.</a:t>
            </a:r>
          </a:p>
          <a:p>
            <a:pPr marL="457200" lvl="1" indent="0" algn="just">
              <a:lnSpc>
                <a:spcPct val="150000"/>
              </a:lnSpc>
              <a:buNone/>
            </a:pPr>
            <a:r>
              <a:rPr lang="en-US" sz="1800" dirty="0">
                <a:latin typeface="Arial"/>
                <a:ea typeface="+mn-lt"/>
                <a:cs typeface="+mn-lt"/>
              </a:rPr>
              <a:t>         - Helps maintain lane position and avoid unsafe regions.</a:t>
            </a:r>
          </a:p>
          <a:p>
            <a:pPr lvl="1" algn="just">
              <a:lnSpc>
                <a:spcPct val="150000"/>
              </a:lnSpc>
            </a:pPr>
            <a:r>
              <a:rPr lang="en-US" sz="1800" dirty="0">
                <a:latin typeface="Arial"/>
                <a:ea typeface="+mn-lt"/>
                <a:cs typeface="+mn-lt"/>
              </a:rPr>
              <a:t>Pedestrian Behavior Understanding</a:t>
            </a:r>
            <a:endParaRPr lang="en-US" sz="1800" dirty="0">
              <a:latin typeface="Arial"/>
              <a:ea typeface="Calibri" panose="020F0502020204030204"/>
              <a:cs typeface="Calibri" panose="020F0502020204030204"/>
            </a:endParaRPr>
          </a:p>
          <a:p>
            <a:pPr marL="457200" lvl="1" indent="0" algn="just">
              <a:lnSpc>
                <a:spcPct val="150000"/>
              </a:lnSpc>
              <a:buNone/>
            </a:pPr>
            <a:r>
              <a:rPr lang="en-US" sz="1800" dirty="0">
                <a:latin typeface="Arial"/>
                <a:ea typeface="Calibri" panose="020F0502020204030204"/>
                <a:cs typeface="Calibri" panose="020F0502020204030204"/>
              </a:rPr>
              <a:t>          -     </a:t>
            </a:r>
            <a:r>
              <a:rPr lang="en-US" sz="1800" dirty="0">
                <a:latin typeface="Arial"/>
                <a:ea typeface="+mn-lt"/>
                <a:cs typeface="+mn-lt"/>
              </a:rPr>
              <a:t>Requires cues like </a:t>
            </a:r>
            <a:r>
              <a:rPr lang="en-US" sz="1800" b="1" dirty="0">
                <a:latin typeface="Arial"/>
                <a:ea typeface="+mn-lt"/>
                <a:cs typeface="+mn-lt"/>
              </a:rPr>
              <a:t>body orientation, head direction, and pose</a:t>
            </a:r>
            <a:r>
              <a:rPr lang="en-US" sz="1800" dirty="0">
                <a:latin typeface="Arial"/>
                <a:ea typeface="+mn-lt"/>
                <a:cs typeface="+mn-lt"/>
              </a:rPr>
              <a:t>.</a:t>
            </a:r>
            <a:endParaRPr lang="en-US" sz="1800" dirty="0">
              <a:latin typeface="Arial"/>
              <a:ea typeface="Calibri" panose="020F0502020204030204"/>
              <a:cs typeface="Calibri" panose="020F0502020204030204"/>
            </a:endParaRPr>
          </a:p>
          <a:p>
            <a:pPr lvl="1" algn="just">
              <a:lnSpc>
                <a:spcPct val="150000"/>
              </a:lnSpc>
            </a:pPr>
            <a:endParaRPr lang="en-US" sz="1800" dirty="0">
              <a:latin typeface="Arial"/>
              <a:ea typeface="Calibri" panose="020F0502020204030204"/>
              <a:cs typeface="Calibri" panose="020F0502020204030204"/>
            </a:endParaRPr>
          </a:p>
        </p:txBody>
      </p:sp>
      <p:sp>
        <p:nvSpPr>
          <p:cNvPr id="6" name="TextBox 5">
            <a:extLst>
              <a:ext uri="{FF2B5EF4-FFF2-40B4-BE49-F238E27FC236}">
                <a16:creationId xmlns:a16="http://schemas.microsoft.com/office/drawing/2014/main" id="{84B210D4-5100-2A8F-767E-9868A17D5AD8}"/>
              </a:ext>
            </a:extLst>
          </p:cNvPr>
          <p:cNvSpPr txBox="1"/>
          <p:nvPr/>
        </p:nvSpPr>
        <p:spPr>
          <a:xfrm>
            <a:off x="1297113" y="1716618"/>
            <a:ext cx="752396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Detection performance in autonomous and ego-centric systems is often limited by </a:t>
            </a:r>
            <a:r>
              <a:rPr lang="en-US" b="1" dirty="0">
                <a:ea typeface="+mn-lt"/>
                <a:cs typeface="+mn-lt"/>
              </a:rPr>
              <a:t>complex road scenes, lighting variations, weather conditions, and pedestrian behavior</a:t>
            </a:r>
            <a:r>
              <a:rPr lang="en-US" dirty="0">
                <a:ea typeface="+mn-lt"/>
                <a:cs typeface="+mn-lt"/>
              </a:rPr>
              <a:t>. To achieve reliable perception, systems must focus on:</a:t>
            </a:r>
          </a:p>
        </p:txBody>
      </p:sp>
    </p:spTree>
    <p:extLst>
      <p:ext uri="{BB962C8B-B14F-4D97-AF65-F5344CB8AC3E}">
        <p14:creationId xmlns:p14="http://schemas.microsoft.com/office/powerpoint/2010/main" val="3247813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7C2E6-7A7E-B292-D706-A63AB8DA84D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DCEE63C-BC5E-C3BB-8C16-8C4A2BEA9937}"/>
              </a:ext>
            </a:extLst>
          </p:cNvPr>
          <p:cNvSpPr/>
          <p:nvPr/>
        </p:nvSpPr>
        <p:spPr>
          <a:xfrm>
            <a:off x="4762" y="-4762"/>
            <a:ext cx="12180093" cy="917735"/>
          </a:xfrm>
          <a:prstGeom prst="rect">
            <a:avLst/>
          </a:prstGeom>
          <a:solidFill>
            <a:srgbClr val="002F56"/>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4400" b="1">
                <a:latin typeface="Georgia"/>
              </a:rPr>
              <a:t>Premier University</a:t>
            </a:r>
            <a:endParaRPr lang="en-US" sz="4400" b="1">
              <a:latin typeface="Georgia"/>
              <a:ea typeface="Calibri" panose="020F0502020204030204"/>
              <a:cs typeface="Calibri" panose="020F0502020204030204"/>
            </a:endParaRPr>
          </a:p>
        </p:txBody>
      </p:sp>
      <p:sp>
        <p:nvSpPr>
          <p:cNvPr id="9" name="Minus Sign 8">
            <a:extLst>
              <a:ext uri="{FF2B5EF4-FFF2-40B4-BE49-F238E27FC236}">
                <a16:creationId xmlns:a16="http://schemas.microsoft.com/office/drawing/2014/main" id="{DEE7415F-F22F-6A29-176F-D9A200F9DF70}"/>
              </a:ext>
            </a:extLst>
          </p:cNvPr>
          <p:cNvSpPr/>
          <p:nvPr/>
        </p:nvSpPr>
        <p:spPr>
          <a:xfrm>
            <a:off x="-2185988" y="6286500"/>
            <a:ext cx="16546487" cy="917278"/>
          </a:xfrm>
          <a:prstGeom prst="mathMinus">
            <a:avLst/>
          </a:prstGeom>
          <a:solidFill>
            <a:srgbClr val="002F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5">
            <a:extLst>
              <a:ext uri="{FF2B5EF4-FFF2-40B4-BE49-F238E27FC236}">
                <a16:creationId xmlns:a16="http://schemas.microsoft.com/office/drawing/2014/main" id="{D37E45A8-7F3D-2F2F-EF10-BD57BAB18A40}"/>
              </a:ext>
            </a:extLst>
          </p:cNvPr>
          <p:cNvSpPr>
            <a:spLocks noGrp="1"/>
          </p:cNvSpPr>
          <p:nvPr>
            <p:ph type="title"/>
          </p:nvPr>
        </p:nvSpPr>
        <p:spPr>
          <a:xfrm>
            <a:off x="839788" y="511393"/>
            <a:ext cx="10505162" cy="1722220"/>
          </a:xfrm>
        </p:spPr>
        <p:txBody>
          <a:bodyPr>
            <a:normAutofit/>
          </a:bodyPr>
          <a:lstStyle/>
          <a:p>
            <a:pPr algn="ctr"/>
            <a:r>
              <a:rPr lang="en-US" sz="3600" dirty="0">
                <a:solidFill>
                  <a:srgbClr val="005BBB"/>
                </a:solidFill>
                <a:latin typeface="Georgia"/>
                <a:ea typeface="+mj-lt"/>
                <a:cs typeface="+mj-lt"/>
              </a:rPr>
              <a:t>From Seeing to Foreseeing</a:t>
            </a:r>
            <a:endParaRPr lang="en-US" sz="3600">
              <a:latin typeface="Georgia"/>
            </a:endParaRPr>
          </a:p>
        </p:txBody>
      </p:sp>
      <p:sp>
        <p:nvSpPr>
          <p:cNvPr id="7" name="Text Placeholder 6">
            <a:extLst>
              <a:ext uri="{FF2B5EF4-FFF2-40B4-BE49-F238E27FC236}">
                <a16:creationId xmlns:a16="http://schemas.microsoft.com/office/drawing/2014/main" id="{6745CF89-498B-0FCA-36C4-075B83B9FC61}"/>
              </a:ext>
            </a:extLst>
          </p:cNvPr>
          <p:cNvSpPr>
            <a:spLocks noGrp="1"/>
          </p:cNvSpPr>
          <p:nvPr>
            <p:ph type="body" idx="1"/>
          </p:nvPr>
        </p:nvSpPr>
        <p:spPr>
          <a:xfrm>
            <a:off x="839788" y="1364861"/>
            <a:ext cx="5157787" cy="823912"/>
          </a:xfrm>
        </p:spPr>
        <p:txBody>
          <a:bodyPr/>
          <a:lstStyle/>
          <a:p>
            <a:r>
              <a:rPr lang="en-US" sz="1600" cap="all" dirty="0">
                <a:solidFill>
                  <a:srgbClr val="002F56"/>
                </a:solidFill>
                <a:latin typeface="Arial"/>
                <a:ea typeface="+mn-lt"/>
                <a:cs typeface="+mn-lt"/>
              </a:rPr>
              <a:t>YOLO-ODL (Multi-Task Perception Model) </a:t>
            </a:r>
            <a:r>
              <a:rPr lang="en-US" sz="1600" cap="all" dirty="0">
                <a:solidFill>
                  <a:srgbClr val="002F56"/>
                </a:solidFill>
                <a:latin typeface="Arial"/>
                <a:cs typeface="Arial"/>
              </a:rPr>
              <a:t> </a:t>
            </a:r>
            <a:endParaRPr lang="en-US" sz="1600" b="0" dirty="0">
              <a:latin typeface="Arial"/>
              <a:cs typeface="Arial"/>
            </a:endParaRPr>
          </a:p>
        </p:txBody>
      </p:sp>
      <p:sp>
        <p:nvSpPr>
          <p:cNvPr id="10" name="Text Placeholder 9">
            <a:extLst>
              <a:ext uri="{FF2B5EF4-FFF2-40B4-BE49-F238E27FC236}">
                <a16:creationId xmlns:a16="http://schemas.microsoft.com/office/drawing/2014/main" id="{A93568DD-555E-A64B-7564-1677FC90DD89}"/>
              </a:ext>
            </a:extLst>
          </p:cNvPr>
          <p:cNvSpPr>
            <a:spLocks noGrp="1"/>
          </p:cNvSpPr>
          <p:nvPr>
            <p:ph type="body" sz="quarter" idx="3"/>
          </p:nvPr>
        </p:nvSpPr>
        <p:spPr>
          <a:xfrm>
            <a:off x="6172200" y="1281355"/>
            <a:ext cx="6164393" cy="907419"/>
          </a:xfrm>
        </p:spPr>
        <p:txBody>
          <a:bodyPr/>
          <a:lstStyle/>
          <a:p>
            <a:r>
              <a:rPr lang="en-US" sz="1600" cap="all" dirty="0">
                <a:solidFill>
                  <a:srgbClr val="002F56"/>
                </a:solidFill>
                <a:latin typeface="Arial"/>
                <a:ea typeface="+mn-lt"/>
                <a:cs typeface="+mn-lt"/>
              </a:rPr>
              <a:t>BA-PTP (Behavior-Aware Trajectory Prediction)</a:t>
            </a:r>
            <a:endParaRPr lang="en-US" sz="1600">
              <a:latin typeface="Arial"/>
              <a:cs typeface="Arial"/>
            </a:endParaRPr>
          </a:p>
        </p:txBody>
      </p:sp>
      <p:sp>
        <p:nvSpPr>
          <p:cNvPr id="15" name="Slide Number Placeholder 14">
            <a:extLst>
              <a:ext uri="{FF2B5EF4-FFF2-40B4-BE49-F238E27FC236}">
                <a16:creationId xmlns:a16="http://schemas.microsoft.com/office/drawing/2014/main" id="{D3E477F5-3025-3D31-DFAD-B44F2197CE45}"/>
              </a:ext>
            </a:extLst>
          </p:cNvPr>
          <p:cNvSpPr>
            <a:spLocks noGrp="1"/>
          </p:cNvSpPr>
          <p:nvPr>
            <p:ph type="sldNum" sz="quarter" idx="12"/>
          </p:nvPr>
        </p:nvSpPr>
        <p:spPr/>
        <p:txBody>
          <a:bodyPr/>
          <a:lstStyle/>
          <a:p>
            <a:fld id="{48F63A3B-78C7-47BE-AE5E-E10140E04643}" type="slidenum">
              <a:rPr lang="en-US" sz="1400" dirty="0">
                <a:latin typeface="Georgia"/>
              </a:rPr>
              <a:t>6</a:t>
            </a:fld>
            <a:endParaRPr lang="en-US" sz="1400">
              <a:latin typeface="Georgia"/>
            </a:endParaRPr>
          </a:p>
        </p:txBody>
      </p:sp>
      <p:sp>
        <p:nvSpPr>
          <p:cNvPr id="12" name="Minus Sign 11">
            <a:extLst>
              <a:ext uri="{FF2B5EF4-FFF2-40B4-BE49-F238E27FC236}">
                <a16:creationId xmlns:a16="http://schemas.microsoft.com/office/drawing/2014/main" id="{82FF9613-EBFE-6A97-4CFC-4C259B6B32F9}"/>
              </a:ext>
            </a:extLst>
          </p:cNvPr>
          <p:cNvSpPr/>
          <p:nvPr/>
        </p:nvSpPr>
        <p:spPr>
          <a:xfrm>
            <a:off x="3290170" y="1637256"/>
            <a:ext cx="5480026" cy="94624"/>
          </a:xfrm>
          <a:custGeom>
            <a:avLst/>
            <a:gdLst>
              <a:gd name="csX0" fmla="*/ 726377 w 5480026"/>
              <a:gd name="csY0" fmla="*/ 36184 h 94624"/>
              <a:gd name="csX1" fmla="*/ 1437862 w 5480026"/>
              <a:gd name="csY1" fmla="*/ 36184 h 94624"/>
              <a:gd name="csX2" fmla="*/ 1988256 w 5480026"/>
              <a:gd name="csY2" fmla="*/ 36184 h 94624"/>
              <a:gd name="csX3" fmla="*/ 2619195 w 5480026"/>
              <a:gd name="csY3" fmla="*/ 36184 h 94624"/>
              <a:gd name="csX4" fmla="*/ 3330680 w 5480026"/>
              <a:gd name="csY4" fmla="*/ 36184 h 94624"/>
              <a:gd name="csX5" fmla="*/ 3881073 w 5480026"/>
              <a:gd name="csY5" fmla="*/ 36184 h 94624"/>
              <a:gd name="csX6" fmla="*/ 4753649 w 5480026"/>
              <a:gd name="csY6" fmla="*/ 36184 h 94624"/>
              <a:gd name="csX7" fmla="*/ 4753649 w 5480026"/>
              <a:gd name="csY7" fmla="*/ 58440 h 94624"/>
              <a:gd name="csX8" fmla="*/ 4082437 w 5480026"/>
              <a:gd name="csY8" fmla="*/ 58440 h 94624"/>
              <a:gd name="csX9" fmla="*/ 3370952 w 5480026"/>
              <a:gd name="csY9" fmla="*/ 58440 h 94624"/>
              <a:gd name="csX10" fmla="*/ 2820558 w 5480026"/>
              <a:gd name="csY10" fmla="*/ 58440 h 94624"/>
              <a:gd name="csX11" fmla="*/ 2189619 w 5480026"/>
              <a:gd name="csY11" fmla="*/ 58440 h 94624"/>
              <a:gd name="csX12" fmla="*/ 1478134 w 5480026"/>
              <a:gd name="csY12" fmla="*/ 58440 h 94624"/>
              <a:gd name="csX13" fmla="*/ 726377 w 5480026"/>
              <a:gd name="csY13" fmla="*/ 58440 h 94624"/>
              <a:gd name="csX14" fmla="*/ 726377 w 5480026"/>
              <a:gd name="csY14" fmla="*/ 36184 h 946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480026" h="94624" fill="none" extrusionOk="0">
                <a:moveTo>
                  <a:pt x="726377" y="36184"/>
                </a:moveTo>
                <a:cubicBezTo>
                  <a:pt x="911788" y="19780"/>
                  <a:pt x="1237901" y="12608"/>
                  <a:pt x="1437862" y="36184"/>
                </a:cubicBezTo>
                <a:cubicBezTo>
                  <a:pt x="1637824" y="59760"/>
                  <a:pt x="1733256" y="18292"/>
                  <a:pt x="1988256" y="36184"/>
                </a:cubicBezTo>
                <a:cubicBezTo>
                  <a:pt x="2243256" y="54076"/>
                  <a:pt x="2405741" y="30484"/>
                  <a:pt x="2619195" y="36184"/>
                </a:cubicBezTo>
                <a:cubicBezTo>
                  <a:pt x="2832649" y="41884"/>
                  <a:pt x="3048700" y="28925"/>
                  <a:pt x="3330680" y="36184"/>
                </a:cubicBezTo>
                <a:cubicBezTo>
                  <a:pt x="3612660" y="43443"/>
                  <a:pt x="3719128" y="62328"/>
                  <a:pt x="3881073" y="36184"/>
                </a:cubicBezTo>
                <a:cubicBezTo>
                  <a:pt x="4043018" y="10040"/>
                  <a:pt x="4567695" y="-34"/>
                  <a:pt x="4753649" y="36184"/>
                </a:cubicBezTo>
                <a:cubicBezTo>
                  <a:pt x="4754423" y="41747"/>
                  <a:pt x="4753312" y="52707"/>
                  <a:pt x="4753649" y="58440"/>
                </a:cubicBezTo>
                <a:cubicBezTo>
                  <a:pt x="4579509" y="72312"/>
                  <a:pt x="4354978" y="61719"/>
                  <a:pt x="4082437" y="58440"/>
                </a:cubicBezTo>
                <a:cubicBezTo>
                  <a:pt x="3809896" y="55161"/>
                  <a:pt x="3631760" y="73307"/>
                  <a:pt x="3370952" y="58440"/>
                </a:cubicBezTo>
                <a:cubicBezTo>
                  <a:pt x="3110144" y="43573"/>
                  <a:pt x="2944482" y="50918"/>
                  <a:pt x="2820558" y="58440"/>
                </a:cubicBezTo>
                <a:cubicBezTo>
                  <a:pt x="2696634" y="65962"/>
                  <a:pt x="2328319" y="72580"/>
                  <a:pt x="2189619" y="58440"/>
                </a:cubicBezTo>
                <a:cubicBezTo>
                  <a:pt x="2050919" y="44300"/>
                  <a:pt x="1789139" y="89242"/>
                  <a:pt x="1478134" y="58440"/>
                </a:cubicBezTo>
                <a:cubicBezTo>
                  <a:pt x="1167130" y="27638"/>
                  <a:pt x="1012539" y="24602"/>
                  <a:pt x="726377" y="58440"/>
                </a:cubicBezTo>
                <a:cubicBezTo>
                  <a:pt x="726135" y="51783"/>
                  <a:pt x="726177" y="40942"/>
                  <a:pt x="726377" y="36184"/>
                </a:cubicBezTo>
                <a:close/>
              </a:path>
              <a:path w="5480026" h="94624" stroke="0" extrusionOk="0">
                <a:moveTo>
                  <a:pt x="726377" y="36184"/>
                </a:moveTo>
                <a:cubicBezTo>
                  <a:pt x="1011518" y="72599"/>
                  <a:pt x="1112442" y="36627"/>
                  <a:pt x="1478134" y="36184"/>
                </a:cubicBezTo>
                <a:cubicBezTo>
                  <a:pt x="1843826" y="35741"/>
                  <a:pt x="1927524" y="62916"/>
                  <a:pt x="2109074" y="36184"/>
                </a:cubicBezTo>
                <a:cubicBezTo>
                  <a:pt x="2290624" y="9452"/>
                  <a:pt x="2442027" y="33053"/>
                  <a:pt x="2659468" y="36184"/>
                </a:cubicBezTo>
                <a:cubicBezTo>
                  <a:pt x="2876909" y="39315"/>
                  <a:pt x="3110458" y="2855"/>
                  <a:pt x="3330680" y="36184"/>
                </a:cubicBezTo>
                <a:cubicBezTo>
                  <a:pt x="3550902" y="69513"/>
                  <a:pt x="3862724" y="21092"/>
                  <a:pt x="4001892" y="36184"/>
                </a:cubicBezTo>
                <a:cubicBezTo>
                  <a:pt x="4141060" y="51276"/>
                  <a:pt x="4393809" y="54627"/>
                  <a:pt x="4753649" y="36184"/>
                </a:cubicBezTo>
                <a:cubicBezTo>
                  <a:pt x="4754416" y="42385"/>
                  <a:pt x="4752648" y="50668"/>
                  <a:pt x="4753649" y="58440"/>
                </a:cubicBezTo>
                <a:cubicBezTo>
                  <a:pt x="4557853" y="58442"/>
                  <a:pt x="4272190" y="45819"/>
                  <a:pt x="4082437" y="58440"/>
                </a:cubicBezTo>
                <a:cubicBezTo>
                  <a:pt x="3892684" y="71061"/>
                  <a:pt x="3770225" y="75327"/>
                  <a:pt x="3532043" y="58440"/>
                </a:cubicBezTo>
                <a:cubicBezTo>
                  <a:pt x="3293861" y="41553"/>
                  <a:pt x="3083764" y="42032"/>
                  <a:pt x="2860831" y="58440"/>
                </a:cubicBezTo>
                <a:cubicBezTo>
                  <a:pt x="2637898" y="74848"/>
                  <a:pt x="2444006" y="81015"/>
                  <a:pt x="2149346" y="58440"/>
                </a:cubicBezTo>
                <a:cubicBezTo>
                  <a:pt x="1854687" y="35865"/>
                  <a:pt x="1639028" y="68151"/>
                  <a:pt x="1397589" y="58440"/>
                </a:cubicBezTo>
                <a:cubicBezTo>
                  <a:pt x="1156150" y="48729"/>
                  <a:pt x="896383" y="28851"/>
                  <a:pt x="726377" y="58440"/>
                </a:cubicBezTo>
                <a:cubicBezTo>
                  <a:pt x="725675" y="49926"/>
                  <a:pt x="726826" y="45865"/>
                  <a:pt x="726377" y="36184"/>
                </a:cubicBezTo>
                <a:close/>
              </a:path>
            </a:pathLst>
          </a:custGeom>
          <a:ln>
            <a:extLst>
              <a:ext uri="{C807C97D-BFC1-408E-A445-0C87EB9F89A2}">
                <ask:lineSketchStyleProps xmlns:ask="http://schemas.microsoft.com/office/drawing/2018/sketchyshapes" sd="3989574929">
                  <a:prstGeom prst="mathMinus">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4D5654AD-83FB-3D8C-4803-C8AE361ABFAD}"/>
              </a:ext>
            </a:extLst>
          </p:cNvPr>
          <p:cNvGrpSpPr/>
          <p:nvPr/>
        </p:nvGrpSpPr>
        <p:grpSpPr>
          <a:xfrm>
            <a:off x="319591" y="2215160"/>
            <a:ext cx="5466186" cy="1477328"/>
            <a:chOff x="909850" y="2752298"/>
            <a:chExt cx="5466186" cy="1477328"/>
          </a:xfrm>
        </p:grpSpPr>
        <p:sp>
          <p:nvSpPr>
            <p:cNvPr id="6" name="TextBox 5">
              <a:extLst>
                <a:ext uri="{FF2B5EF4-FFF2-40B4-BE49-F238E27FC236}">
                  <a16:creationId xmlns:a16="http://schemas.microsoft.com/office/drawing/2014/main" id="{EF0579FA-856B-3FB0-BB76-9A3867C249AA}"/>
                </a:ext>
              </a:extLst>
            </p:cNvPr>
            <p:cNvSpPr txBox="1"/>
            <p:nvPr/>
          </p:nvSpPr>
          <p:spPr>
            <a:xfrm>
              <a:off x="909850" y="2752298"/>
              <a:ext cx="546618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dirty="0">
                  <a:latin typeface="Arial"/>
                  <a:ea typeface="+mn-lt"/>
                  <a:cs typeface="+mn-lt"/>
                </a:rPr>
                <a:t>Shared Encoder (One Encoder for All Tasks)</a:t>
              </a:r>
            </a:p>
            <a:p>
              <a:pPr marL="742950" lvl="1" indent="-285750">
                <a:buFont typeface="Arial"/>
                <a:buChar char="•"/>
              </a:pPr>
              <a:r>
                <a:rPr lang="en-US" dirty="0">
                  <a:latin typeface="Arial"/>
                  <a:ea typeface="+mn-lt"/>
                  <a:cs typeface="+mn-lt"/>
                </a:rPr>
                <a:t>Extracts features for </a:t>
              </a:r>
              <a:r>
                <a:rPr lang="en-US" b="1" dirty="0">
                  <a:latin typeface="Arial"/>
                  <a:ea typeface="+mn-lt"/>
                  <a:cs typeface="+mn-lt"/>
                </a:rPr>
                <a:t>objects, lanes, and drivable area</a:t>
              </a:r>
            </a:p>
            <a:p>
              <a:pPr marL="742950" lvl="1" indent="-285750">
                <a:buFont typeface="Arial"/>
                <a:buChar char="•"/>
              </a:pPr>
              <a:r>
                <a:rPr lang="en-US" dirty="0">
                  <a:latin typeface="Arial"/>
                  <a:ea typeface="+mn-lt"/>
                  <a:cs typeface="+mn-lt"/>
                </a:rPr>
                <a:t>Multi-scale feature maps to capture </a:t>
              </a:r>
              <a:r>
                <a:rPr lang="en-US" b="1" dirty="0">
                  <a:latin typeface="Arial"/>
                  <a:ea typeface="+mn-lt"/>
                  <a:cs typeface="+mn-lt"/>
                </a:rPr>
                <a:t>small + large</a:t>
              </a:r>
              <a:r>
                <a:rPr lang="en-US" dirty="0">
                  <a:latin typeface="Arial"/>
                  <a:ea typeface="+mn-lt"/>
                  <a:cs typeface="+mn-lt"/>
                </a:rPr>
                <a:t> elements</a:t>
              </a:r>
              <a:endParaRPr lang="en-US" b="1">
                <a:latin typeface="Arial"/>
                <a:ea typeface="Calibri" panose="020F0502020204030204"/>
                <a:cs typeface="Calibri" panose="020F0502020204030204"/>
              </a:endParaRPr>
            </a:p>
          </p:txBody>
        </p:sp>
        <p:sp>
          <p:nvSpPr>
            <p:cNvPr id="11" name="Flowchart: Connector 10">
              <a:extLst>
                <a:ext uri="{FF2B5EF4-FFF2-40B4-BE49-F238E27FC236}">
                  <a16:creationId xmlns:a16="http://schemas.microsoft.com/office/drawing/2014/main" id="{ECD9D344-6050-885C-412B-2C2D95AE714F}"/>
                </a:ext>
              </a:extLst>
            </p:cNvPr>
            <p:cNvSpPr/>
            <p:nvPr/>
          </p:nvSpPr>
          <p:spPr>
            <a:xfrm>
              <a:off x="1012208" y="2763671"/>
              <a:ext cx="367123" cy="36022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ea typeface="Calibri"/>
                <a:cs typeface="Calibri"/>
              </a:endParaRPr>
            </a:p>
          </p:txBody>
        </p:sp>
      </p:grpSp>
      <p:grpSp>
        <p:nvGrpSpPr>
          <p:cNvPr id="14" name="Group 13">
            <a:extLst>
              <a:ext uri="{FF2B5EF4-FFF2-40B4-BE49-F238E27FC236}">
                <a16:creationId xmlns:a16="http://schemas.microsoft.com/office/drawing/2014/main" id="{0C65D176-A677-C5F5-76C1-D28FB7C5E9FC}"/>
              </a:ext>
            </a:extLst>
          </p:cNvPr>
          <p:cNvGrpSpPr/>
          <p:nvPr/>
        </p:nvGrpSpPr>
        <p:grpSpPr>
          <a:xfrm>
            <a:off x="474984" y="4990727"/>
            <a:ext cx="5466186" cy="926334"/>
            <a:chOff x="728065" y="4086388"/>
            <a:chExt cx="5466186" cy="926334"/>
          </a:xfrm>
        </p:grpSpPr>
        <p:sp>
          <p:nvSpPr>
            <p:cNvPr id="16" name="TextBox 15">
              <a:extLst>
                <a:ext uri="{FF2B5EF4-FFF2-40B4-BE49-F238E27FC236}">
                  <a16:creationId xmlns:a16="http://schemas.microsoft.com/office/drawing/2014/main" id="{A10D7EDF-52C8-885A-8341-113D180D62F9}"/>
                </a:ext>
              </a:extLst>
            </p:cNvPr>
            <p:cNvSpPr txBox="1"/>
            <p:nvPr/>
          </p:nvSpPr>
          <p:spPr>
            <a:xfrm>
              <a:off x="728065" y="4089392"/>
              <a:ext cx="546618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dirty="0">
                  <a:latin typeface="Arial"/>
                  <a:ea typeface="+mn-lt"/>
                  <a:cs typeface="+mn-lt"/>
                </a:rPr>
                <a:t>Weight Balancing</a:t>
              </a:r>
              <a:endParaRPr lang="en-US">
                <a:latin typeface="Arial"/>
                <a:cs typeface="Arial"/>
              </a:endParaRPr>
            </a:p>
            <a:p>
              <a:pPr marL="742950" lvl="1" indent="-285750">
                <a:buFont typeface="Arial"/>
                <a:buChar char="•"/>
              </a:pPr>
              <a:r>
                <a:rPr lang="en-US" dirty="0">
                  <a:latin typeface="Arial"/>
                  <a:ea typeface="+mn-lt"/>
                  <a:cs typeface="+mn-lt"/>
                </a:rPr>
                <a:t>Automatic multi-task loss weighting using </a:t>
              </a:r>
              <a:r>
                <a:rPr lang="en-US" b="1" dirty="0">
                  <a:latin typeface="Arial"/>
                  <a:ea typeface="+mn-lt"/>
                  <a:cs typeface="+mn-lt"/>
                </a:rPr>
                <a:t>uncertainty-based optimization</a:t>
              </a:r>
            </a:p>
          </p:txBody>
        </p:sp>
        <p:sp>
          <p:nvSpPr>
            <p:cNvPr id="17" name="Flowchart: Connector 16">
              <a:extLst>
                <a:ext uri="{FF2B5EF4-FFF2-40B4-BE49-F238E27FC236}">
                  <a16:creationId xmlns:a16="http://schemas.microsoft.com/office/drawing/2014/main" id="{8BFCA415-5ADD-4505-DE04-C91F2F41F18D}"/>
                </a:ext>
              </a:extLst>
            </p:cNvPr>
            <p:cNvSpPr/>
            <p:nvPr/>
          </p:nvSpPr>
          <p:spPr>
            <a:xfrm>
              <a:off x="767793" y="4086388"/>
              <a:ext cx="367123" cy="36022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ea typeface="Calibri"/>
                <a:cs typeface="Calibri"/>
              </a:endParaRPr>
            </a:p>
          </p:txBody>
        </p:sp>
      </p:grpSp>
      <p:grpSp>
        <p:nvGrpSpPr>
          <p:cNvPr id="18" name="Group 17">
            <a:extLst>
              <a:ext uri="{FF2B5EF4-FFF2-40B4-BE49-F238E27FC236}">
                <a16:creationId xmlns:a16="http://schemas.microsoft.com/office/drawing/2014/main" id="{54194A2B-0340-47C0-F0DE-899E8E6582F8}"/>
              </a:ext>
            </a:extLst>
          </p:cNvPr>
          <p:cNvGrpSpPr/>
          <p:nvPr/>
        </p:nvGrpSpPr>
        <p:grpSpPr>
          <a:xfrm>
            <a:off x="379462" y="3702082"/>
            <a:ext cx="5466186" cy="1203333"/>
            <a:chOff x="665435" y="4086388"/>
            <a:chExt cx="5466186" cy="1203333"/>
          </a:xfrm>
        </p:grpSpPr>
        <p:sp>
          <p:nvSpPr>
            <p:cNvPr id="19" name="TextBox 18">
              <a:extLst>
                <a:ext uri="{FF2B5EF4-FFF2-40B4-BE49-F238E27FC236}">
                  <a16:creationId xmlns:a16="http://schemas.microsoft.com/office/drawing/2014/main" id="{7461FD4E-93E6-ED06-13FE-12509776BFBA}"/>
                </a:ext>
              </a:extLst>
            </p:cNvPr>
            <p:cNvSpPr txBox="1"/>
            <p:nvPr/>
          </p:nvSpPr>
          <p:spPr>
            <a:xfrm>
              <a:off x="665435" y="4089392"/>
              <a:ext cx="546618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dirty="0">
                  <a:latin typeface="Arial"/>
                  <a:ea typeface="+mn-lt"/>
                  <a:cs typeface="+mn-lt"/>
                </a:rPr>
                <a:t>Task-Specific Decoders (Two Decoders)</a:t>
              </a:r>
            </a:p>
            <a:p>
              <a:pPr marL="742950" lvl="1" indent="-285750">
                <a:buFont typeface="Arial"/>
                <a:buChar char="•"/>
              </a:pPr>
              <a:r>
                <a:rPr lang="en-US" b="1" dirty="0">
                  <a:latin typeface="Arial"/>
                  <a:ea typeface="+mn-lt"/>
                  <a:cs typeface="+mn-lt"/>
                </a:rPr>
                <a:t>Detection Decoder</a:t>
              </a:r>
              <a:r>
                <a:rPr lang="en-US" dirty="0">
                  <a:latin typeface="Arial"/>
                  <a:ea typeface="+mn-lt"/>
                  <a:cs typeface="+mn-lt"/>
                </a:rPr>
                <a:t> → traffic objects</a:t>
              </a:r>
            </a:p>
            <a:p>
              <a:pPr marL="742950" lvl="1" indent="-285750">
                <a:buFont typeface="Arial"/>
                <a:buChar char="•"/>
              </a:pPr>
              <a:r>
                <a:rPr lang="en-US" b="1" dirty="0">
                  <a:latin typeface="Arial"/>
                  <a:ea typeface="+mn-lt"/>
                  <a:cs typeface="+mn-lt"/>
                </a:rPr>
                <a:t>Segmentation Decoder</a:t>
              </a:r>
              <a:r>
                <a:rPr lang="en-US" dirty="0">
                  <a:latin typeface="Arial"/>
                  <a:ea typeface="+mn-lt"/>
                  <a:cs typeface="+mn-lt"/>
                </a:rPr>
                <a:t> → lane lines + drivable area (via </a:t>
              </a:r>
              <a:r>
                <a:rPr lang="en-US" err="1">
                  <a:latin typeface="Arial"/>
                  <a:ea typeface="+mn-lt"/>
                  <a:cs typeface="+mn-lt"/>
                </a:rPr>
                <a:t>upsampling</a:t>
              </a:r>
              <a:r>
                <a:rPr lang="en-US" dirty="0">
                  <a:latin typeface="Arial"/>
                  <a:ea typeface="+mn-lt"/>
                  <a:cs typeface="+mn-lt"/>
                </a:rPr>
                <a:t>)</a:t>
              </a:r>
              <a:endParaRPr lang="en-US" b="1">
                <a:latin typeface="Arial"/>
                <a:ea typeface="Calibri" panose="020F0502020204030204"/>
                <a:cs typeface="Calibri" panose="020F0502020204030204"/>
              </a:endParaRPr>
            </a:p>
          </p:txBody>
        </p:sp>
        <p:sp>
          <p:nvSpPr>
            <p:cNvPr id="20" name="Flowchart: Connector 19">
              <a:extLst>
                <a:ext uri="{FF2B5EF4-FFF2-40B4-BE49-F238E27FC236}">
                  <a16:creationId xmlns:a16="http://schemas.microsoft.com/office/drawing/2014/main" id="{F54BE07E-1920-795D-CA2A-F4EA62339BA1}"/>
                </a:ext>
              </a:extLst>
            </p:cNvPr>
            <p:cNvSpPr/>
            <p:nvPr/>
          </p:nvSpPr>
          <p:spPr>
            <a:xfrm>
              <a:off x="767793" y="4086388"/>
              <a:ext cx="367123" cy="36022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ea typeface="Calibri"/>
                <a:cs typeface="Calibri"/>
              </a:endParaRPr>
            </a:p>
          </p:txBody>
        </p:sp>
      </p:grpSp>
      <p:grpSp>
        <p:nvGrpSpPr>
          <p:cNvPr id="23" name="Group 22">
            <a:extLst>
              <a:ext uri="{FF2B5EF4-FFF2-40B4-BE49-F238E27FC236}">
                <a16:creationId xmlns:a16="http://schemas.microsoft.com/office/drawing/2014/main" id="{F931E197-E91F-31F1-9ADE-F38594E644C1}"/>
              </a:ext>
            </a:extLst>
          </p:cNvPr>
          <p:cNvGrpSpPr/>
          <p:nvPr/>
        </p:nvGrpSpPr>
        <p:grpSpPr>
          <a:xfrm>
            <a:off x="5778852" y="2215160"/>
            <a:ext cx="5466186" cy="1200329"/>
            <a:chOff x="909850" y="2752298"/>
            <a:chExt cx="5466186" cy="1200329"/>
          </a:xfrm>
        </p:grpSpPr>
        <p:sp>
          <p:nvSpPr>
            <p:cNvPr id="24" name="TextBox 23">
              <a:extLst>
                <a:ext uri="{FF2B5EF4-FFF2-40B4-BE49-F238E27FC236}">
                  <a16:creationId xmlns:a16="http://schemas.microsoft.com/office/drawing/2014/main" id="{BCDDDA43-4245-6F80-BAD0-B07E33BE5749}"/>
                </a:ext>
              </a:extLst>
            </p:cNvPr>
            <p:cNvSpPr txBox="1"/>
            <p:nvPr/>
          </p:nvSpPr>
          <p:spPr>
            <a:xfrm>
              <a:off x="909850" y="2752298"/>
              <a:ext cx="546618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dirty="0">
                  <a:latin typeface="Arial"/>
                  <a:ea typeface="+mn-lt"/>
                  <a:cs typeface="+mn-lt"/>
                </a:rPr>
                <a:t>BA‑PTP (Algorithm)</a:t>
              </a:r>
              <a:endParaRPr lang="en-US">
                <a:latin typeface="Arial"/>
                <a:cs typeface="Arial"/>
              </a:endParaRPr>
            </a:p>
            <a:p>
              <a:pPr marL="742950" lvl="1" indent="-285750">
                <a:buFont typeface="Arial"/>
                <a:buChar char="•"/>
              </a:pPr>
              <a:r>
                <a:rPr lang="en-US" dirty="0">
                  <a:latin typeface="Arial"/>
                  <a:ea typeface="+mn-lt"/>
                  <a:cs typeface="+mn-lt"/>
                </a:rPr>
                <a:t>Extracts behavioral features: body/head orientation, pose, and bounding box positions.</a:t>
              </a:r>
            </a:p>
          </p:txBody>
        </p:sp>
        <p:sp>
          <p:nvSpPr>
            <p:cNvPr id="25" name="Flowchart: Connector 24">
              <a:extLst>
                <a:ext uri="{FF2B5EF4-FFF2-40B4-BE49-F238E27FC236}">
                  <a16:creationId xmlns:a16="http://schemas.microsoft.com/office/drawing/2014/main" id="{ECCFA91F-52AB-E0F1-5BE5-870DE74DE57C}"/>
                </a:ext>
              </a:extLst>
            </p:cNvPr>
            <p:cNvSpPr/>
            <p:nvPr/>
          </p:nvSpPr>
          <p:spPr>
            <a:xfrm>
              <a:off x="1012208" y="2763671"/>
              <a:ext cx="367123" cy="36022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ea typeface="Calibri"/>
                <a:cs typeface="Calibri"/>
              </a:endParaRPr>
            </a:p>
          </p:txBody>
        </p:sp>
      </p:grpSp>
      <p:grpSp>
        <p:nvGrpSpPr>
          <p:cNvPr id="29" name="Group 28">
            <a:extLst>
              <a:ext uri="{FF2B5EF4-FFF2-40B4-BE49-F238E27FC236}">
                <a16:creationId xmlns:a16="http://schemas.microsoft.com/office/drawing/2014/main" id="{4C8ABB33-12EA-5BA4-1E23-2198EC70C0C0}"/>
              </a:ext>
            </a:extLst>
          </p:cNvPr>
          <p:cNvGrpSpPr/>
          <p:nvPr/>
        </p:nvGrpSpPr>
        <p:grpSpPr>
          <a:xfrm>
            <a:off x="5778852" y="3279871"/>
            <a:ext cx="5466186" cy="2031325"/>
            <a:chOff x="909850" y="2752298"/>
            <a:chExt cx="5466186" cy="2031325"/>
          </a:xfrm>
        </p:grpSpPr>
        <p:sp>
          <p:nvSpPr>
            <p:cNvPr id="30" name="TextBox 29">
              <a:extLst>
                <a:ext uri="{FF2B5EF4-FFF2-40B4-BE49-F238E27FC236}">
                  <a16:creationId xmlns:a16="http://schemas.microsoft.com/office/drawing/2014/main" id="{9998F18C-1C66-794C-0D3E-1D4982386B78}"/>
                </a:ext>
              </a:extLst>
            </p:cNvPr>
            <p:cNvSpPr txBox="1"/>
            <p:nvPr/>
          </p:nvSpPr>
          <p:spPr>
            <a:xfrm>
              <a:off x="909850" y="2752298"/>
              <a:ext cx="546618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dirty="0">
                  <a:latin typeface="Arial"/>
                  <a:ea typeface="+mn-lt"/>
                  <a:cs typeface="+mn-lt"/>
                </a:rPr>
                <a:t>Encoding &amp; Modality Attention</a:t>
              </a:r>
              <a:endParaRPr lang="en-US">
                <a:latin typeface="Arial"/>
                <a:cs typeface="Arial"/>
              </a:endParaRPr>
            </a:p>
            <a:p>
              <a:pPr marL="742950" lvl="1" indent="-285750">
                <a:buFont typeface="Arial"/>
                <a:buChar char="•"/>
              </a:pPr>
              <a:r>
                <a:rPr lang="en-US" dirty="0">
                  <a:latin typeface="Arial"/>
                  <a:ea typeface="+mn-lt"/>
                  <a:cs typeface="+mn-lt"/>
                </a:rPr>
                <a:t>Independent streams for each modality.</a:t>
              </a:r>
            </a:p>
            <a:p>
              <a:pPr marL="742950" lvl="1" indent="-285750">
                <a:buFont typeface="Arial"/>
                <a:buChar char="•"/>
              </a:pPr>
              <a:r>
                <a:rPr lang="en-US" dirty="0">
                  <a:latin typeface="Arial"/>
                  <a:ea typeface="+mn-lt"/>
                  <a:cs typeface="+mn-lt"/>
                </a:rPr>
                <a:t>Dynamically weights each modality per pedestrian per frame.</a:t>
              </a:r>
            </a:p>
            <a:p>
              <a:pPr marL="742950" lvl="1" indent="-285750">
                <a:buFont typeface="Arial"/>
                <a:buChar char="•"/>
              </a:pPr>
              <a:r>
                <a:rPr lang="en-US" dirty="0">
                  <a:latin typeface="Arial"/>
                  <a:ea typeface="+mn-lt"/>
                  <a:cs typeface="+mn-lt"/>
                </a:rPr>
                <a:t>Produces a fused feature vector with the most relevant info. That predicts trajectory</a:t>
              </a:r>
            </a:p>
            <a:p>
              <a:pPr marL="742950" lvl="1" indent="-285750">
                <a:buFont typeface="Arial"/>
                <a:buChar char="•"/>
              </a:pPr>
              <a:endParaRPr lang="en-US" dirty="0">
                <a:latin typeface="Arial"/>
                <a:ea typeface="+mn-lt"/>
                <a:cs typeface="+mn-lt"/>
              </a:endParaRPr>
            </a:p>
          </p:txBody>
        </p:sp>
        <p:sp>
          <p:nvSpPr>
            <p:cNvPr id="31" name="Flowchart: Connector 30">
              <a:extLst>
                <a:ext uri="{FF2B5EF4-FFF2-40B4-BE49-F238E27FC236}">
                  <a16:creationId xmlns:a16="http://schemas.microsoft.com/office/drawing/2014/main" id="{96C84D84-F99E-DAB4-EF65-A3C681BB3486}"/>
                </a:ext>
              </a:extLst>
            </p:cNvPr>
            <p:cNvSpPr/>
            <p:nvPr/>
          </p:nvSpPr>
          <p:spPr>
            <a:xfrm>
              <a:off x="1012208" y="2763671"/>
              <a:ext cx="367123" cy="36022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ea typeface="Calibri"/>
                <a:cs typeface="Calibri"/>
              </a:endParaRPr>
            </a:p>
          </p:txBody>
        </p:sp>
      </p:grpSp>
      <p:grpSp>
        <p:nvGrpSpPr>
          <p:cNvPr id="34" name="Group 33">
            <a:extLst>
              <a:ext uri="{FF2B5EF4-FFF2-40B4-BE49-F238E27FC236}">
                <a16:creationId xmlns:a16="http://schemas.microsoft.com/office/drawing/2014/main" id="{F63D41FE-5840-F567-AA8C-07E3F8BDEF56}"/>
              </a:ext>
            </a:extLst>
          </p:cNvPr>
          <p:cNvGrpSpPr/>
          <p:nvPr/>
        </p:nvGrpSpPr>
        <p:grpSpPr>
          <a:xfrm>
            <a:off x="5853889" y="4995110"/>
            <a:ext cx="5309611" cy="933768"/>
            <a:chOff x="909850" y="2752298"/>
            <a:chExt cx="5466186" cy="923330"/>
          </a:xfrm>
        </p:grpSpPr>
        <p:sp>
          <p:nvSpPr>
            <p:cNvPr id="35" name="TextBox 34">
              <a:extLst>
                <a:ext uri="{FF2B5EF4-FFF2-40B4-BE49-F238E27FC236}">
                  <a16:creationId xmlns:a16="http://schemas.microsoft.com/office/drawing/2014/main" id="{120D9EB4-8F34-37CE-2726-F68B38EE1420}"/>
                </a:ext>
              </a:extLst>
            </p:cNvPr>
            <p:cNvSpPr txBox="1"/>
            <p:nvPr/>
          </p:nvSpPr>
          <p:spPr>
            <a:xfrm>
              <a:off x="909850" y="2752298"/>
              <a:ext cx="546618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dirty="0">
                  <a:latin typeface="Arial"/>
                  <a:ea typeface="Calibri"/>
                  <a:cs typeface="Calibri"/>
                </a:rPr>
                <a:t>STEMM</a:t>
              </a:r>
            </a:p>
            <a:p>
              <a:pPr marL="742950" lvl="1" indent="-285750">
                <a:buFont typeface="Arial"/>
                <a:buChar char="•"/>
              </a:pPr>
              <a:r>
                <a:rPr lang="en-US" dirty="0">
                  <a:latin typeface="Arial"/>
                  <a:ea typeface="+mn-lt"/>
                  <a:cs typeface="+mn-lt"/>
                </a:rPr>
                <a:t>Compensates for camera motion in ego-centric views.</a:t>
              </a:r>
            </a:p>
          </p:txBody>
        </p:sp>
        <p:sp>
          <p:nvSpPr>
            <p:cNvPr id="36" name="Flowchart: Connector 35">
              <a:extLst>
                <a:ext uri="{FF2B5EF4-FFF2-40B4-BE49-F238E27FC236}">
                  <a16:creationId xmlns:a16="http://schemas.microsoft.com/office/drawing/2014/main" id="{6895284C-4434-410D-1503-18974418BD45}"/>
                </a:ext>
              </a:extLst>
            </p:cNvPr>
            <p:cNvSpPr/>
            <p:nvPr/>
          </p:nvSpPr>
          <p:spPr>
            <a:xfrm>
              <a:off x="1012208" y="2763671"/>
              <a:ext cx="367123" cy="360225"/>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ea typeface="Calibri"/>
                <a:cs typeface="Calibri"/>
              </a:endParaRPr>
            </a:p>
          </p:txBody>
        </p:sp>
      </p:grpSp>
    </p:spTree>
    <p:extLst>
      <p:ext uri="{BB962C8B-B14F-4D97-AF65-F5344CB8AC3E}">
        <p14:creationId xmlns:p14="http://schemas.microsoft.com/office/powerpoint/2010/main" val="764808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4224-2F84-50F3-1366-D29719BFC54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5BEC9E3-7C7F-6E81-0AB0-0AC6B0D227E2}"/>
              </a:ext>
            </a:extLst>
          </p:cNvPr>
          <p:cNvSpPr/>
          <p:nvPr/>
        </p:nvSpPr>
        <p:spPr>
          <a:xfrm>
            <a:off x="4762" y="-4762"/>
            <a:ext cx="12180093" cy="917735"/>
          </a:xfrm>
          <a:prstGeom prst="rect">
            <a:avLst/>
          </a:prstGeom>
          <a:solidFill>
            <a:srgbClr val="002F56"/>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4400" b="1">
                <a:latin typeface="Georgia"/>
              </a:rPr>
              <a:t>Premier University</a:t>
            </a:r>
            <a:endParaRPr lang="en-US" sz="4400" b="1">
              <a:latin typeface="Georgia"/>
              <a:ea typeface="Calibri" panose="020F0502020204030204"/>
              <a:cs typeface="Calibri" panose="020F0502020204030204"/>
            </a:endParaRPr>
          </a:p>
        </p:txBody>
      </p:sp>
      <p:sp>
        <p:nvSpPr>
          <p:cNvPr id="9" name="Minus Sign 8">
            <a:extLst>
              <a:ext uri="{FF2B5EF4-FFF2-40B4-BE49-F238E27FC236}">
                <a16:creationId xmlns:a16="http://schemas.microsoft.com/office/drawing/2014/main" id="{0934DE5D-9476-403D-9DAE-66C3B1C506E7}"/>
              </a:ext>
            </a:extLst>
          </p:cNvPr>
          <p:cNvSpPr/>
          <p:nvPr/>
        </p:nvSpPr>
        <p:spPr>
          <a:xfrm>
            <a:off x="-2185988" y="6286500"/>
            <a:ext cx="16546487" cy="917278"/>
          </a:xfrm>
          <a:prstGeom prst="mathMinus">
            <a:avLst/>
          </a:prstGeom>
          <a:solidFill>
            <a:srgbClr val="002F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234B9DA0-FB13-29CC-2A74-6604E323E32D}"/>
              </a:ext>
            </a:extLst>
          </p:cNvPr>
          <p:cNvSpPr>
            <a:spLocks noGrp="1"/>
          </p:cNvSpPr>
          <p:nvPr>
            <p:ph type="title"/>
          </p:nvPr>
        </p:nvSpPr>
        <p:spPr>
          <a:xfrm>
            <a:off x="838200" y="911035"/>
            <a:ext cx="10515600" cy="1325563"/>
          </a:xfrm>
        </p:spPr>
        <p:txBody>
          <a:bodyPr>
            <a:normAutofit/>
          </a:bodyPr>
          <a:lstStyle/>
          <a:p>
            <a:pPr algn="ctr"/>
            <a:r>
              <a:rPr lang="en-US" sz="3600" dirty="0">
                <a:solidFill>
                  <a:srgbClr val="005BBB"/>
                </a:solidFill>
                <a:latin typeface="Georgia"/>
                <a:ea typeface="+mj-lt"/>
                <a:cs typeface="+mj-lt"/>
              </a:rPr>
              <a:t>LiDAR That Learns Without the Bruises</a:t>
            </a:r>
            <a:endParaRPr lang="en-US" sz="3600">
              <a:latin typeface="Georgia"/>
            </a:endParaRPr>
          </a:p>
        </p:txBody>
      </p:sp>
      <p:sp>
        <p:nvSpPr>
          <p:cNvPr id="15" name="Slide Number Placeholder 14">
            <a:extLst>
              <a:ext uri="{FF2B5EF4-FFF2-40B4-BE49-F238E27FC236}">
                <a16:creationId xmlns:a16="http://schemas.microsoft.com/office/drawing/2014/main" id="{556A21FD-D7D8-CA7F-E74C-218932D4E982}"/>
              </a:ext>
            </a:extLst>
          </p:cNvPr>
          <p:cNvSpPr>
            <a:spLocks noGrp="1"/>
          </p:cNvSpPr>
          <p:nvPr>
            <p:ph type="sldNum" sz="quarter" idx="12"/>
          </p:nvPr>
        </p:nvSpPr>
        <p:spPr/>
        <p:txBody>
          <a:bodyPr/>
          <a:lstStyle/>
          <a:p>
            <a:fld id="{48F63A3B-78C7-47BE-AE5E-E10140E04643}" type="slidenum">
              <a:rPr lang="en-US" sz="1400" dirty="0">
                <a:latin typeface="Georgia"/>
              </a:rPr>
              <a:t>7</a:t>
            </a:fld>
            <a:endParaRPr lang="en-US" sz="1400">
              <a:latin typeface="Georgia"/>
            </a:endParaRPr>
          </a:p>
        </p:txBody>
      </p:sp>
      <p:sp>
        <p:nvSpPr>
          <p:cNvPr id="7" name="Minus Sign 6">
            <a:extLst>
              <a:ext uri="{FF2B5EF4-FFF2-40B4-BE49-F238E27FC236}">
                <a16:creationId xmlns:a16="http://schemas.microsoft.com/office/drawing/2014/main" id="{F47A5340-30E3-FC95-967E-4003D7985A05}"/>
              </a:ext>
            </a:extLst>
          </p:cNvPr>
          <p:cNvSpPr/>
          <p:nvPr/>
        </p:nvSpPr>
        <p:spPr>
          <a:xfrm>
            <a:off x="3352800" y="1866900"/>
            <a:ext cx="5480026" cy="94624"/>
          </a:xfrm>
          <a:custGeom>
            <a:avLst/>
            <a:gdLst>
              <a:gd name="csX0" fmla="*/ 726377 w 5480026"/>
              <a:gd name="csY0" fmla="*/ 36184 h 94624"/>
              <a:gd name="csX1" fmla="*/ 1437862 w 5480026"/>
              <a:gd name="csY1" fmla="*/ 36184 h 94624"/>
              <a:gd name="csX2" fmla="*/ 1988256 w 5480026"/>
              <a:gd name="csY2" fmla="*/ 36184 h 94624"/>
              <a:gd name="csX3" fmla="*/ 2619195 w 5480026"/>
              <a:gd name="csY3" fmla="*/ 36184 h 94624"/>
              <a:gd name="csX4" fmla="*/ 3330680 w 5480026"/>
              <a:gd name="csY4" fmla="*/ 36184 h 94624"/>
              <a:gd name="csX5" fmla="*/ 3881073 w 5480026"/>
              <a:gd name="csY5" fmla="*/ 36184 h 94624"/>
              <a:gd name="csX6" fmla="*/ 4753649 w 5480026"/>
              <a:gd name="csY6" fmla="*/ 36184 h 94624"/>
              <a:gd name="csX7" fmla="*/ 4753649 w 5480026"/>
              <a:gd name="csY7" fmla="*/ 58440 h 94624"/>
              <a:gd name="csX8" fmla="*/ 4082437 w 5480026"/>
              <a:gd name="csY8" fmla="*/ 58440 h 94624"/>
              <a:gd name="csX9" fmla="*/ 3370952 w 5480026"/>
              <a:gd name="csY9" fmla="*/ 58440 h 94624"/>
              <a:gd name="csX10" fmla="*/ 2820558 w 5480026"/>
              <a:gd name="csY10" fmla="*/ 58440 h 94624"/>
              <a:gd name="csX11" fmla="*/ 2189619 w 5480026"/>
              <a:gd name="csY11" fmla="*/ 58440 h 94624"/>
              <a:gd name="csX12" fmla="*/ 1478134 w 5480026"/>
              <a:gd name="csY12" fmla="*/ 58440 h 94624"/>
              <a:gd name="csX13" fmla="*/ 726377 w 5480026"/>
              <a:gd name="csY13" fmla="*/ 58440 h 94624"/>
              <a:gd name="csX14" fmla="*/ 726377 w 5480026"/>
              <a:gd name="csY14" fmla="*/ 36184 h 946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480026" h="94624" fill="none" extrusionOk="0">
                <a:moveTo>
                  <a:pt x="726377" y="36184"/>
                </a:moveTo>
                <a:cubicBezTo>
                  <a:pt x="911788" y="19780"/>
                  <a:pt x="1237901" y="12608"/>
                  <a:pt x="1437862" y="36184"/>
                </a:cubicBezTo>
                <a:cubicBezTo>
                  <a:pt x="1637824" y="59760"/>
                  <a:pt x="1733256" y="18292"/>
                  <a:pt x="1988256" y="36184"/>
                </a:cubicBezTo>
                <a:cubicBezTo>
                  <a:pt x="2243256" y="54076"/>
                  <a:pt x="2405741" y="30484"/>
                  <a:pt x="2619195" y="36184"/>
                </a:cubicBezTo>
                <a:cubicBezTo>
                  <a:pt x="2832649" y="41884"/>
                  <a:pt x="3048700" y="28925"/>
                  <a:pt x="3330680" y="36184"/>
                </a:cubicBezTo>
                <a:cubicBezTo>
                  <a:pt x="3612660" y="43443"/>
                  <a:pt x="3719128" y="62328"/>
                  <a:pt x="3881073" y="36184"/>
                </a:cubicBezTo>
                <a:cubicBezTo>
                  <a:pt x="4043018" y="10040"/>
                  <a:pt x="4567695" y="-34"/>
                  <a:pt x="4753649" y="36184"/>
                </a:cubicBezTo>
                <a:cubicBezTo>
                  <a:pt x="4754423" y="41747"/>
                  <a:pt x="4753312" y="52707"/>
                  <a:pt x="4753649" y="58440"/>
                </a:cubicBezTo>
                <a:cubicBezTo>
                  <a:pt x="4579509" y="72312"/>
                  <a:pt x="4354978" y="61719"/>
                  <a:pt x="4082437" y="58440"/>
                </a:cubicBezTo>
                <a:cubicBezTo>
                  <a:pt x="3809896" y="55161"/>
                  <a:pt x="3631760" y="73307"/>
                  <a:pt x="3370952" y="58440"/>
                </a:cubicBezTo>
                <a:cubicBezTo>
                  <a:pt x="3110144" y="43573"/>
                  <a:pt x="2944482" y="50918"/>
                  <a:pt x="2820558" y="58440"/>
                </a:cubicBezTo>
                <a:cubicBezTo>
                  <a:pt x="2696634" y="65962"/>
                  <a:pt x="2328319" y="72580"/>
                  <a:pt x="2189619" y="58440"/>
                </a:cubicBezTo>
                <a:cubicBezTo>
                  <a:pt x="2050919" y="44300"/>
                  <a:pt x="1789139" y="89242"/>
                  <a:pt x="1478134" y="58440"/>
                </a:cubicBezTo>
                <a:cubicBezTo>
                  <a:pt x="1167130" y="27638"/>
                  <a:pt x="1012539" y="24602"/>
                  <a:pt x="726377" y="58440"/>
                </a:cubicBezTo>
                <a:cubicBezTo>
                  <a:pt x="726135" y="51783"/>
                  <a:pt x="726177" y="40942"/>
                  <a:pt x="726377" y="36184"/>
                </a:cubicBezTo>
                <a:close/>
              </a:path>
              <a:path w="5480026" h="94624" stroke="0" extrusionOk="0">
                <a:moveTo>
                  <a:pt x="726377" y="36184"/>
                </a:moveTo>
                <a:cubicBezTo>
                  <a:pt x="1011518" y="72599"/>
                  <a:pt x="1112442" y="36627"/>
                  <a:pt x="1478134" y="36184"/>
                </a:cubicBezTo>
                <a:cubicBezTo>
                  <a:pt x="1843826" y="35741"/>
                  <a:pt x="1927524" y="62916"/>
                  <a:pt x="2109074" y="36184"/>
                </a:cubicBezTo>
                <a:cubicBezTo>
                  <a:pt x="2290624" y="9452"/>
                  <a:pt x="2442027" y="33053"/>
                  <a:pt x="2659468" y="36184"/>
                </a:cubicBezTo>
                <a:cubicBezTo>
                  <a:pt x="2876909" y="39315"/>
                  <a:pt x="3110458" y="2855"/>
                  <a:pt x="3330680" y="36184"/>
                </a:cubicBezTo>
                <a:cubicBezTo>
                  <a:pt x="3550902" y="69513"/>
                  <a:pt x="3862724" y="21092"/>
                  <a:pt x="4001892" y="36184"/>
                </a:cubicBezTo>
                <a:cubicBezTo>
                  <a:pt x="4141060" y="51276"/>
                  <a:pt x="4393809" y="54627"/>
                  <a:pt x="4753649" y="36184"/>
                </a:cubicBezTo>
                <a:cubicBezTo>
                  <a:pt x="4754416" y="42385"/>
                  <a:pt x="4752648" y="50668"/>
                  <a:pt x="4753649" y="58440"/>
                </a:cubicBezTo>
                <a:cubicBezTo>
                  <a:pt x="4557853" y="58442"/>
                  <a:pt x="4272190" y="45819"/>
                  <a:pt x="4082437" y="58440"/>
                </a:cubicBezTo>
                <a:cubicBezTo>
                  <a:pt x="3892684" y="71061"/>
                  <a:pt x="3770225" y="75327"/>
                  <a:pt x="3532043" y="58440"/>
                </a:cubicBezTo>
                <a:cubicBezTo>
                  <a:pt x="3293861" y="41553"/>
                  <a:pt x="3083764" y="42032"/>
                  <a:pt x="2860831" y="58440"/>
                </a:cubicBezTo>
                <a:cubicBezTo>
                  <a:pt x="2637898" y="74848"/>
                  <a:pt x="2444006" y="81015"/>
                  <a:pt x="2149346" y="58440"/>
                </a:cubicBezTo>
                <a:cubicBezTo>
                  <a:pt x="1854687" y="35865"/>
                  <a:pt x="1639028" y="68151"/>
                  <a:pt x="1397589" y="58440"/>
                </a:cubicBezTo>
                <a:cubicBezTo>
                  <a:pt x="1156150" y="48729"/>
                  <a:pt x="896383" y="28851"/>
                  <a:pt x="726377" y="58440"/>
                </a:cubicBezTo>
                <a:cubicBezTo>
                  <a:pt x="725675" y="49926"/>
                  <a:pt x="726826" y="45865"/>
                  <a:pt x="726377" y="36184"/>
                </a:cubicBezTo>
                <a:close/>
              </a:path>
            </a:pathLst>
          </a:custGeom>
          <a:ln>
            <a:extLst>
              <a:ext uri="{C807C97D-BFC1-408E-A445-0C87EB9F89A2}">
                <ask:lineSketchStyleProps xmlns:ask="http://schemas.microsoft.com/office/drawing/2018/sketchyshapes" sd="3989574929">
                  <a:prstGeom prst="mathMinus">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1ACEF542-E642-1182-B3A5-0FC3ADB5D433}"/>
              </a:ext>
            </a:extLst>
          </p:cNvPr>
          <p:cNvGrpSpPr/>
          <p:nvPr/>
        </p:nvGrpSpPr>
        <p:grpSpPr>
          <a:xfrm>
            <a:off x="841903" y="2269461"/>
            <a:ext cx="8226638" cy="1477328"/>
            <a:chOff x="852341" y="2795430"/>
            <a:chExt cx="8226638" cy="1477328"/>
          </a:xfrm>
        </p:grpSpPr>
        <p:sp>
          <p:nvSpPr>
            <p:cNvPr id="18" name="TextBox 17">
              <a:extLst>
                <a:ext uri="{FF2B5EF4-FFF2-40B4-BE49-F238E27FC236}">
                  <a16:creationId xmlns:a16="http://schemas.microsoft.com/office/drawing/2014/main" id="{AB2DCE58-2D79-A3F7-3C71-8692542BDD89}"/>
                </a:ext>
              </a:extLst>
            </p:cNvPr>
            <p:cNvSpPr txBox="1"/>
            <p:nvPr/>
          </p:nvSpPr>
          <p:spPr>
            <a:xfrm>
              <a:off x="852341" y="2795430"/>
              <a:ext cx="822663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b="1" dirty="0">
                  <a:ea typeface="+mn-lt"/>
                  <a:cs typeface="+mn-lt"/>
                </a:rPr>
                <a:t> HiFi Digital Twins (HiFi DT)</a:t>
              </a:r>
              <a:r>
                <a:rPr lang="en-US" dirty="0">
                  <a:ea typeface="+mn-lt"/>
                  <a:cs typeface="+mn-lt"/>
                </a:rPr>
                <a:t> I – A</a:t>
              </a:r>
              <a:r>
                <a:rPr lang="en-US" b="1" dirty="0">
                  <a:ea typeface="+mn-lt"/>
                  <a:cs typeface="+mn-lt"/>
                </a:rPr>
                <a:t> Synthetic data generation framework</a:t>
              </a:r>
              <a:endParaRPr lang="en-US" dirty="0"/>
            </a:p>
            <a:p>
              <a:pPr marL="742950" lvl="1" indent="-285750">
                <a:buFont typeface="Arial"/>
                <a:buChar char="•"/>
              </a:pPr>
              <a:r>
                <a:rPr lang="en-US" dirty="0">
                  <a:latin typeface="Arial"/>
                  <a:ea typeface="+mn-lt"/>
                  <a:cs typeface="+mn-lt"/>
                </a:rPr>
                <a:t>Synthetic data replicates object distribution, geometry, and sensor characteristics.</a:t>
              </a:r>
            </a:p>
            <a:p>
              <a:pPr marL="742950" lvl="1" indent="-285750">
                <a:buFont typeface="Arial"/>
                <a:buChar char="•"/>
              </a:pPr>
              <a:r>
                <a:rPr lang="en-US" dirty="0">
                  <a:latin typeface="Arial"/>
                  <a:ea typeface="+mn-lt"/>
                  <a:cs typeface="+mn-lt"/>
                </a:rPr>
                <a:t>Can supplement or replace real-world data, saving time and cost.</a:t>
              </a:r>
            </a:p>
            <a:p>
              <a:pPr marL="742950" lvl="1" indent="-285750">
                <a:buFont typeface="Arial"/>
                <a:buChar char="•"/>
              </a:pPr>
              <a:r>
                <a:rPr lang="en-US" dirty="0">
                  <a:latin typeface="Arial"/>
                  <a:ea typeface="+mn-lt"/>
                  <a:cs typeface="+mn-lt"/>
                </a:rPr>
                <a:t>Generates labeled bike-centric data, including rare/high-risk scenarios.</a:t>
              </a:r>
              <a:endParaRPr lang="en-US">
                <a:latin typeface="Arial"/>
                <a:ea typeface="Calibri"/>
                <a:cs typeface="Calibri"/>
              </a:endParaRPr>
            </a:p>
          </p:txBody>
        </p:sp>
        <p:sp>
          <p:nvSpPr>
            <p:cNvPr id="19" name="Flowchart: Connector 18">
              <a:extLst>
                <a:ext uri="{FF2B5EF4-FFF2-40B4-BE49-F238E27FC236}">
                  <a16:creationId xmlns:a16="http://schemas.microsoft.com/office/drawing/2014/main" id="{28131968-69A8-A8C1-D4BA-7FB040A503FD}"/>
                </a:ext>
              </a:extLst>
            </p:cNvPr>
            <p:cNvSpPr/>
            <p:nvPr/>
          </p:nvSpPr>
          <p:spPr>
            <a:xfrm>
              <a:off x="1053961" y="2847178"/>
              <a:ext cx="276101" cy="269203"/>
            </a:xfrm>
            <a:prstGeom prst="flowChartConnector">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ea typeface="Calibri"/>
                <a:cs typeface="Calibri"/>
              </a:endParaRPr>
            </a:p>
          </p:txBody>
        </p:sp>
      </p:grpSp>
      <p:sp>
        <p:nvSpPr>
          <p:cNvPr id="2" name="TextBox 1">
            <a:extLst>
              <a:ext uri="{FF2B5EF4-FFF2-40B4-BE49-F238E27FC236}">
                <a16:creationId xmlns:a16="http://schemas.microsoft.com/office/drawing/2014/main" id="{E08057FE-AA0B-0893-998A-9F3C5578963C}"/>
              </a:ext>
            </a:extLst>
          </p:cNvPr>
          <p:cNvSpPr txBox="1"/>
          <p:nvPr/>
        </p:nvSpPr>
        <p:spPr>
          <a:xfrm>
            <a:off x="2546761" y="4070761"/>
            <a:ext cx="705542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ea typeface="+mn-lt"/>
                <a:cs typeface="+mn-lt"/>
              </a:rPr>
              <a:t>Reduces Sim2Real gap → improves real-world performance (</a:t>
            </a:r>
            <a:r>
              <a:rPr lang="en-US" b="1" dirty="0">
                <a:latin typeface="Arial"/>
                <a:ea typeface="+mn-lt"/>
                <a:cs typeface="+mn-lt"/>
              </a:rPr>
              <a:t>HiFi DT-trained SEED model +4.8% accuracy</a:t>
            </a:r>
            <a:r>
              <a:rPr lang="en-US" dirty="0">
                <a:latin typeface="Arial"/>
                <a:ea typeface="+mn-lt"/>
                <a:cs typeface="+mn-lt"/>
              </a:rPr>
              <a:t>).</a:t>
            </a:r>
          </a:p>
          <a:p>
            <a:endParaRPr lang="en-US" dirty="0">
              <a:latin typeface="Arial"/>
              <a:ea typeface="+mn-lt"/>
              <a:cs typeface="+mn-lt"/>
            </a:endParaRPr>
          </a:p>
          <a:p>
            <a:r>
              <a:rPr lang="en-US" dirty="0">
                <a:latin typeface="Arial"/>
                <a:ea typeface="+mn-lt"/>
                <a:cs typeface="+mn-lt"/>
              </a:rPr>
              <a:t>This Pixels to Pavement method trains without traffic tears</a:t>
            </a:r>
            <a:endParaRPr lang="en-US">
              <a:latin typeface="Arial"/>
              <a:cs typeface="Arial"/>
            </a:endParaRPr>
          </a:p>
        </p:txBody>
      </p:sp>
    </p:spTree>
    <p:extLst>
      <p:ext uri="{BB962C8B-B14F-4D97-AF65-F5344CB8AC3E}">
        <p14:creationId xmlns:p14="http://schemas.microsoft.com/office/powerpoint/2010/main" val="2426706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CC28B1B-8E1C-312B-03AA-4F23B4DA74C5}"/>
              </a:ext>
            </a:extLst>
          </p:cNvPr>
          <p:cNvSpPr/>
          <p:nvPr/>
        </p:nvSpPr>
        <p:spPr>
          <a:xfrm>
            <a:off x="4762" y="-4762"/>
            <a:ext cx="12180093" cy="917735"/>
          </a:xfrm>
          <a:prstGeom prst="rect">
            <a:avLst/>
          </a:prstGeom>
          <a:solidFill>
            <a:srgbClr val="002F56"/>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4400" b="1">
                <a:latin typeface="Georgia"/>
              </a:rPr>
              <a:t>Premier University</a:t>
            </a:r>
            <a:endParaRPr lang="en-US" sz="4400" b="1">
              <a:latin typeface="Georgia"/>
              <a:ea typeface="Calibri" panose="020F0502020204030204"/>
              <a:cs typeface="Calibri" panose="020F0502020204030204"/>
            </a:endParaRPr>
          </a:p>
        </p:txBody>
      </p:sp>
      <p:sp>
        <p:nvSpPr>
          <p:cNvPr id="9" name="Minus Sign 8">
            <a:extLst>
              <a:ext uri="{FF2B5EF4-FFF2-40B4-BE49-F238E27FC236}">
                <a16:creationId xmlns:a16="http://schemas.microsoft.com/office/drawing/2014/main" id="{E1E2E180-2DA3-52A5-16FE-E35BE8ABC252}"/>
              </a:ext>
            </a:extLst>
          </p:cNvPr>
          <p:cNvSpPr/>
          <p:nvPr/>
        </p:nvSpPr>
        <p:spPr>
          <a:xfrm>
            <a:off x="-2185988" y="6286500"/>
            <a:ext cx="16546487" cy="917278"/>
          </a:xfrm>
          <a:prstGeom prst="mathMinus">
            <a:avLst/>
          </a:prstGeom>
          <a:solidFill>
            <a:srgbClr val="002F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65C91464-EE10-D867-E087-3DD0858C96EF}"/>
              </a:ext>
            </a:extLst>
          </p:cNvPr>
          <p:cNvSpPr>
            <a:spLocks noGrp="1"/>
          </p:cNvSpPr>
          <p:nvPr>
            <p:ph type="title"/>
          </p:nvPr>
        </p:nvSpPr>
        <p:spPr>
          <a:xfrm>
            <a:off x="2439537" y="1346484"/>
            <a:ext cx="7317120" cy="635956"/>
          </a:xfrm>
        </p:spPr>
        <p:txBody>
          <a:bodyPr>
            <a:normAutofit/>
          </a:bodyPr>
          <a:lstStyle/>
          <a:p>
            <a:pPr algn="ctr"/>
            <a:r>
              <a:rPr lang="en-US" sz="3600" dirty="0">
                <a:solidFill>
                  <a:srgbClr val="005BBB"/>
                </a:solidFill>
                <a:latin typeface="Georgia"/>
                <a:ea typeface="Calibri Light"/>
                <a:cs typeface="Calibri Light"/>
              </a:rPr>
              <a:t>Traffic</a:t>
            </a:r>
            <a:r>
              <a:rPr lang="en-US" sz="3600" dirty="0">
                <a:solidFill>
                  <a:srgbClr val="005BBB"/>
                </a:solidFill>
                <a:latin typeface="Georgia"/>
                <a:ea typeface="+mj-lt"/>
                <a:cs typeface="+mj-lt"/>
              </a:rPr>
              <a:t> Rule Violation flagging </a:t>
            </a:r>
          </a:p>
          <a:p>
            <a:pPr algn="ctr"/>
            <a:endParaRPr lang="en-US" sz="3600" dirty="0">
              <a:solidFill>
                <a:srgbClr val="005BBB"/>
              </a:solidFill>
              <a:latin typeface="Georgia"/>
              <a:ea typeface="Calibri Light"/>
              <a:cs typeface="Calibri Light"/>
            </a:endParaRPr>
          </a:p>
        </p:txBody>
      </p:sp>
      <p:sp>
        <p:nvSpPr>
          <p:cNvPr id="17" name="Content Placeholder 16">
            <a:extLst>
              <a:ext uri="{FF2B5EF4-FFF2-40B4-BE49-F238E27FC236}">
                <a16:creationId xmlns:a16="http://schemas.microsoft.com/office/drawing/2014/main" id="{7B9C9D04-0BB7-3138-A506-48982635562A}"/>
              </a:ext>
            </a:extLst>
          </p:cNvPr>
          <p:cNvSpPr>
            <a:spLocks noGrp="1"/>
          </p:cNvSpPr>
          <p:nvPr>
            <p:ph idx="1"/>
          </p:nvPr>
        </p:nvSpPr>
        <p:spPr>
          <a:xfrm>
            <a:off x="410228" y="1804139"/>
            <a:ext cx="11166966" cy="1140188"/>
          </a:xfrm>
        </p:spPr>
        <p:txBody>
          <a:bodyPr vert="horz" lIns="91440" tIns="45720" rIns="91440" bIns="45720" rtlCol="0" anchor="t">
            <a:normAutofit/>
          </a:bodyPr>
          <a:lstStyle/>
          <a:p>
            <a:pPr marL="457200" lvl="1" indent="0" algn="just">
              <a:buNone/>
            </a:pPr>
            <a:r>
              <a:rPr lang="en-US" sz="1800" dirty="0">
                <a:latin typeface="Arial"/>
                <a:ea typeface="+mn-lt"/>
                <a:cs typeface="+mn-lt"/>
              </a:rPr>
              <a:t>Despite the rise of Deep Learning and LLMs, classical computer vision remains highly effective. The paper </a:t>
            </a:r>
            <a:r>
              <a:rPr lang="en-US" sz="1800" i="1" dirty="0">
                <a:latin typeface="Arial"/>
                <a:ea typeface="+mn-lt"/>
                <a:cs typeface="+mn-lt"/>
              </a:rPr>
              <a:t>‘An Intelligent System for Automatic Detection of Traffic Rule Violations’</a:t>
            </a:r>
            <a:r>
              <a:rPr lang="en-US" sz="1800" dirty="0">
                <a:latin typeface="Arial"/>
                <a:ea typeface="+mn-lt"/>
                <a:cs typeface="+mn-lt"/>
              </a:rPr>
              <a:t> shows how CV can accurately detect violations in traffic videos.</a:t>
            </a:r>
            <a:endParaRPr lang="en-US" dirty="0">
              <a:latin typeface="Arial"/>
              <a:ea typeface="+mn-lt"/>
              <a:cs typeface="+mn-lt"/>
            </a:endParaRPr>
          </a:p>
        </p:txBody>
      </p:sp>
      <p:sp>
        <p:nvSpPr>
          <p:cNvPr id="15" name="Slide Number Placeholder 14">
            <a:extLst>
              <a:ext uri="{FF2B5EF4-FFF2-40B4-BE49-F238E27FC236}">
                <a16:creationId xmlns:a16="http://schemas.microsoft.com/office/drawing/2014/main" id="{2F13B9B6-D271-7161-E945-27DC6DD304FF}"/>
              </a:ext>
            </a:extLst>
          </p:cNvPr>
          <p:cNvSpPr>
            <a:spLocks noGrp="1"/>
          </p:cNvSpPr>
          <p:nvPr>
            <p:ph type="sldNum" sz="quarter" idx="12"/>
          </p:nvPr>
        </p:nvSpPr>
        <p:spPr/>
        <p:txBody>
          <a:bodyPr/>
          <a:lstStyle/>
          <a:p>
            <a:fld id="{48F63A3B-78C7-47BE-AE5E-E10140E04643}" type="slidenum">
              <a:rPr lang="en-US" sz="1400" dirty="0">
                <a:latin typeface="Georgia"/>
              </a:rPr>
              <a:t>8</a:t>
            </a:fld>
            <a:endParaRPr lang="en-US" sz="1400">
              <a:latin typeface="Georgia"/>
            </a:endParaRPr>
          </a:p>
        </p:txBody>
      </p:sp>
      <p:sp>
        <p:nvSpPr>
          <p:cNvPr id="19" name="Minus Sign 18">
            <a:extLst>
              <a:ext uri="{FF2B5EF4-FFF2-40B4-BE49-F238E27FC236}">
                <a16:creationId xmlns:a16="http://schemas.microsoft.com/office/drawing/2014/main" id="{C9F5FC70-AFCE-4A3D-7D08-6168EA1E83F7}"/>
              </a:ext>
            </a:extLst>
          </p:cNvPr>
          <p:cNvSpPr/>
          <p:nvPr/>
        </p:nvSpPr>
        <p:spPr>
          <a:xfrm>
            <a:off x="3258855" y="1710325"/>
            <a:ext cx="5480026" cy="94624"/>
          </a:xfrm>
          <a:custGeom>
            <a:avLst/>
            <a:gdLst>
              <a:gd name="csX0" fmla="*/ 726377 w 5480026"/>
              <a:gd name="csY0" fmla="*/ 36184 h 94624"/>
              <a:gd name="csX1" fmla="*/ 1437862 w 5480026"/>
              <a:gd name="csY1" fmla="*/ 36184 h 94624"/>
              <a:gd name="csX2" fmla="*/ 1988256 w 5480026"/>
              <a:gd name="csY2" fmla="*/ 36184 h 94624"/>
              <a:gd name="csX3" fmla="*/ 2619195 w 5480026"/>
              <a:gd name="csY3" fmla="*/ 36184 h 94624"/>
              <a:gd name="csX4" fmla="*/ 3330680 w 5480026"/>
              <a:gd name="csY4" fmla="*/ 36184 h 94624"/>
              <a:gd name="csX5" fmla="*/ 3881073 w 5480026"/>
              <a:gd name="csY5" fmla="*/ 36184 h 94624"/>
              <a:gd name="csX6" fmla="*/ 4753649 w 5480026"/>
              <a:gd name="csY6" fmla="*/ 36184 h 94624"/>
              <a:gd name="csX7" fmla="*/ 4753649 w 5480026"/>
              <a:gd name="csY7" fmla="*/ 58440 h 94624"/>
              <a:gd name="csX8" fmla="*/ 4082437 w 5480026"/>
              <a:gd name="csY8" fmla="*/ 58440 h 94624"/>
              <a:gd name="csX9" fmla="*/ 3370952 w 5480026"/>
              <a:gd name="csY9" fmla="*/ 58440 h 94624"/>
              <a:gd name="csX10" fmla="*/ 2820558 w 5480026"/>
              <a:gd name="csY10" fmla="*/ 58440 h 94624"/>
              <a:gd name="csX11" fmla="*/ 2189619 w 5480026"/>
              <a:gd name="csY11" fmla="*/ 58440 h 94624"/>
              <a:gd name="csX12" fmla="*/ 1478134 w 5480026"/>
              <a:gd name="csY12" fmla="*/ 58440 h 94624"/>
              <a:gd name="csX13" fmla="*/ 726377 w 5480026"/>
              <a:gd name="csY13" fmla="*/ 58440 h 94624"/>
              <a:gd name="csX14" fmla="*/ 726377 w 5480026"/>
              <a:gd name="csY14" fmla="*/ 36184 h 946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480026" h="94624" fill="none" extrusionOk="0">
                <a:moveTo>
                  <a:pt x="726377" y="36184"/>
                </a:moveTo>
                <a:cubicBezTo>
                  <a:pt x="911788" y="19780"/>
                  <a:pt x="1237901" y="12608"/>
                  <a:pt x="1437862" y="36184"/>
                </a:cubicBezTo>
                <a:cubicBezTo>
                  <a:pt x="1637824" y="59760"/>
                  <a:pt x="1733256" y="18292"/>
                  <a:pt x="1988256" y="36184"/>
                </a:cubicBezTo>
                <a:cubicBezTo>
                  <a:pt x="2243256" y="54076"/>
                  <a:pt x="2405741" y="30484"/>
                  <a:pt x="2619195" y="36184"/>
                </a:cubicBezTo>
                <a:cubicBezTo>
                  <a:pt x="2832649" y="41884"/>
                  <a:pt x="3048700" y="28925"/>
                  <a:pt x="3330680" y="36184"/>
                </a:cubicBezTo>
                <a:cubicBezTo>
                  <a:pt x="3612660" y="43443"/>
                  <a:pt x="3719128" y="62328"/>
                  <a:pt x="3881073" y="36184"/>
                </a:cubicBezTo>
                <a:cubicBezTo>
                  <a:pt x="4043018" y="10040"/>
                  <a:pt x="4567695" y="-34"/>
                  <a:pt x="4753649" y="36184"/>
                </a:cubicBezTo>
                <a:cubicBezTo>
                  <a:pt x="4754423" y="41747"/>
                  <a:pt x="4753312" y="52707"/>
                  <a:pt x="4753649" y="58440"/>
                </a:cubicBezTo>
                <a:cubicBezTo>
                  <a:pt x="4579509" y="72312"/>
                  <a:pt x="4354978" y="61719"/>
                  <a:pt x="4082437" y="58440"/>
                </a:cubicBezTo>
                <a:cubicBezTo>
                  <a:pt x="3809896" y="55161"/>
                  <a:pt x="3631760" y="73307"/>
                  <a:pt x="3370952" y="58440"/>
                </a:cubicBezTo>
                <a:cubicBezTo>
                  <a:pt x="3110144" y="43573"/>
                  <a:pt x="2944482" y="50918"/>
                  <a:pt x="2820558" y="58440"/>
                </a:cubicBezTo>
                <a:cubicBezTo>
                  <a:pt x="2696634" y="65962"/>
                  <a:pt x="2328319" y="72580"/>
                  <a:pt x="2189619" y="58440"/>
                </a:cubicBezTo>
                <a:cubicBezTo>
                  <a:pt x="2050919" y="44300"/>
                  <a:pt x="1789139" y="89242"/>
                  <a:pt x="1478134" y="58440"/>
                </a:cubicBezTo>
                <a:cubicBezTo>
                  <a:pt x="1167130" y="27638"/>
                  <a:pt x="1012539" y="24602"/>
                  <a:pt x="726377" y="58440"/>
                </a:cubicBezTo>
                <a:cubicBezTo>
                  <a:pt x="726135" y="51783"/>
                  <a:pt x="726177" y="40942"/>
                  <a:pt x="726377" y="36184"/>
                </a:cubicBezTo>
                <a:close/>
              </a:path>
              <a:path w="5480026" h="94624" stroke="0" extrusionOk="0">
                <a:moveTo>
                  <a:pt x="726377" y="36184"/>
                </a:moveTo>
                <a:cubicBezTo>
                  <a:pt x="1011518" y="72599"/>
                  <a:pt x="1112442" y="36627"/>
                  <a:pt x="1478134" y="36184"/>
                </a:cubicBezTo>
                <a:cubicBezTo>
                  <a:pt x="1843826" y="35741"/>
                  <a:pt x="1927524" y="62916"/>
                  <a:pt x="2109074" y="36184"/>
                </a:cubicBezTo>
                <a:cubicBezTo>
                  <a:pt x="2290624" y="9452"/>
                  <a:pt x="2442027" y="33053"/>
                  <a:pt x="2659468" y="36184"/>
                </a:cubicBezTo>
                <a:cubicBezTo>
                  <a:pt x="2876909" y="39315"/>
                  <a:pt x="3110458" y="2855"/>
                  <a:pt x="3330680" y="36184"/>
                </a:cubicBezTo>
                <a:cubicBezTo>
                  <a:pt x="3550902" y="69513"/>
                  <a:pt x="3862724" y="21092"/>
                  <a:pt x="4001892" y="36184"/>
                </a:cubicBezTo>
                <a:cubicBezTo>
                  <a:pt x="4141060" y="51276"/>
                  <a:pt x="4393809" y="54627"/>
                  <a:pt x="4753649" y="36184"/>
                </a:cubicBezTo>
                <a:cubicBezTo>
                  <a:pt x="4754416" y="42385"/>
                  <a:pt x="4752648" y="50668"/>
                  <a:pt x="4753649" y="58440"/>
                </a:cubicBezTo>
                <a:cubicBezTo>
                  <a:pt x="4557853" y="58442"/>
                  <a:pt x="4272190" y="45819"/>
                  <a:pt x="4082437" y="58440"/>
                </a:cubicBezTo>
                <a:cubicBezTo>
                  <a:pt x="3892684" y="71061"/>
                  <a:pt x="3770225" y="75327"/>
                  <a:pt x="3532043" y="58440"/>
                </a:cubicBezTo>
                <a:cubicBezTo>
                  <a:pt x="3293861" y="41553"/>
                  <a:pt x="3083764" y="42032"/>
                  <a:pt x="2860831" y="58440"/>
                </a:cubicBezTo>
                <a:cubicBezTo>
                  <a:pt x="2637898" y="74848"/>
                  <a:pt x="2444006" y="81015"/>
                  <a:pt x="2149346" y="58440"/>
                </a:cubicBezTo>
                <a:cubicBezTo>
                  <a:pt x="1854687" y="35865"/>
                  <a:pt x="1639028" y="68151"/>
                  <a:pt x="1397589" y="58440"/>
                </a:cubicBezTo>
                <a:cubicBezTo>
                  <a:pt x="1156150" y="48729"/>
                  <a:pt x="896383" y="28851"/>
                  <a:pt x="726377" y="58440"/>
                </a:cubicBezTo>
                <a:cubicBezTo>
                  <a:pt x="725675" y="49926"/>
                  <a:pt x="726826" y="45865"/>
                  <a:pt x="726377" y="36184"/>
                </a:cubicBezTo>
                <a:close/>
              </a:path>
            </a:pathLst>
          </a:custGeom>
          <a:ln>
            <a:extLst>
              <a:ext uri="{C807C97D-BFC1-408E-A445-0C87EB9F89A2}">
                <ask:lineSketchStyleProps xmlns:ask="http://schemas.microsoft.com/office/drawing/2018/sketchyshapes" sd="3989574929">
                  <a:prstGeom prst="mathMinus">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56C4E423-FF14-06F4-EEB3-9F1632660B48}"/>
              </a:ext>
            </a:extLst>
          </p:cNvPr>
          <p:cNvGrpSpPr/>
          <p:nvPr/>
        </p:nvGrpSpPr>
        <p:grpSpPr>
          <a:xfrm>
            <a:off x="413536" y="2705763"/>
            <a:ext cx="10747993" cy="1200329"/>
            <a:chOff x="920288" y="2814928"/>
            <a:chExt cx="10747993" cy="1200329"/>
          </a:xfrm>
        </p:grpSpPr>
        <p:sp>
          <p:nvSpPr>
            <p:cNvPr id="4" name="TextBox 3">
              <a:extLst>
                <a:ext uri="{FF2B5EF4-FFF2-40B4-BE49-F238E27FC236}">
                  <a16:creationId xmlns:a16="http://schemas.microsoft.com/office/drawing/2014/main" id="{75E859C9-0735-7613-F3F0-D2CC2FACBD9B}"/>
                </a:ext>
              </a:extLst>
            </p:cNvPr>
            <p:cNvSpPr txBox="1"/>
            <p:nvPr/>
          </p:nvSpPr>
          <p:spPr>
            <a:xfrm>
              <a:off x="920288" y="2814928"/>
              <a:ext cx="1074799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dirty="0">
                  <a:latin typeface="Arial"/>
                  <a:ea typeface="+mn-lt"/>
                  <a:cs typeface="+mn-lt"/>
                </a:rPr>
                <a:t>Moving Object Detection</a:t>
              </a:r>
              <a:endParaRPr lang="en-US">
                <a:latin typeface="Arial"/>
                <a:cs typeface="Arial"/>
              </a:endParaRPr>
            </a:p>
            <a:p>
              <a:pPr marL="742950" lvl="1" indent="-285750">
                <a:buFont typeface="Arial"/>
                <a:buChar char="•"/>
              </a:pPr>
              <a:r>
                <a:rPr lang="en-US" dirty="0">
                  <a:latin typeface="Arial"/>
                  <a:ea typeface="+mn-lt"/>
                  <a:cs typeface="+mn-lt"/>
                </a:rPr>
                <a:t>Background subtraction with </a:t>
              </a:r>
              <a:r>
                <a:rPr lang="en-US" b="1" dirty="0">
                  <a:latin typeface="Arial"/>
                  <a:ea typeface="+mn-lt"/>
                  <a:cs typeface="+mn-lt"/>
                </a:rPr>
                <a:t>Gaussian Mixture Model (GMM)</a:t>
              </a:r>
              <a:r>
                <a:rPr lang="en-US" dirty="0">
                  <a:latin typeface="Arial"/>
                  <a:ea typeface="+mn-lt"/>
                  <a:cs typeface="+mn-lt"/>
                </a:rPr>
                <a:t> separates foreground from background.</a:t>
              </a:r>
            </a:p>
            <a:p>
              <a:pPr marL="742950" lvl="1" indent="-285750">
                <a:buFont typeface="Arial"/>
                <a:buChar char="•"/>
              </a:pPr>
              <a:r>
                <a:rPr lang="en-US" dirty="0">
                  <a:latin typeface="Arial"/>
                  <a:ea typeface="+mn-lt"/>
                  <a:cs typeface="+mn-lt"/>
                </a:rPr>
                <a:t>M</a:t>
              </a:r>
              <a:r>
                <a:rPr lang="en-US" b="1" dirty="0">
                  <a:latin typeface="Arial"/>
                  <a:ea typeface="+mn-lt"/>
                  <a:cs typeface="+mn-lt"/>
                </a:rPr>
                <a:t>orphological operations</a:t>
              </a:r>
              <a:r>
                <a:rPr lang="en-US" dirty="0">
                  <a:latin typeface="Arial"/>
                  <a:ea typeface="+mn-lt"/>
                  <a:cs typeface="+mn-lt"/>
                </a:rPr>
                <a:t> remove noise; </a:t>
              </a:r>
              <a:r>
                <a:rPr lang="en-US" b="1" dirty="0">
                  <a:latin typeface="Arial"/>
                  <a:ea typeface="+mn-lt"/>
                  <a:cs typeface="+mn-lt"/>
                </a:rPr>
                <a:t>blob analysis</a:t>
              </a:r>
              <a:r>
                <a:rPr lang="en-US" dirty="0">
                  <a:latin typeface="Arial"/>
                  <a:ea typeface="+mn-lt"/>
                  <a:cs typeface="+mn-lt"/>
                </a:rPr>
                <a:t> groups connected pixels into objects</a:t>
              </a:r>
              <a:endParaRPr lang="en-US" b="1">
                <a:latin typeface="Arial"/>
                <a:ea typeface="Calibri" panose="020F0502020204030204"/>
                <a:cs typeface="Calibri" panose="020F0502020204030204"/>
              </a:endParaRPr>
            </a:p>
          </p:txBody>
        </p:sp>
        <p:sp>
          <p:nvSpPr>
            <p:cNvPr id="5" name="Flowchart: Connector 4">
              <a:extLst>
                <a:ext uri="{FF2B5EF4-FFF2-40B4-BE49-F238E27FC236}">
                  <a16:creationId xmlns:a16="http://schemas.microsoft.com/office/drawing/2014/main" id="{82F91ACB-A7C1-0C79-E7A1-2AD93FBE37EA}"/>
                </a:ext>
              </a:extLst>
            </p:cNvPr>
            <p:cNvSpPr/>
            <p:nvPr/>
          </p:nvSpPr>
          <p:spPr>
            <a:xfrm>
              <a:off x="1001770" y="2826301"/>
              <a:ext cx="266081" cy="2692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ea typeface="Calibri"/>
                <a:cs typeface="Calibri"/>
              </a:endParaRPr>
            </a:p>
          </p:txBody>
        </p:sp>
      </p:grpSp>
      <p:grpSp>
        <p:nvGrpSpPr>
          <p:cNvPr id="7" name="Group 6">
            <a:extLst>
              <a:ext uri="{FF2B5EF4-FFF2-40B4-BE49-F238E27FC236}">
                <a16:creationId xmlns:a16="http://schemas.microsoft.com/office/drawing/2014/main" id="{A33E4DAA-1BE4-1CC4-B4B5-14E4AC0BCE50}"/>
              </a:ext>
            </a:extLst>
          </p:cNvPr>
          <p:cNvGrpSpPr/>
          <p:nvPr/>
        </p:nvGrpSpPr>
        <p:grpSpPr>
          <a:xfrm>
            <a:off x="413535" y="3875792"/>
            <a:ext cx="10340898" cy="1251586"/>
            <a:chOff x="920288" y="2763671"/>
            <a:chExt cx="10340898" cy="1251586"/>
          </a:xfrm>
        </p:grpSpPr>
        <p:sp>
          <p:nvSpPr>
            <p:cNvPr id="8" name="TextBox 7">
              <a:extLst>
                <a:ext uri="{FF2B5EF4-FFF2-40B4-BE49-F238E27FC236}">
                  <a16:creationId xmlns:a16="http://schemas.microsoft.com/office/drawing/2014/main" id="{060113CC-9F09-B097-84EC-50FB3465B3FE}"/>
                </a:ext>
              </a:extLst>
            </p:cNvPr>
            <p:cNvSpPr txBox="1"/>
            <p:nvPr/>
          </p:nvSpPr>
          <p:spPr>
            <a:xfrm>
              <a:off x="920288" y="2814928"/>
              <a:ext cx="1034089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dirty="0">
                  <a:latin typeface="Arial"/>
                  <a:ea typeface="+mn-lt"/>
                  <a:cs typeface="+mn-lt"/>
                </a:rPr>
                <a:t>Object tracking</a:t>
              </a:r>
            </a:p>
            <a:p>
              <a:pPr marL="742950" lvl="1" indent="-285750">
                <a:buFont typeface="Arial"/>
                <a:buChar char="•"/>
              </a:pPr>
              <a:r>
                <a:rPr lang="en-US" b="1" dirty="0">
                  <a:latin typeface="Arial"/>
                  <a:ea typeface="+mn-lt"/>
                  <a:cs typeface="+mn-lt"/>
                </a:rPr>
                <a:t>Kalman Filter</a:t>
              </a:r>
              <a:r>
                <a:rPr lang="en-US" dirty="0">
                  <a:latin typeface="Arial"/>
                  <a:ea typeface="+mn-lt"/>
                  <a:cs typeface="+mn-lt"/>
                </a:rPr>
                <a:t> predicts motion of each detected object.</a:t>
              </a:r>
              <a:endParaRPr lang="en-US">
                <a:latin typeface="Arial"/>
                <a:cs typeface="Arial"/>
              </a:endParaRPr>
            </a:p>
            <a:p>
              <a:pPr marL="742950" lvl="1" indent="-285750">
                <a:buFont typeface="Arial"/>
                <a:buChar char="•"/>
              </a:pPr>
              <a:r>
                <a:rPr lang="en-US" b="1" dirty="0">
                  <a:latin typeface="Arial"/>
                  <a:ea typeface="+mn-lt"/>
                  <a:cs typeface="+mn-lt"/>
                </a:rPr>
                <a:t>Modified Hungarian / Munkres Assignment Algorithm</a:t>
              </a:r>
              <a:r>
                <a:rPr lang="en-US" dirty="0">
                  <a:latin typeface="Arial"/>
                  <a:ea typeface="+mn-lt"/>
                  <a:cs typeface="+mn-lt"/>
                </a:rPr>
                <a:t> associates detections to tracks, maintaining continuity.</a:t>
              </a:r>
              <a:endParaRPr lang="en-US" b="1">
                <a:latin typeface="Arial"/>
                <a:ea typeface="Calibri" panose="020F0502020204030204"/>
                <a:cs typeface="Calibri" panose="020F0502020204030204"/>
              </a:endParaRPr>
            </a:p>
          </p:txBody>
        </p:sp>
        <p:sp>
          <p:nvSpPr>
            <p:cNvPr id="10" name="Flowchart: Connector 9">
              <a:extLst>
                <a:ext uri="{FF2B5EF4-FFF2-40B4-BE49-F238E27FC236}">
                  <a16:creationId xmlns:a16="http://schemas.microsoft.com/office/drawing/2014/main" id="{8946A7E6-DDEB-1772-829A-BAF9D8995738}"/>
                </a:ext>
              </a:extLst>
            </p:cNvPr>
            <p:cNvSpPr/>
            <p:nvPr/>
          </p:nvSpPr>
          <p:spPr>
            <a:xfrm>
              <a:off x="1012208" y="2763671"/>
              <a:ext cx="266081" cy="2692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ea typeface="Calibri"/>
                <a:cs typeface="Calibri"/>
              </a:endParaRPr>
            </a:p>
          </p:txBody>
        </p:sp>
      </p:grpSp>
      <p:grpSp>
        <p:nvGrpSpPr>
          <p:cNvPr id="11" name="Group 10">
            <a:extLst>
              <a:ext uri="{FF2B5EF4-FFF2-40B4-BE49-F238E27FC236}">
                <a16:creationId xmlns:a16="http://schemas.microsoft.com/office/drawing/2014/main" id="{170403F5-23C8-D367-C720-F86DF5BA4A41}"/>
              </a:ext>
            </a:extLst>
          </p:cNvPr>
          <p:cNvGrpSpPr/>
          <p:nvPr/>
        </p:nvGrpSpPr>
        <p:grpSpPr>
          <a:xfrm>
            <a:off x="413535" y="5013573"/>
            <a:ext cx="10340898" cy="1251586"/>
            <a:chOff x="920288" y="2763671"/>
            <a:chExt cx="10340898" cy="1251586"/>
          </a:xfrm>
        </p:grpSpPr>
        <p:sp>
          <p:nvSpPr>
            <p:cNvPr id="12" name="TextBox 11">
              <a:extLst>
                <a:ext uri="{FF2B5EF4-FFF2-40B4-BE49-F238E27FC236}">
                  <a16:creationId xmlns:a16="http://schemas.microsoft.com/office/drawing/2014/main" id="{1B421FBD-1D8E-84AB-26BF-AECE15A9F9AE}"/>
                </a:ext>
              </a:extLst>
            </p:cNvPr>
            <p:cNvSpPr txBox="1"/>
            <p:nvPr/>
          </p:nvSpPr>
          <p:spPr>
            <a:xfrm>
              <a:off x="920288" y="2814928"/>
              <a:ext cx="1034089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r>
                <a:rPr lang="en-US" dirty="0">
                  <a:latin typeface="Arial"/>
                  <a:ea typeface="+mn-lt"/>
                  <a:cs typeface="+mn-lt"/>
                </a:rPr>
                <a:t>Violation Analysis</a:t>
              </a:r>
              <a:endParaRPr lang="en-US" dirty="0">
                <a:latin typeface="Arial"/>
                <a:cs typeface="Arial"/>
              </a:endParaRPr>
            </a:p>
            <a:p>
              <a:pPr marL="742950" lvl="1" indent="-285750">
                <a:buFont typeface="Arial"/>
                <a:buChar char="•"/>
              </a:pPr>
              <a:r>
                <a:rPr lang="en-US" dirty="0">
                  <a:latin typeface="Arial"/>
                  <a:ea typeface="+mn-lt"/>
                  <a:cs typeface="+mn-lt"/>
                </a:rPr>
                <a:t>Object trajectories, speed, and direction are analyzed.</a:t>
              </a:r>
              <a:endParaRPr lang="en-US" dirty="0">
                <a:latin typeface="Arial"/>
                <a:cs typeface="Arial"/>
              </a:endParaRPr>
            </a:p>
            <a:p>
              <a:pPr lvl="1">
                <a:buFont typeface="Arial"/>
                <a:buChar char="•"/>
              </a:pPr>
              <a:r>
                <a:rPr lang="en-US" dirty="0">
                  <a:latin typeface="Arial"/>
                  <a:ea typeface="+mn-lt"/>
                  <a:cs typeface="+mn-lt"/>
                </a:rPr>
                <a:t>Traffic rule violations are detected and flagged automatically.</a:t>
              </a:r>
              <a:endParaRPr lang="en-US" dirty="0">
                <a:latin typeface="Arial"/>
                <a:cs typeface="Arial"/>
              </a:endParaRPr>
            </a:p>
            <a:p>
              <a:pPr marL="742950" lvl="1" indent="-285750">
                <a:buFont typeface="Arial"/>
                <a:buChar char="•"/>
              </a:pPr>
              <a:endParaRPr lang="en-US" dirty="0">
                <a:latin typeface="Arial"/>
                <a:ea typeface="Calibri" panose="020F0502020204030204"/>
                <a:cs typeface="Calibri" panose="020F0502020204030204"/>
              </a:endParaRPr>
            </a:p>
          </p:txBody>
        </p:sp>
        <p:sp>
          <p:nvSpPr>
            <p:cNvPr id="13" name="Flowchart: Connector 12">
              <a:extLst>
                <a:ext uri="{FF2B5EF4-FFF2-40B4-BE49-F238E27FC236}">
                  <a16:creationId xmlns:a16="http://schemas.microsoft.com/office/drawing/2014/main" id="{483B3E42-FC5A-F416-B23B-7391070E3411}"/>
                </a:ext>
              </a:extLst>
            </p:cNvPr>
            <p:cNvSpPr/>
            <p:nvPr/>
          </p:nvSpPr>
          <p:spPr>
            <a:xfrm>
              <a:off x="1012208" y="2763671"/>
              <a:ext cx="266081" cy="269203"/>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ea typeface="Calibri"/>
                <a:cs typeface="Calibri"/>
              </a:endParaRPr>
            </a:p>
          </p:txBody>
        </p:sp>
      </p:grpSp>
    </p:spTree>
    <p:extLst>
      <p:ext uri="{BB962C8B-B14F-4D97-AF65-F5344CB8AC3E}">
        <p14:creationId xmlns:p14="http://schemas.microsoft.com/office/powerpoint/2010/main" val="1539115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0345D-B9F2-AF7A-FB55-889661BB721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271446A-4D94-C04E-2401-5C75905C2767}"/>
              </a:ext>
            </a:extLst>
          </p:cNvPr>
          <p:cNvSpPr/>
          <p:nvPr/>
        </p:nvSpPr>
        <p:spPr>
          <a:xfrm>
            <a:off x="4762" y="-4762"/>
            <a:ext cx="12180093" cy="917735"/>
          </a:xfrm>
          <a:prstGeom prst="rect">
            <a:avLst/>
          </a:prstGeom>
          <a:solidFill>
            <a:srgbClr val="002F56"/>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4400" b="1">
                <a:latin typeface="Georgia"/>
              </a:rPr>
              <a:t>Premier University</a:t>
            </a:r>
            <a:endParaRPr lang="en-US" sz="4400" b="1">
              <a:latin typeface="Georgia"/>
              <a:ea typeface="Calibri" panose="020F0502020204030204"/>
              <a:cs typeface="Calibri" panose="020F0502020204030204"/>
            </a:endParaRPr>
          </a:p>
        </p:txBody>
      </p:sp>
      <p:sp>
        <p:nvSpPr>
          <p:cNvPr id="9" name="Minus Sign 8">
            <a:extLst>
              <a:ext uri="{FF2B5EF4-FFF2-40B4-BE49-F238E27FC236}">
                <a16:creationId xmlns:a16="http://schemas.microsoft.com/office/drawing/2014/main" id="{0EE051C3-6510-4E8A-BDB3-EAA7AC9A71D0}"/>
              </a:ext>
            </a:extLst>
          </p:cNvPr>
          <p:cNvSpPr/>
          <p:nvPr/>
        </p:nvSpPr>
        <p:spPr>
          <a:xfrm>
            <a:off x="-2185988" y="6286500"/>
            <a:ext cx="16546487" cy="917278"/>
          </a:xfrm>
          <a:prstGeom prst="mathMinus">
            <a:avLst/>
          </a:prstGeom>
          <a:solidFill>
            <a:srgbClr val="002F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5">
            <a:extLst>
              <a:ext uri="{FF2B5EF4-FFF2-40B4-BE49-F238E27FC236}">
                <a16:creationId xmlns:a16="http://schemas.microsoft.com/office/drawing/2014/main" id="{71B2C66B-54E9-0550-73D4-4EFE2FE70EB5}"/>
              </a:ext>
            </a:extLst>
          </p:cNvPr>
          <p:cNvSpPr>
            <a:spLocks noGrp="1"/>
          </p:cNvSpPr>
          <p:nvPr>
            <p:ph type="title"/>
          </p:nvPr>
        </p:nvSpPr>
        <p:spPr>
          <a:xfrm>
            <a:off x="2168140" y="4916402"/>
            <a:ext cx="8559284" cy="635956"/>
          </a:xfrm>
        </p:spPr>
        <p:txBody>
          <a:bodyPr>
            <a:normAutofit fontScale="90000"/>
          </a:bodyPr>
          <a:lstStyle/>
          <a:p>
            <a:pPr marL="685800" lvl="1" indent="-228600" algn="just">
              <a:spcBef>
                <a:spcPts val="500"/>
              </a:spcBef>
            </a:pPr>
            <a:endParaRPr lang="en-US" dirty="0">
              <a:solidFill>
                <a:srgbClr val="00B0F0"/>
              </a:solidFill>
              <a:latin typeface="Georgia"/>
              <a:ea typeface="Calibri"/>
              <a:cs typeface="Calibri"/>
            </a:endParaRPr>
          </a:p>
          <a:p>
            <a:pPr marL="685800" lvl="1" indent="-228600" algn="just">
              <a:spcBef>
                <a:spcPts val="500"/>
              </a:spcBef>
            </a:pPr>
            <a:r>
              <a:rPr lang="en-US" dirty="0">
                <a:solidFill>
                  <a:srgbClr val="005BBB"/>
                </a:solidFill>
                <a:latin typeface="Georgia"/>
                <a:ea typeface="Calibri"/>
                <a:cs typeface="Calibri"/>
              </a:rPr>
              <a:t>Traffic rules are guidelines, real safety comes from knowing the road and its people.</a:t>
            </a:r>
            <a:endParaRPr lang="en-US">
              <a:solidFill>
                <a:srgbClr val="005BBB"/>
              </a:solidFill>
              <a:latin typeface="Georgia"/>
            </a:endParaRPr>
          </a:p>
        </p:txBody>
      </p:sp>
      <p:sp>
        <p:nvSpPr>
          <p:cNvPr id="17" name="Content Placeholder 16">
            <a:extLst>
              <a:ext uri="{FF2B5EF4-FFF2-40B4-BE49-F238E27FC236}">
                <a16:creationId xmlns:a16="http://schemas.microsoft.com/office/drawing/2014/main" id="{618CE10A-DD2C-37BD-C6A3-212B95A28307}"/>
              </a:ext>
            </a:extLst>
          </p:cNvPr>
          <p:cNvSpPr>
            <a:spLocks noGrp="1"/>
          </p:cNvSpPr>
          <p:nvPr>
            <p:ph idx="1"/>
          </p:nvPr>
        </p:nvSpPr>
        <p:spPr>
          <a:xfrm>
            <a:off x="1527132" y="2075537"/>
            <a:ext cx="9340254" cy="1568161"/>
          </a:xfrm>
        </p:spPr>
        <p:txBody>
          <a:bodyPr vert="horz" lIns="91440" tIns="45720" rIns="91440" bIns="45720" rtlCol="0" anchor="t">
            <a:normAutofit/>
          </a:bodyPr>
          <a:lstStyle/>
          <a:p>
            <a:pPr lvl="1" algn="ctr">
              <a:buNone/>
            </a:pPr>
            <a:r>
              <a:rPr lang="en-US" sz="1800" dirty="0">
                <a:latin typeface="Arial"/>
                <a:ea typeface="+mn-lt"/>
                <a:cs typeface="+mn-lt"/>
              </a:rPr>
              <a:t>  The system can track vehicles, pedestrians, and obstacles from a cyclist’s perspective and predict potential conflicts. However, strictly enforcing traffic rules is not always enough safety depends on adapting to dynamic road conditions, mixed traffic, and unpredictable behavior, prioritizing harm reduction over rigid rule-following.</a:t>
            </a:r>
            <a:endParaRPr lang="en-US">
              <a:latin typeface="Arial"/>
              <a:ea typeface="+mn-lt"/>
              <a:cs typeface="+mn-lt"/>
            </a:endParaRPr>
          </a:p>
          <a:p>
            <a:pPr lvl="1" algn="ctr">
              <a:buNone/>
            </a:pPr>
            <a:endParaRPr lang="en-US" sz="1800" dirty="0">
              <a:latin typeface="Arial"/>
              <a:ea typeface="Calibri" panose="020F0502020204030204"/>
              <a:cs typeface="Calibri" panose="020F0502020204030204"/>
            </a:endParaRPr>
          </a:p>
          <a:p>
            <a:pPr lvl="1" algn="ctr">
              <a:buNone/>
            </a:pPr>
            <a:endParaRPr lang="en-US" sz="1800" dirty="0">
              <a:latin typeface="Arial"/>
              <a:ea typeface="Calibri" panose="020F0502020204030204"/>
              <a:cs typeface="Calibri" panose="020F0502020204030204"/>
            </a:endParaRPr>
          </a:p>
          <a:p>
            <a:pPr lvl="1" algn="ctr">
              <a:buNone/>
            </a:pPr>
            <a:endParaRPr lang="en-US" sz="1800" dirty="0">
              <a:latin typeface="Arial"/>
              <a:ea typeface="Calibri" panose="020F0502020204030204"/>
              <a:cs typeface="Calibri" panose="020F0502020204030204"/>
            </a:endParaRPr>
          </a:p>
          <a:p>
            <a:pPr marL="457200" lvl="1" indent="0" algn="ctr">
              <a:buNone/>
            </a:pPr>
            <a:endParaRPr lang="en-US" sz="1800" dirty="0">
              <a:latin typeface="Arial"/>
              <a:ea typeface="Calibri" panose="020F0502020204030204"/>
              <a:cs typeface="Calibri" panose="020F0502020204030204"/>
            </a:endParaRPr>
          </a:p>
        </p:txBody>
      </p:sp>
      <p:sp>
        <p:nvSpPr>
          <p:cNvPr id="15" name="Slide Number Placeholder 14">
            <a:extLst>
              <a:ext uri="{FF2B5EF4-FFF2-40B4-BE49-F238E27FC236}">
                <a16:creationId xmlns:a16="http://schemas.microsoft.com/office/drawing/2014/main" id="{5B486499-3B5D-52AF-BC4D-7836C63603B9}"/>
              </a:ext>
            </a:extLst>
          </p:cNvPr>
          <p:cNvSpPr>
            <a:spLocks noGrp="1"/>
          </p:cNvSpPr>
          <p:nvPr>
            <p:ph type="sldNum" sz="quarter" idx="12"/>
          </p:nvPr>
        </p:nvSpPr>
        <p:spPr/>
        <p:txBody>
          <a:bodyPr/>
          <a:lstStyle/>
          <a:p>
            <a:fld id="{48F63A3B-78C7-47BE-AE5E-E10140E04643}" type="slidenum">
              <a:rPr lang="en-US" sz="1400" dirty="0">
                <a:latin typeface="Georgia"/>
              </a:rPr>
              <a:t>9</a:t>
            </a:fld>
            <a:endParaRPr lang="en-US" sz="1400">
              <a:latin typeface="Georgia"/>
            </a:endParaRPr>
          </a:p>
        </p:txBody>
      </p:sp>
      <p:sp>
        <p:nvSpPr>
          <p:cNvPr id="19" name="Minus Sign 18">
            <a:extLst>
              <a:ext uri="{FF2B5EF4-FFF2-40B4-BE49-F238E27FC236}">
                <a16:creationId xmlns:a16="http://schemas.microsoft.com/office/drawing/2014/main" id="{44796F8C-8433-A99A-8A1B-8B7FEEC315B4}"/>
              </a:ext>
            </a:extLst>
          </p:cNvPr>
          <p:cNvSpPr/>
          <p:nvPr/>
        </p:nvSpPr>
        <p:spPr>
          <a:xfrm>
            <a:off x="3457183" y="5635147"/>
            <a:ext cx="5480026" cy="94624"/>
          </a:xfrm>
          <a:custGeom>
            <a:avLst/>
            <a:gdLst>
              <a:gd name="csX0" fmla="*/ 726377 w 5480026"/>
              <a:gd name="csY0" fmla="*/ 36184 h 94624"/>
              <a:gd name="csX1" fmla="*/ 1437862 w 5480026"/>
              <a:gd name="csY1" fmla="*/ 36184 h 94624"/>
              <a:gd name="csX2" fmla="*/ 1988256 w 5480026"/>
              <a:gd name="csY2" fmla="*/ 36184 h 94624"/>
              <a:gd name="csX3" fmla="*/ 2619195 w 5480026"/>
              <a:gd name="csY3" fmla="*/ 36184 h 94624"/>
              <a:gd name="csX4" fmla="*/ 3330680 w 5480026"/>
              <a:gd name="csY4" fmla="*/ 36184 h 94624"/>
              <a:gd name="csX5" fmla="*/ 3881073 w 5480026"/>
              <a:gd name="csY5" fmla="*/ 36184 h 94624"/>
              <a:gd name="csX6" fmla="*/ 4753649 w 5480026"/>
              <a:gd name="csY6" fmla="*/ 36184 h 94624"/>
              <a:gd name="csX7" fmla="*/ 4753649 w 5480026"/>
              <a:gd name="csY7" fmla="*/ 58440 h 94624"/>
              <a:gd name="csX8" fmla="*/ 4082437 w 5480026"/>
              <a:gd name="csY8" fmla="*/ 58440 h 94624"/>
              <a:gd name="csX9" fmla="*/ 3370952 w 5480026"/>
              <a:gd name="csY9" fmla="*/ 58440 h 94624"/>
              <a:gd name="csX10" fmla="*/ 2820558 w 5480026"/>
              <a:gd name="csY10" fmla="*/ 58440 h 94624"/>
              <a:gd name="csX11" fmla="*/ 2189619 w 5480026"/>
              <a:gd name="csY11" fmla="*/ 58440 h 94624"/>
              <a:gd name="csX12" fmla="*/ 1478134 w 5480026"/>
              <a:gd name="csY12" fmla="*/ 58440 h 94624"/>
              <a:gd name="csX13" fmla="*/ 726377 w 5480026"/>
              <a:gd name="csY13" fmla="*/ 58440 h 94624"/>
              <a:gd name="csX14" fmla="*/ 726377 w 5480026"/>
              <a:gd name="csY14" fmla="*/ 36184 h 946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5480026" h="94624" fill="none" extrusionOk="0">
                <a:moveTo>
                  <a:pt x="726377" y="36184"/>
                </a:moveTo>
                <a:cubicBezTo>
                  <a:pt x="911788" y="19780"/>
                  <a:pt x="1237901" y="12608"/>
                  <a:pt x="1437862" y="36184"/>
                </a:cubicBezTo>
                <a:cubicBezTo>
                  <a:pt x="1637824" y="59760"/>
                  <a:pt x="1733256" y="18292"/>
                  <a:pt x="1988256" y="36184"/>
                </a:cubicBezTo>
                <a:cubicBezTo>
                  <a:pt x="2243256" y="54076"/>
                  <a:pt x="2405741" y="30484"/>
                  <a:pt x="2619195" y="36184"/>
                </a:cubicBezTo>
                <a:cubicBezTo>
                  <a:pt x="2832649" y="41884"/>
                  <a:pt x="3048700" y="28925"/>
                  <a:pt x="3330680" y="36184"/>
                </a:cubicBezTo>
                <a:cubicBezTo>
                  <a:pt x="3612660" y="43443"/>
                  <a:pt x="3719128" y="62328"/>
                  <a:pt x="3881073" y="36184"/>
                </a:cubicBezTo>
                <a:cubicBezTo>
                  <a:pt x="4043018" y="10040"/>
                  <a:pt x="4567695" y="-34"/>
                  <a:pt x="4753649" y="36184"/>
                </a:cubicBezTo>
                <a:cubicBezTo>
                  <a:pt x="4754423" y="41747"/>
                  <a:pt x="4753312" y="52707"/>
                  <a:pt x="4753649" y="58440"/>
                </a:cubicBezTo>
                <a:cubicBezTo>
                  <a:pt x="4579509" y="72312"/>
                  <a:pt x="4354978" y="61719"/>
                  <a:pt x="4082437" y="58440"/>
                </a:cubicBezTo>
                <a:cubicBezTo>
                  <a:pt x="3809896" y="55161"/>
                  <a:pt x="3631760" y="73307"/>
                  <a:pt x="3370952" y="58440"/>
                </a:cubicBezTo>
                <a:cubicBezTo>
                  <a:pt x="3110144" y="43573"/>
                  <a:pt x="2944482" y="50918"/>
                  <a:pt x="2820558" y="58440"/>
                </a:cubicBezTo>
                <a:cubicBezTo>
                  <a:pt x="2696634" y="65962"/>
                  <a:pt x="2328319" y="72580"/>
                  <a:pt x="2189619" y="58440"/>
                </a:cubicBezTo>
                <a:cubicBezTo>
                  <a:pt x="2050919" y="44300"/>
                  <a:pt x="1789139" y="89242"/>
                  <a:pt x="1478134" y="58440"/>
                </a:cubicBezTo>
                <a:cubicBezTo>
                  <a:pt x="1167130" y="27638"/>
                  <a:pt x="1012539" y="24602"/>
                  <a:pt x="726377" y="58440"/>
                </a:cubicBezTo>
                <a:cubicBezTo>
                  <a:pt x="726135" y="51783"/>
                  <a:pt x="726177" y="40942"/>
                  <a:pt x="726377" y="36184"/>
                </a:cubicBezTo>
                <a:close/>
              </a:path>
              <a:path w="5480026" h="94624" stroke="0" extrusionOk="0">
                <a:moveTo>
                  <a:pt x="726377" y="36184"/>
                </a:moveTo>
                <a:cubicBezTo>
                  <a:pt x="1011518" y="72599"/>
                  <a:pt x="1112442" y="36627"/>
                  <a:pt x="1478134" y="36184"/>
                </a:cubicBezTo>
                <a:cubicBezTo>
                  <a:pt x="1843826" y="35741"/>
                  <a:pt x="1927524" y="62916"/>
                  <a:pt x="2109074" y="36184"/>
                </a:cubicBezTo>
                <a:cubicBezTo>
                  <a:pt x="2290624" y="9452"/>
                  <a:pt x="2442027" y="33053"/>
                  <a:pt x="2659468" y="36184"/>
                </a:cubicBezTo>
                <a:cubicBezTo>
                  <a:pt x="2876909" y="39315"/>
                  <a:pt x="3110458" y="2855"/>
                  <a:pt x="3330680" y="36184"/>
                </a:cubicBezTo>
                <a:cubicBezTo>
                  <a:pt x="3550902" y="69513"/>
                  <a:pt x="3862724" y="21092"/>
                  <a:pt x="4001892" y="36184"/>
                </a:cubicBezTo>
                <a:cubicBezTo>
                  <a:pt x="4141060" y="51276"/>
                  <a:pt x="4393809" y="54627"/>
                  <a:pt x="4753649" y="36184"/>
                </a:cubicBezTo>
                <a:cubicBezTo>
                  <a:pt x="4754416" y="42385"/>
                  <a:pt x="4752648" y="50668"/>
                  <a:pt x="4753649" y="58440"/>
                </a:cubicBezTo>
                <a:cubicBezTo>
                  <a:pt x="4557853" y="58442"/>
                  <a:pt x="4272190" y="45819"/>
                  <a:pt x="4082437" y="58440"/>
                </a:cubicBezTo>
                <a:cubicBezTo>
                  <a:pt x="3892684" y="71061"/>
                  <a:pt x="3770225" y="75327"/>
                  <a:pt x="3532043" y="58440"/>
                </a:cubicBezTo>
                <a:cubicBezTo>
                  <a:pt x="3293861" y="41553"/>
                  <a:pt x="3083764" y="42032"/>
                  <a:pt x="2860831" y="58440"/>
                </a:cubicBezTo>
                <a:cubicBezTo>
                  <a:pt x="2637898" y="74848"/>
                  <a:pt x="2444006" y="81015"/>
                  <a:pt x="2149346" y="58440"/>
                </a:cubicBezTo>
                <a:cubicBezTo>
                  <a:pt x="1854687" y="35865"/>
                  <a:pt x="1639028" y="68151"/>
                  <a:pt x="1397589" y="58440"/>
                </a:cubicBezTo>
                <a:cubicBezTo>
                  <a:pt x="1156150" y="48729"/>
                  <a:pt x="896383" y="28851"/>
                  <a:pt x="726377" y="58440"/>
                </a:cubicBezTo>
                <a:cubicBezTo>
                  <a:pt x="725675" y="49926"/>
                  <a:pt x="726826" y="45865"/>
                  <a:pt x="726377" y="36184"/>
                </a:cubicBezTo>
                <a:close/>
              </a:path>
            </a:pathLst>
          </a:custGeom>
          <a:ln>
            <a:extLst>
              <a:ext uri="{C807C97D-BFC1-408E-A445-0C87EB9F89A2}">
                <ask:lineSketchStyleProps xmlns:ask="http://schemas.microsoft.com/office/drawing/2018/sketchyshapes" sd="3989574929">
                  <a:prstGeom prst="mathMinus">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0203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18B6D-A841-1D61-CBDF-4D2A556975E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ECF029C-108E-3999-E159-444FBC9810C5}"/>
              </a:ext>
            </a:extLst>
          </p:cNvPr>
          <p:cNvSpPr/>
          <p:nvPr/>
        </p:nvSpPr>
        <p:spPr>
          <a:xfrm>
            <a:off x="4762" y="-4762"/>
            <a:ext cx="12180093" cy="6870860"/>
          </a:xfrm>
          <a:prstGeom prst="rect">
            <a:avLst/>
          </a:prstGeom>
          <a:solidFill>
            <a:srgbClr val="002F56"/>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lvl="1"/>
            <a:endParaRPr lang="en-US" sz="4400" b="1">
              <a:solidFill>
                <a:srgbClr val="005BBB"/>
              </a:solidFill>
              <a:latin typeface="Georgia"/>
              <a:ea typeface="Calibri" panose="020F0502020204030204"/>
              <a:cs typeface="Calibri" panose="020F0502020204030204"/>
            </a:endParaRPr>
          </a:p>
        </p:txBody>
      </p:sp>
      <p:sp>
        <p:nvSpPr>
          <p:cNvPr id="15" name="Slide Number Placeholder 14">
            <a:extLst>
              <a:ext uri="{FF2B5EF4-FFF2-40B4-BE49-F238E27FC236}">
                <a16:creationId xmlns:a16="http://schemas.microsoft.com/office/drawing/2014/main" id="{84CB3E1C-FBDC-2652-016E-B117CD17A4A1}"/>
              </a:ext>
            </a:extLst>
          </p:cNvPr>
          <p:cNvSpPr>
            <a:spLocks noGrp="1"/>
          </p:cNvSpPr>
          <p:nvPr>
            <p:ph type="sldNum" sz="quarter" idx="12"/>
          </p:nvPr>
        </p:nvSpPr>
        <p:spPr/>
        <p:txBody>
          <a:bodyPr/>
          <a:lstStyle/>
          <a:p>
            <a:fld id="{48F63A3B-78C7-47BE-AE5E-E10140E04643}" type="slidenum">
              <a:rPr lang="en-US" sz="1400" dirty="0">
                <a:latin typeface="Georgia"/>
              </a:rPr>
              <a:t>10</a:t>
            </a:fld>
            <a:endParaRPr lang="en-US" sz="1400">
              <a:latin typeface="Georgia"/>
            </a:endParaRPr>
          </a:p>
        </p:txBody>
      </p:sp>
      <p:sp>
        <p:nvSpPr>
          <p:cNvPr id="4" name="Title 3">
            <a:extLst>
              <a:ext uri="{FF2B5EF4-FFF2-40B4-BE49-F238E27FC236}">
                <a16:creationId xmlns:a16="http://schemas.microsoft.com/office/drawing/2014/main" id="{5613E453-FE2B-4AAB-25BB-9B49680FD539}"/>
              </a:ext>
            </a:extLst>
          </p:cNvPr>
          <p:cNvSpPr>
            <a:spLocks noGrp="1"/>
          </p:cNvSpPr>
          <p:nvPr>
            <p:ph type="title"/>
          </p:nvPr>
        </p:nvSpPr>
        <p:spPr>
          <a:xfrm>
            <a:off x="841612" y="2763672"/>
            <a:ext cx="10515600" cy="1325563"/>
          </a:xfrm>
        </p:spPr>
        <p:txBody>
          <a:bodyPr>
            <a:normAutofit/>
          </a:bodyPr>
          <a:lstStyle/>
          <a:p>
            <a:pPr algn="ctr"/>
            <a:r>
              <a:rPr lang="en-US" sz="6000" b="1">
                <a:solidFill>
                  <a:srgbClr val="FFFFFF"/>
                </a:solidFill>
                <a:latin typeface="Arial"/>
                <a:ea typeface="Calibri Light"/>
                <a:cs typeface="Calibri Light"/>
              </a:rPr>
              <a:t>Thank You</a:t>
            </a:r>
            <a:endParaRPr lang="en-US" sz="6000" b="1">
              <a:solidFill>
                <a:srgbClr val="FFFFFF"/>
              </a:solidFill>
              <a:latin typeface="Arial"/>
              <a:cs typeface="Arial"/>
            </a:endParaRPr>
          </a:p>
        </p:txBody>
      </p:sp>
    </p:spTree>
    <p:extLst>
      <p:ext uri="{BB962C8B-B14F-4D97-AF65-F5344CB8AC3E}">
        <p14:creationId xmlns:p14="http://schemas.microsoft.com/office/powerpoint/2010/main" val="350250259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Literature Review  </vt:lpstr>
      <vt:lpstr>Thematic Analysis</vt:lpstr>
      <vt:lpstr>Human Behavior and Safety factoring</vt:lpstr>
      <vt:lpstr>PowerPoint Presentation</vt:lpstr>
      <vt:lpstr>Perception and Scene Understanding</vt:lpstr>
      <vt:lpstr>From Seeing to Foreseeing</vt:lpstr>
      <vt:lpstr>LiDAR That Learns Without the Bruises</vt:lpstr>
      <vt:lpstr>Traffic Rule Violation flagging  </vt:lpstr>
      <vt:lpstr> Traffic rules are guidelines, real safety comes from knowing the road and its people.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632</cp:revision>
  <dcterms:created xsi:type="dcterms:W3CDTF">2025-11-30T13:39:52Z</dcterms:created>
  <dcterms:modified xsi:type="dcterms:W3CDTF">2025-12-01T15:34:46Z</dcterms:modified>
</cp:coreProperties>
</file>