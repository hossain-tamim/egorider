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0" r:id="rId3"/>
    <p:sldId id="265" r:id="rId4"/>
    <p:sldId id="261" r:id="rId5"/>
    <p:sldId id="263" r:id="rId6"/>
    <p:sldId id="274" r:id="rId7"/>
    <p:sldId id="266" r:id="rId8"/>
    <p:sldId id="267" r:id="rId9"/>
    <p:sldId id="270" r:id="rId10"/>
    <p:sldId id="275" r:id="rId11"/>
    <p:sldId id="271" r:id="rId12"/>
    <p:sldId id="268" r:id="rId13"/>
    <p:sldId id="272" r:id="rId14"/>
    <p:sldId id="276" r:id="rId15"/>
    <p:sldId id="273" r:id="rId16"/>
    <p:sldId id="269" r:id="rId17"/>
  </p:sldIdLst>
  <p:sldSz cx="18288000" cy="10287000"/>
  <p:notesSz cx="6858000" cy="9144000"/>
  <p:embeddedFontLst>
    <p:embeddedFont>
      <p:font typeface="Arial Black" panose="020B0A04020102020204" pitchFamily="34" charset="0"/>
      <p:bold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Telegraf 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6E44"/>
    <a:srgbClr val="2AA7E1"/>
    <a:srgbClr val="120078"/>
    <a:srgbClr val="009EC5"/>
    <a:srgbClr val="A0D9F7"/>
    <a:srgbClr val="4F81BD"/>
    <a:srgbClr val="13A4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780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302995-AFB9-4CBA-9972-40069DE0136B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E2357CE-2544-4546-AF4B-95A5414FEFF0}">
      <dgm:prSet custT="1"/>
      <dgm:spPr>
        <a:solidFill>
          <a:srgbClr val="0070C0"/>
        </a:solidFill>
      </dgm:spPr>
      <dgm:t>
        <a:bodyPr/>
        <a:lstStyle/>
        <a:p>
          <a:r>
            <a:rPr lang="en-US" sz="2000" b="1" i="0" baseline="0" dirty="0"/>
            <a:t>Helmet &amp; Compliance Detection</a:t>
          </a:r>
          <a:endParaRPr lang="en-US" sz="2000" b="1" dirty="0"/>
        </a:p>
      </dgm:t>
    </dgm:pt>
    <dgm:pt modelId="{86B4A8F1-0F70-4002-A74A-964A367FE6C8}" type="parTrans" cxnId="{4C1FAA21-7B16-4A4A-9FC1-6F934C26D441}">
      <dgm:prSet/>
      <dgm:spPr/>
      <dgm:t>
        <a:bodyPr/>
        <a:lstStyle/>
        <a:p>
          <a:endParaRPr lang="en-US"/>
        </a:p>
      </dgm:t>
    </dgm:pt>
    <dgm:pt modelId="{C813530F-9237-4251-B59C-279FFDDF5674}" type="sibTrans" cxnId="{4C1FAA21-7B16-4A4A-9FC1-6F934C26D441}">
      <dgm:prSet/>
      <dgm:spPr/>
      <dgm:t>
        <a:bodyPr/>
        <a:lstStyle/>
        <a:p>
          <a:endParaRPr lang="en-US"/>
        </a:p>
      </dgm:t>
    </dgm:pt>
    <dgm:pt modelId="{91C06201-374A-4E64-9327-FD024BF91807}">
      <dgm:prSet custT="1"/>
      <dgm:spPr>
        <a:solidFill>
          <a:srgbClr val="0070C0"/>
        </a:solidFill>
      </dgm:spPr>
      <dgm:t>
        <a:bodyPr/>
        <a:lstStyle/>
        <a:p>
          <a:r>
            <a:rPr lang="en-US" sz="2000" b="1" i="0" baseline="0" dirty="0"/>
            <a:t>Scene Understanding &amp; Behavior Analysis</a:t>
          </a:r>
          <a:endParaRPr lang="en-US" sz="2000" b="1" dirty="0"/>
        </a:p>
      </dgm:t>
    </dgm:pt>
    <dgm:pt modelId="{D03767E2-55AD-4809-BD64-798ED4E92FC8}" type="parTrans" cxnId="{F2525EF3-6F45-4211-896A-955F0EC076D4}">
      <dgm:prSet/>
      <dgm:spPr/>
      <dgm:t>
        <a:bodyPr/>
        <a:lstStyle/>
        <a:p>
          <a:endParaRPr lang="en-US"/>
        </a:p>
      </dgm:t>
    </dgm:pt>
    <dgm:pt modelId="{8D026800-916A-4B51-8FD7-169F5EF5358C}" type="sibTrans" cxnId="{F2525EF3-6F45-4211-896A-955F0EC076D4}">
      <dgm:prSet/>
      <dgm:spPr/>
      <dgm:t>
        <a:bodyPr/>
        <a:lstStyle/>
        <a:p>
          <a:endParaRPr lang="en-US"/>
        </a:p>
      </dgm:t>
    </dgm:pt>
    <dgm:pt modelId="{555315F0-F8E2-40EB-B041-103082B68AAB}">
      <dgm:prSet custT="1"/>
      <dgm:spPr>
        <a:solidFill>
          <a:srgbClr val="0070C0"/>
        </a:solidFill>
      </dgm:spPr>
      <dgm:t>
        <a:bodyPr/>
        <a:lstStyle/>
        <a:p>
          <a:r>
            <a:rPr lang="en-US" sz="2000" b="1" i="0" baseline="0" dirty="0"/>
            <a:t>Temporal Traffic Modeling</a:t>
          </a:r>
          <a:endParaRPr lang="en-US" sz="2000" b="1" dirty="0"/>
        </a:p>
      </dgm:t>
    </dgm:pt>
    <dgm:pt modelId="{FCA943D7-6BBA-4DD3-8197-4FD93024804D}" type="parTrans" cxnId="{8E3BABE5-F066-4FB6-9A85-8B38E5D01392}">
      <dgm:prSet/>
      <dgm:spPr/>
      <dgm:t>
        <a:bodyPr/>
        <a:lstStyle/>
        <a:p>
          <a:endParaRPr lang="en-US"/>
        </a:p>
      </dgm:t>
    </dgm:pt>
    <dgm:pt modelId="{6FC7DDA2-FBB7-432F-9BBB-2DDE5A740EF0}" type="sibTrans" cxnId="{8E3BABE5-F066-4FB6-9A85-8B38E5D01392}">
      <dgm:prSet/>
      <dgm:spPr/>
      <dgm:t>
        <a:bodyPr/>
        <a:lstStyle/>
        <a:p>
          <a:endParaRPr lang="en-US"/>
        </a:p>
      </dgm:t>
    </dgm:pt>
    <dgm:pt modelId="{A3073A93-C056-4A3B-A2D7-B87F729FA25A}" type="pres">
      <dgm:prSet presAssocID="{48302995-AFB9-4CBA-9972-40069DE0136B}" presName="Name0" presStyleCnt="0">
        <dgm:presLayoutVars>
          <dgm:dir/>
          <dgm:resizeHandles val="exact"/>
        </dgm:presLayoutVars>
      </dgm:prSet>
      <dgm:spPr/>
    </dgm:pt>
    <dgm:pt modelId="{61741076-E827-4D90-89A8-83C813C771FB}" type="pres">
      <dgm:prSet presAssocID="{8E2357CE-2544-4546-AF4B-95A5414FEFF0}" presName="node" presStyleLbl="node1" presStyleIdx="0" presStyleCnt="3">
        <dgm:presLayoutVars>
          <dgm:bulletEnabled val="1"/>
        </dgm:presLayoutVars>
      </dgm:prSet>
      <dgm:spPr/>
    </dgm:pt>
    <dgm:pt modelId="{C8F58153-AB3D-4274-B9EA-154D6158FB96}" type="pres">
      <dgm:prSet presAssocID="{C813530F-9237-4251-B59C-279FFDDF5674}" presName="sibTrans" presStyleLbl="sibTrans2D1" presStyleIdx="0" presStyleCnt="2"/>
      <dgm:spPr/>
    </dgm:pt>
    <dgm:pt modelId="{CC3F5679-7A6F-417D-B42F-1B40DE41F994}" type="pres">
      <dgm:prSet presAssocID="{C813530F-9237-4251-B59C-279FFDDF5674}" presName="connectorText" presStyleLbl="sibTrans2D1" presStyleIdx="0" presStyleCnt="2"/>
      <dgm:spPr/>
    </dgm:pt>
    <dgm:pt modelId="{52FCA1D4-A8CB-40C5-9C39-006E69FFA924}" type="pres">
      <dgm:prSet presAssocID="{91C06201-374A-4E64-9327-FD024BF91807}" presName="node" presStyleLbl="node1" presStyleIdx="1" presStyleCnt="3">
        <dgm:presLayoutVars>
          <dgm:bulletEnabled val="1"/>
        </dgm:presLayoutVars>
      </dgm:prSet>
      <dgm:spPr/>
    </dgm:pt>
    <dgm:pt modelId="{B728FB20-5158-4039-8EBA-EAD51805C0D2}" type="pres">
      <dgm:prSet presAssocID="{8D026800-916A-4B51-8FD7-169F5EF5358C}" presName="sibTrans" presStyleLbl="sibTrans2D1" presStyleIdx="1" presStyleCnt="2"/>
      <dgm:spPr/>
    </dgm:pt>
    <dgm:pt modelId="{FFAB7904-B928-4755-AE6C-F593E7035C70}" type="pres">
      <dgm:prSet presAssocID="{8D026800-916A-4B51-8FD7-169F5EF5358C}" presName="connectorText" presStyleLbl="sibTrans2D1" presStyleIdx="1" presStyleCnt="2"/>
      <dgm:spPr/>
    </dgm:pt>
    <dgm:pt modelId="{90CA437B-C385-4233-9584-E158DC45D018}" type="pres">
      <dgm:prSet presAssocID="{555315F0-F8E2-40EB-B041-103082B68AAB}" presName="node" presStyleLbl="node1" presStyleIdx="2" presStyleCnt="3">
        <dgm:presLayoutVars>
          <dgm:bulletEnabled val="1"/>
        </dgm:presLayoutVars>
      </dgm:prSet>
      <dgm:spPr/>
    </dgm:pt>
  </dgm:ptLst>
  <dgm:cxnLst>
    <dgm:cxn modelId="{D6D2311B-6FAF-4F93-BF47-6B13B4747AD7}" type="presOf" srcId="{C813530F-9237-4251-B59C-279FFDDF5674}" destId="{C8F58153-AB3D-4274-B9EA-154D6158FB96}" srcOrd="0" destOrd="0" presId="urn:microsoft.com/office/officeart/2005/8/layout/process1"/>
    <dgm:cxn modelId="{4C1FAA21-7B16-4A4A-9FC1-6F934C26D441}" srcId="{48302995-AFB9-4CBA-9972-40069DE0136B}" destId="{8E2357CE-2544-4546-AF4B-95A5414FEFF0}" srcOrd="0" destOrd="0" parTransId="{86B4A8F1-0F70-4002-A74A-964A367FE6C8}" sibTransId="{C813530F-9237-4251-B59C-279FFDDF5674}"/>
    <dgm:cxn modelId="{05C3EB27-7102-4C30-A7DD-6AA59EEBC7AD}" type="presOf" srcId="{8D026800-916A-4B51-8FD7-169F5EF5358C}" destId="{B728FB20-5158-4039-8EBA-EAD51805C0D2}" srcOrd="0" destOrd="0" presId="urn:microsoft.com/office/officeart/2005/8/layout/process1"/>
    <dgm:cxn modelId="{8EF8753E-EC68-42E8-8C72-2E498B865D9C}" type="presOf" srcId="{91C06201-374A-4E64-9327-FD024BF91807}" destId="{52FCA1D4-A8CB-40C5-9C39-006E69FFA924}" srcOrd="0" destOrd="0" presId="urn:microsoft.com/office/officeart/2005/8/layout/process1"/>
    <dgm:cxn modelId="{D6F5B048-1F7A-42C6-B1A8-1742C685B89A}" type="presOf" srcId="{C813530F-9237-4251-B59C-279FFDDF5674}" destId="{CC3F5679-7A6F-417D-B42F-1B40DE41F994}" srcOrd="1" destOrd="0" presId="urn:microsoft.com/office/officeart/2005/8/layout/process1"/>
    <dgm:cxn modelId="{42A88553-E7C2-4611-98FA-7E81CD0B1538}" type="presOf" srcId="{8D026800-916A-4B51-8FD7-169F5EF5358C}" destId="{FFAB7904-B928-4755-AE6C-F593E7035C70}" srcOrd="1" destOrd="0" presId="urn:microsoft.com/office/officeart/2005/8/layout/process1"/>
    <dgm:cxn modelId="{07930FA9-B78C-4DF6-931A-F97E92197F08}" type="presOf" srcId="{48302995-AFB9-4CBA-9972-40069DE0136B}" destId="{A3073A93-C056-4A3B-A2D7-B87F729FA25A}" srcOrd="0" destOrd="0" presId="urn:microsoft.com/office/officeart/2005/8/layout/process1"/>
    <dgm:cxn modelId="{481825BE-2899-4608-AA80-785450ADE1EF}" type="presOf" srcId="{8E2357CE-2544-4546-AF4B-95A5414FEFF0}" destId="{61741076-E827-4D90-89A8-83C813C771FB}" srcOrd="0" destOrd="0" presId="urn:microsoft.com/office/officeart/2005/8/layout/process1"/>
    <dgm:cxn modelId="{5DFC35BE-96D7-4511-BBAB-FCEB3649F267}" type="presOf" srcId="{555315F0-F8E2-40EB-B041-103082B68AAB}" destId="{90CA437B-C385-4233-9584-E158DC45D018}" srcOrd="0" destOrd="0" presId="urn:microsoft.com/office/officeart/2005/8/layout/process1"/>
    <dgm:cxn modelId="{8E3BABE5-F066-4FB6-9A85-8B38E5D01392}" srcId="{48302995-AFB9-4CBA-9972-40069DE0136B}" destId="{555315F0-F8E2-40EB-B041-103082B68AAB}" srcOrd="2" destOrd="0" parTransId="{FCA943D7-6BBA-4DD3-8197-4FD93024804D}" sibTransId="{6FC7DDA2-FBB7-432F-9BBB-2DDE5A740EF0}"/>
    <dgm:cxn modelId="{F2525EF3-6F45-4211-896A-955F0EC076D4}" srcId="{48302995-AFB9-4CBA-9972-40069DE0136B}" destId="{91C06201-374A-4E64-9327-FD024BF91807}" srcOrd="1" destOrd="0" parTransId="{D03767E2-55AD-4809-BD64-798ED4E92FC8}" sibTransId="{8D026800-916A-4B51-8FD7-169F5EF5358C}"/>
    <dgm:cxn modelId="{1AD9E6E6-4DDD-4E09-966A-FA01EB468595}" type="presParOf" srcId="{A3073A93-C056-4A3B-A2D7-B87F729FA25A}" destId="{61741076-E827-4D90-89A8-83C813C771FB}" srcOrd="0" destOrd="0" presId="urn:microsoft.com/office/officeart/2005/8/layout/process1"/>
    <dgm:cxn modelId="{8D091336-2C36-4717-B120-B6C5821CAD19}" type="presParOf" srcId="{A3073A93-C056-4A3B-A2D7-B87F729FA25A}" destId="{C8F58153-AB3D-4274-B9EA-154D6158FB96}" srcOrd="1" destOrd="0" presId="urn:microsoft.com/office/officeart/2005/8/layout/process1"/>
    <dgm:cxn modelId="{DBD93AED-7431-46AF-AF19-ED5D2D5C9EA7}" type="presParOf" srcId="{C8F58153-AB3D-4274-B9EA-154D6158FB96}" destId="{CC3F5679-7A6F-417D-B42F-1B40DE41F994}" srcOrd="0" destOrd="0" presId="urn:microsoft.com/office/officeart/2005/8/layout/process1"/>
    <dgm:cxn modelId="{BB0D3B4A-223B-44E8-A00A-75F446214DC6}" type="presParOf" srcId="{A3073A93-C056-4A3B-A2D7-B87F729FA25A}" destId="{52FCA1D4-A8CB-40C5-9C39-006E69FFA924}" srcOrd="2" destOrd="0" presId="urn:microsoft.com/office/officeart/2005/8/layout/process1"/>
    <dgm:cxn modelId="{18AD6763-90FC-4672-B4AD-75A296D2DAFB}" type="presParOf" srcId="{A3073A93-C056-4A3B-A2D7-B87F729FA25A}" destId="{B728FB20-5158-4039-8EBA-EAD51805C0D2}" srcOrd="3" destOrd="0" presId="urn:microsoft.com/office/officeart/2005/8/layout/process1"/>
    <dgm:cxn modelId="{CBBE2F15-F93D-4817-955F-01428977AF01}" type="presParOf" srcId="{B728FB20-5158-4039-8EBA-EAD51805C0D2}" destId="{FFAB7904-B928-4755-AE6C-F593E7035C70}" srcOrd="0" destOrd="0" presId="urn:microsoft.com/office/officeart/2005/8/layout/process1"/>
    <dgm:cxn modelId="{3B9B185D-5371-4479-90B0-2EAB46CFA718}" type="presParOf" srcId="{A3073A93-C056-4A3B-A2D7-B87F729FA25A}" destId="{90CA437B-C385-4233-9584-E158DC45D018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DF11A01-5676-4556-8C74-9F488DEABA8E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A68EC56-09F2-4185-98C1-6CC969685169}">
      <dgm:prSet custT="1"/>
      <dgm:spPr>
        <a:solidFill>
          <a:srgbClr val="0070C0"/>
        </a:solidFill>
      </dgm:spPr>
      <dgm:t>
        <a:bodyPr/>
        <a:lstStyle/>
        <a:p>
          <a:r>
            <a:rPr lang="en-US" sz="2000" b="1" dirty="0"/>
            <a:t>✔ Object detection (vehicles, pedestrians, obstacles)</a:t>
          </a:r>
          <a:endParaRPr lang="en-US" sz="2000" dirty="0"/>
        </a:p>
      </dgm:t>
    </dgm:pt>
    <dgm:pt modelId="{18277DBE-1649-4DBF-83C1-72D7ADC3F077}" type="parTrans" cxnId="{6D019F97-723C-4654-A561-3A48744DE751}">
      <dgm:prSet/>
      <dgm:spPr/>
      <dgm:t>
        <a:bodyPr/>
        <a:lstStyle/>
        <a:p>
          <a:endParaRPr lang="en-US"/>
        </a:p>
      </dgm:t>
    </dgm:pt>
    <dgm:pt modelId="{62549B3A-45D7-47D3-AB01-C60E52E7ADCC}" type="sibTrans" cxnId="{6D019F97-723C-4654-A561-3A48744DE751}">
      <dgm:prSet/>
      <dgm:spPr/>
      <dgm:t>
        <a:bodyPr/>
        <a:lstStyle/>
        <a:p>
          <a:endParaRPr lang="en-US"/>
        </a:p>
      </dgm:t>
    </dgm:pt>
    <dgm:pt modelId="{B9E36D61-0164-4FC7-8F52-F0A51E7CCFAF}">
      <dgm:prSet/>
      <dgm:spPr>
        <a:solidFill>
          <a:srgbClr val="0070C0"/>
        </a:solidFill>
      </dgm:spPr>
      <dgm:t>
        <a:bodyPr/>
        <a:lstStyle/>
        <a:p>
          <a:r>
            <a:rPr lang="en-US" b="1" dirty="0"/>
            <a:t>✔ Helmet detection &amp; compliance</a:t>
          </a:r>
          <a:endParaRPr lang="en-US" dirty="0"/>
        </a:p>
      </dgm:t>
    </dgm:pt>
    <dgm:pt modelId="{2823F9D0-7D88-4B52-943A-8E415A4D3418}" type="parTrans" cxnId="{92CD4A17-3AFE-4B4C-BE3B-08421DD5F5E6}">
      <dgm:prSet/>
      <dgm:spPr/>
      <dgm:t>
        <a:bodyPr/>
        <a:lstStyle/>
        <a:p>
          <a:endParaRPr lang="en-US"/>
        </a:p>
      </dgm:t>
    </dgm:pt>
    <dgm:pt modelId="{13714FAA-5D64-4D04-8615-2282077C4F1F}" type="sibTrans" cxnId="{92CD4A17-3AFE-4B4C-BE3B-08421DD5F5E6}">
      <dgm:prSet/>
      <dgm:spPr/>
      <dgm:t>
        <a:bodyPr/>
        <a:lstStyle/>
        <a:p>
          <a:endParaRPr lang="en-US"/>
        </a:p>
      </dgm:t>
    </dgm:pt>
    <dgm:pt modelId="{9D8CBA8D-9FF1-46BE-955E-C619E8712349}">
      <dgm:prSet/>
      <dgm:spPr>
        <a:solidFill>
          <a:srgbClr val="0070C0"/>
        </a:solidFill>
      </dgm:spPr>
      <dgm:t>
        <a:bodyPr/>
        <a:lstStyle/>
        <a:p>
          <a:r>
            <a:rPr lang="en-US" b="1"/>
            <a:t>✔ Behavior detection (crossing, overtaking, lane change, sudden movements)</a:t>
          </a:r>
          <a:endParaRPr lang="en-US"/>
        </a:p>
      </dgm:t>
    </dgm:pt>
    <dgm:pt modelId="{1A33BE52-774D-4FD3-A4E8-65D18CDECE15}" type="parTrans" cxnId="{0294BF06-3A96-49EF-B8D2-CF4A849A2113}">
      <dgm:prSet/>
      <dgm:spPr/>
      <dgm:t>
        <a:bodyPr/>
        <a:lstStyle/>
        <a:p>
          <a:endParaRPr lang="en-US"/>
        </a:p>
      </dgm:t>
    </dgm:pt>
    <dgm:pt modelId="{B20E772F-268F-4E38-87DD-2733508019F7}" type="sibTrans" cxnId="{0294BF06-3A96-49EF-B8D2-CF4A849A2113}">
      <dgm:prSet/>
      <dgm:spPr/>
      <dgm:t>
        <a:bodyPr/>
        <a:lstStyle/>
        <a:p>
          <a:endParaRPr lang="en-US"/>
        </a:p>
      </dgm:t>
    </dgm:pt>
    <dgm:pt modelId="{0295CF10-B2AC-41F3-BC65-90A38F462D13}">
      <dgm:prSet/>
      <dgm:spPr>
        <a:solidFill>
          <a:srgbClr val="0070C0"/>
        </a:solidFill>
      </dgm:spPr>
      <dgm:t>
        <a:bodyPr/>
        <a:lstStyle/>
        <a:p>
          <a:r>
            <a:rPr lang="en-US" b="1"/>
            <a:t>✔ Scene classification (road type, environment)</a:t>
          </a:r>
          <a:endParaRPr lang="en-US"/>
        </a:p>
      </dgm:t>
    </dgm:pt>
    <dgm:pt modelId="{4B1F5E1F-03A1-44DC-9426-412080DF683D}" type="parTrans" cxnId="{22169AA8-E3F5-4FA4-A29E-DAE4F5AC543F}">
      <dgm:prSet/>
      <dgm:spPr/>
      <dgm:t>
        <a:bodyPr/>
        <a:lstStyle/>
        <a:p>
          <a:endParaRPr lang="en-US"/>
        </a:p>
      </dgm:t>
    </dgm:pt>
    <dgm:pt modelId="{4C04ED80-CE13-4822-B856-24E0687EE62F}" type="sibTrans" cxnId="{22169AA8-E3F5-4FA4-A29E-DAE4F5AC543F}">
      <dgm:prSet/>
      <dgm:spPr/>
      <dgm:t>
        <a:bodyPr/>
        <a:lstStyle/>
        <a:p>
          <a:endParaRPr lang="en-US"/>
        </a:p>
      </dgm:t>
    </dgm:pt>
    <dgm:pt modelId="{5DEC7987-8747-46E3-B2D4-393EA9BF5419}">
      <dgm:prSet custT="1"/>
      <dgm:spPr>
        <a:solidFill>
          <a:srgbClr val="0070C0"/>
        </a:solidFill>
      </dgm:spPr>
      <dgm:t>
        <a:bodyPr/>
        <a:lstStyle/>
        <a:p>
          <a:r>
            <a:rPr lang="en-US" sz="2000" b="1" dirty="0"/>
            <a:t>✔ Video-sequence based analysis </a:t>
          </a:r>
        </a:p>
      </dgm:t>
    </dgm:pt>
    <dgm:pt modelId="{90F4824F-A784-40B5-A124-96053B662C09}" type="parTrans" cxnId="{E3424634-C858-4AE5-BAED-A2965AE24D85}">
      <dgm:prSet/>
      <dgm:spPr/>
      <dgm:t>
        <a:bodyPr/>
        <a:lstStyle/>
        <a:p>
          <a:endParaRPr lang="en-US"/>
        </a:p>
      </dgm:t>
    </dgm:pt>
    <dgm:pt modelId="{BD3AD493-6E5B-4D58-BF57-44BCFEA3472F}" type="sibTrans" cxnId="{E3424634-C858-4AE5-BAED-A2965AE24D85}">
      <dgm:prSet/>
      <dgm:spPr/>
      <dgm:t>
        <a:bodyPr/>
        <a:lstStyle/>
        <a:p>
          <a:endParaRPr lang="en-US"/>
        </a:p>
      </dgm:t>
    </dgm:pt>
    <dgm:pt modelId="{F13371CF-0304-4945-9BA1-7061C4EBE38B}" type="pres">
      <dgm:prSet presAssocID="{9DF11A01-5676-4556-8C74-9F488DEABA8E}" presName="cycle" presStyleCnt="0">
        <dgm:presLayoutVars>
          <dgm:dir/>
          <dgm:resizeHandles val="exact"/>
        </dgm:presLayoutVars>
      </dgm:prSet>
      <dgm:spPr/>
    </dgm:pt>
    <dgm:pt modelId="{F30C7A66-776D-429D-8D5C-598EB04200D0}" type="pres">
      <dgm:prSet presAssocID="{0A68EC56-09F2-4185-98C1-6CC969685169}" presName="node" presStyleLbl="node1" presStyleIdx="0" presStyleCnt="5">
        <dgm:presLayoutVars>
          <dgm:bulletEnabled val="1"/>
        </dgm:presLayoutVars>
      </dgm:prSet>
      <dgm:spPr/>
    </dgm:pt>
    <dgm:pt modelId="{DAB65C5C-C634-4A81-8B51-E41B2F29B9BA}" type="pres">
      <dgm:prSet presAssocID="{62549B3A-45D7-47D3-AB01-C60E52E7ADCC}" presName="sibTrans" presStyleLbl="sibTrans2D1" presStyleIdx="0" presStyleCnt="5"/>
      <dgm:spPr/>
    </dgm:pt>
    <dgm:pt modelId="{65684080-3756-4642-83D9-D81D2C042AA1}" type="pres">
      <dgm:prSet presAssocID="{62549B3A-45D7-47D3-AB01-C60E52E7ADCC}" presName="connectorText" presStyleLbl="sibTrans2D1" presStyleIdx="0" presStyleCnt="5"/>
      <dgm:spPr/>
    </dgm:pt>
    <dgm:pt modelId="{4A516795-1656-4652-98DE-524EEA23BDC6}" type="pres">
      <dgm:prSet presAssocID="{B9E36D61-0164-4FC7-8F52-F0A51E7CCFAF}" presName="node" presStyleLbl="node1" presStyleIdx="1" presStyleCnt="5">
        <dgm:presLayoutVars>
          <dgm:bulletEnabled val="1"/>
        </dgm:presLayoutVars>
      </dgm:prSet>
      <dgm:spPr/>
    </dgm:pt>
    <dgm:pt modelId="{D7B8016C-B74F-4809-8917-D893C65E6D07}" type="pres">
      <dgm:prSet presAssocID="{13714FAA-5D64-4D04-8615-2282077C4F1F}" presName="sibTrans" presStyleLbl="sibTrans2D1" presStyleIdx="1" presStyleCnt="5"/>
      <dgm:spPr/>
    </dgm:pt>
    <dgm:pt modelId="{FA88EA25-4FC4-419A-93F3-1232DD3CE039}" type="pres">
      <dgm:prSet presAssocID="{13714FAA-5D64-4D04-8615-2282077C4F1F}" presName="connectorText" presStyleLbl="sibTrans2D1" presStyleIdx="1" presStyleCnt="5"/>
      <dgm:spPr/>
    </dgm:pt>
    <dgm:pt modelId="{B0E6617A-1148-4D33-AF1D-E9D91293B6D6}" type="pres">
      <dgm:prSet presAssocID="{9D8CBA8D-9FF1-46BE-955E-C619E8712349}" presName="node" presStyleLbl="node1" presStyleIdx="2" presStyleCnt="5">
        <dgm:presLayoutVars>
          <dgm:bulletEnabled val="1"/>
        </dgm:presLayoutVars>
      </dgm:prSet>
      <dgm:spPr/>
    </dgm:pt>
    <dgm:pt modelId="{D91439ED-5E74-4109-A12A-BA4242E93B52}" type="pres">
      <dgm:prSet presAssocID="{B20E772F-268F-4E38-87DD-2733508019F7}" presName="sibTrans" presStyleLbl="sibTrans2D1" presStyleIdx="2" presStyleCnt="5"/>
      <dgm:spPr/>
    </dgm:pt>
    <dgm:pt modelId="{F89C0AC2-683B-4FF5-96EC-975821F01632}" type="pres">
      <dgm:prSet presAssocID="{B20E772F-268F-4E38-87DD-2733508019F7}" presName="connectorText" presStyleLbl="sibTrans2D1" presStyleIdx="2" presStyleCnt="5"/>
      <dgm:spPr/>
    </dgm:pt>
    <dgm:pt modelId="{C507E7A5-BC54-4160-96D6-AF0328539010}" type="pres">
      <dgm:prSet presAssocID="{0295CF10-B2AC-41F3-BC65-90A38F462D13}" presName="node" presStyleLbl="node1" presStyleIdx="3" presStyleCnt="5">
        <dgm:presLayoutVars>
          <dgm:bulletEnabled val="1"/>
        </dgm:presLayoutVars>
      </dgm:prSet>
      <dgm:spPr/>
    </dgm:pt>
    <dgm:pt modelId="{373C2191-9BAA-42C0-8992-E07975E9FB40}" type="pres">
      <dgm:prSet presAssocID="{4C04ED80-CE13-4822-B856-24E0687EE62F}" presName="sibTrans" presStyleLbl="sibTrans2D1" presStyleIdx="3" presStyleCnt="5"/>
      <dgm:spPr/>
    </dgm:pt>
    <dgm:pt modelId="{65040442-C9DA-4266-863F-A23AD72764B4}" type="pres">
      <dgm:prSet presAssocID="{4C04ED80-CE13-4822-B856-24E0687EE62F}" presName="connectorText" presStyleLbl="sibTrans2D1" presStyleIdx="3" presStyleCnt="5"/>
      <dgm:spPr/>
    </dgm:pt>
    <dgm:pt modelId="{BA34D0DD-DEF4-493D-81E6-A01274A86AB0}" type="pres">
      <dgm:prSet presAssocID="{5DEC7987-8747-46E3-B2D4-393EA9BF5419}" presName="node" presStyleLbl="node1" presStyleIdx="4" presStyleCnt="5">
        <dgm:presLayoutVars>
          <dgm:bulletEnabled val="1"/>
        </dgm:presLayoutVars>
      </dgm:prSet>
      <dgm:spPr/>
    </dgm:pt>
    <dgm:pt modelId="{20404BFD-E4F4-4DDB-AAB5-67C04449E876}" type="pres">
      <dgm:prSet presAssocID="{BD3AD493-6E5B-4D58-BF57-44BCFEA3472F}" presName="sibTrans" presStyleLbl="sibTrans2D1" presStyleIdx="4" presStyleCnt="5"/>
      <dgm:spPr/>
    </dgm:pt>
    <dgm:pt modelId="{2BD5C4B4-E595-470E-A60A-2EEBB6F4E4BA}" type="pres">
      <dgm:prSet presAssocID="{BD3AD493-6E5B-4D58-BF57-44BCFEA3472F}" presName="connectorText" presStyleLbl="sibTrans2D1" presStyleIdx="4" presStyleCnt="5"/>
      <dgm:spPr/>
    </dgm:pt>
  </dgm:ptLst>
  <dgm:cxnLst>
    <dgm:cxn modelId="{0294BF06-3A96-49EF-B8D2-CF4A849A2113}" srcId="{9DF11A01-5676-4556-8C74-9F488DEABA8E}" destId="{9D8CBA8D-9FF1-46BE-955E-C619E8712349}" srcOrd="2" destOrd="0" parTransId="{1A33BE52-774D-4FD3-A4E8-65D18CDECE15}" sibTransId="{B20E772F-268F-4E38-87DD-2733508019F7}"/>
    <dgm:cxn modelId="{2596C607-11AA-4002-8E8B-C822B788D465}" type="presOf" srcId="{5DEC7987-8747-46E3-B2D4-393EA9BF5419}" destId="{BA34D0DD-DEF4-493D-81E6-A01274A86AB0}" srcOrd="0" destOrd="0" presId="urn:microsoft.com/office/officeart/2005/8/layout/cycle2"/>
    <dgm:cxn modelId="{67753616-4733-4FD1-83FF-8B661F85022A}" type="presOf" srcId="{13714FAA-5D64-4D04-8615-2282077C4F1F}" destId="{D7B8016C-B74F-4809-8917-D893C65E6D07}" srcOrd="0" destOrd="0" presId="urn:microsoft.com/office/officeart/2005/8/layout/cycle2"/>
    <dgm:cxn modelId="{92CD4A17-3AFE-4B4C-BE3B-08421DD5F5E6}" srcId="{9DF11A01-5676-4556-8C74-9F488DEABA8E}" destId="{B9E36D61-0164-4FC7-8F52-F0A51E7CCFAF}" srcOrd="1" destOrd="0" parTransId="{2823F9D0-7D88-4B52-943A-8E415A4D3418}" sibTransId="{13714FAA-5D64-4D04-8615-2282077C4F1F}"/>
    <dgm:cxn modelId="{E3424634-C858-4AE5-BAED-A2965AE24D85}" srcId="{9DF11A01-5676-4556-8C74-9F488DEABA8E}" destId="{5DEC7987-8747-46E3-B2D4-393EA9BF5419}" srcOrd="4" destOrd="0" parTransId="{90F4824F-A784-40B5-A124-96053B662C09}" sibTransId="{BD3AD493-6E5B-4D58-BF57-44BCFEA3472F}"/>
    <dgm:cxn modelId="{8C83B668-0099-4E9C-8880-73EF21723161}" type="presOf" srcId="{0A68EC56-09F2-4185-98C1-6CC969685169}" destId="{F30C7A66-776D-429D-8D5C-598EB04200D0}" srcOrd="0" destOrd="0" presId="urn:microsoft.com/office/officeart/2005/8/layout/cycle2"/>
    <dgm:cxn modelId="{6AC6BB4F-D69E-4B4E-91C5-8D98BD74CF86}" type="presOf" srcId="{0295CF10-B2AC-41F3-BC65-90A38F462D13}" destId="{C507E7A5-BC54-4160-96D6-AF0328539010}" srcOrd="0" destOrd="0" presId="urn:microsoft.com/office/officeart/2005/8/layout/cycle2"/>
    <dgm:cxn modelId="{E33D5870-793E-423F-A5DD-EDE6F2FF2AD9}" type="presOf" srcId="{B9E36D61-0164-4FC7-8F52-F0A51E7CCFAF}" destId="{4A516795-1656-4652-98DE-524EEA23BDC6}" srcOrd="0" destOrd="0" presId="urn:microsoft.com/office/officeart/2005/8/layout/cycle2"/>
    <dgm:cxn modelId="{85FC2052-6DD5-442A-B224-0921948FA09C}" type="presOf" srcId="{B20E772F-268F-4E38-87DD-2733508019F7}" destId="{F89C0AC2-683B-4FF5-96EC-975821F01632}" srcOrd="1" destOrd="0" presId="urn:microsoft.com/office/officeart/2005/8/layout/cycle2"/>
    <dgm:cxn modelId="{98BB2D52-6360-45C0-BAA3-E1D9E0AF4631}" type="presOf" srcId="{62549B3A-45D7-47D3-AB01-C60E52E7ADCC}" destId="{DAB65C5C-C634-4A81-8B51-E41B2F29B9BA}" srcOrd="0" destOrd="0" presId="urn:microsoft.com/office/officeart/2005/8/layout/cycle2"/>
    <dgm:cxn modelId="{6D375572-E21C-4FA4-B917-D5914C73947A}" type="presOf" srcId="{BD3AD493-6E5B-4D58-BF57-44BCFEA3472F}" destId="{20404BFD-E4F4-4DDB-AAB5-67C04449E876}" srcOrd="0" destOrd="0" presId="urn:microsoft.com/office/officeart/2005/8/layout/cycle2"/>
    <dgm:cxn modelId="{FADDEE7B-1118-484A-99DD-E54DD49366CC}" type="presOf" srcId="{9D8CBA8D-9FF1-46BE-955E-C619E8712349}" destId="{B0E6617A-1148-4D33-AF1D-E9D91293B6D6}" srcOrd="0" destOrd="0" presId="urn:microsoft.com/office/officeart/2005/8/layout/cycle2"/>
    <dgm:cxn modelId="{6D019F97-723C-4654-A561-3A48744DE751}" srcId="{9DF11A01-5676-4556-8C74-9F488DEABA8E}" destId="{0A68EC56-09F2-4185-98C1-6CC969685169}" srcOrd="0" destOrd="0" parTransId="{18277DBE-1649-4DBF-83C1-72D7ADC3F077}" sibTransId="{62549B3A-45D7-47D3-AB01-C60E52E7ADCC}"/>
    <dgm:cxn modelId="{CEC9739A-4259-4AA1-B448-0294983FD87D}" type="presOf" srcId="{4C04ED80-CE13-4822-B856-24E0687EE62F}" destId="{373C2191-9BAA-42C0-8992-E07975E9FB40}" srcOrd="0" destOrd="0" presId="urn:microsoft.com/office/officeart/2005/8/layout/cycle2"/>
    <dgm:cxn modelId="{22169AA8-E3F5-4FA4-A29E-DAE4F5AC543F}" srcId="{9DF11A01-5676-4556-8C74-9F488DEABA8E}" destId="{0295CF10-B2AC-41F3-BC65-90A38F462D13}" srcOrd="3" destOrd="0" parTransId="{4B1F5E1F-03A1-44DC-9426-412080DF683D}" sibTransId="{4C04ED80-CE13-4822-B856-24E0687EE62F}"/>
    <dgm:cxn modelId="{BE73EEC2-DF29-4AE0-9DBD-6D3B0CC27F97}" type="presOf" srcId="{62549B3A-45D7-47D3-AB01-C60E52E7ADCC}" destId="{65684080-3756-4642-83D9-D81D2C042AA1}" srcOrd="1" destOrd="0" presId="urn:microsoft.com/office/officeart/2005/8/layout/cycle2"/>
    <dgm:cxn modelId="{E3AB2CCC-7406-444C-AE24-F1E4B6E69027}" type="presOf" srcId="{B20E772F-268F-4E38-87DD-2733508019F7}" destId="{D91439ED-5E74-4109-A12A-BA4242E93B52}" srcOrd="0" destOrd="0" presId="urn:microsoft.com/office/officeart/2005/8/layout/cycle2"/>
    <dgm:cxn modelId="{870B46D1-5A9F-4E98-B1D8-092DC8F2D8A2}" type="presOf" srcId="{9DF11A01-5676-4556-8C74-9F488DEABA8E}" destId="{F13371CF-0304-4945-9BA1-7061C4EBE38B}" srcOrd="0" destOrd="0" presId="urn:microsoft.com/office/officeart/2005/8/layout/cycle2"/>
    <dgm:cxn modelId="{90E84CED-3584-419A-99B2-AE174DC8163E}" type="presOf" srcId="{4C04ED80-CE13-4822-B856-24E0687EE62F}" destId="{65040442-C9DA-4266-863F-A23AD72764B4}" srcOrd="1" destOrd="0" presId="urn:microsoft.com/office/officeart/2005/8/layout/cycle2"/>
    <dgm:cxn modelId="{E19B87F6-1055-4D21-B17C-83CAA184AB50}" type="presOf" srcId="{BD3AD493-6E5B-4D58-BF57-44BCFEA3472F}" destId="{2BD5C4B4-E595-470E-A60A-2EEBB6F4E4BA}" srcOrd="1" destOrd="0" presId="urn:microsoft.com/office/officeart/2005/8/layout/cycle2"/>
    <dgm:cxn modelId="{00D00CF9-8045-4ADB-96BA-74CD4C6318D4}" type="presOf" srcId="{13714FAA-5D64-4D04-8615-2282077C4F1F}" destId="{FA88EA25-4FC4-419A-93F3-1232DD3CE039}" srcOrd="1" destOrd="0" presId="urn:microsoft.com/office/officeart/2005/8/layout/cycle2"/>
    <dgm:cxn modelId="{56818DA8-883B-4CBF-94EE-97A4EFEBEA95}" type="presParOf" srcId="{F13371CF-0304-4945-9BA1-7061C4EBE38B}" destId="{F30C7A66-776D-429D-8D5C-598EB04200D0}" srcOrd="0" destOrd="0" presId="urn:microsoft.com/office/officeart/2005/8/layout/cycle2"/>
    <dgm:cxn modelId="{6CD67DC3-E018-442A-80E7-6567A46CD47C}" type="presParOf" srcId="{F13371CF-0304-4945-9BA1-7061C4EBE38B}" destId="{DAB65C5C-C634-4A81-8B51-E41B2F29B9BA}" srcOrd="1" destOrd="0" presId="urn:microsoft.com/office/officeart/2005/8/layout/cycle2"/>
    <dgm:cxn modelId="{DE87142C-7AC0-4FEA-A89C-B94279959076}" type="presParOf" srcId="{DAB65C5C-C634-4A81-8B51-E41B2F29B9BA}" destId="{65684080-3756-4642-83D9-D81D2C042AA1}" srcOrd="0" destOrd="0" presId="urn:microsoft.com/office/officeart/2005/8/layout/cycle2"/>
    <dgm:cxn modelId="{2872A7BC-FC00-4EA1-9DAB-3AF7ED76B144}" type="presParOf" srcId="{F13371CF-0304-4945-9BA1-7061C4EBE38B}" destId="{4A516795-1656-4652-98DE-524EEA23BDC6}" srcOrd="2" destOrd="0" presId="urn:microsoft.com/office/officeart/2005/8/layout/cycle2"/>
    <dgm:cxn modelId="{939ECEB9-8D5C-4FA9-8D2F-E6BC347A64A5}" type="presParOf" srcId="{F13371CF-0304-4945-9BA1-7061C4EBE38B}" destId="{D7B8016C-B74F-4809-8917-D893C65E6D07}" srcOrd="3" destOrd="0" presId="urn:microsoft.com/office/officeart/2005/8/layout/cycle2"/>
    <dgm:cxn modelId="{C0B8C14B-3B64-44EB-B065-42C17A709CB8}" type="presParOf" srcId="{D7B8016C-B74F-4809-8917-D893C65E6D07}" destId="{FA88EA25-4FC4-419A-93F3-1232DD3CE039}" srcOrd="0" destOrd="0" presId="urn:microsoft.com/office/officeart/2005/8/layout/cycle2"/>
    <dgm:cxn modelId="{FFBDC353-1BB2-400C-87D7-BA3A93DF583E}" type="presParOf" srcId="{F13371CF-0304-4945-9BA1-7061C4EBE38B}" destId="{B0E6617A-1148-4D33-AF1D-E9D91293B6D6}" srcOrd="4" destOrd="0" presId="urn:microsoft.com/office/officeart/2005/8/layout/cycle2"/>
    <dgm:cxn modelId="{2312C477-52E9-4CCB-8A59-2958B55C2253}" type="presParOf" srcId="{F13371CF-0304-4945-9BA1-7061C4EBE38B}" destId="{D91439ED-5E74-4109-A12A-BA4242E93B52}" srcOrd="5" destOrd="0" presId="urn:microsoft.com/office/officeart/2005/8/layout/cycle2"/>
    <dgm:cxn modelId="{E5BD3AB6-4CE0-424C-B1BA-5F1DFDB03114}" type="presParOf" srcId="{D91439ED-5E74-4109-A12A-BA4242E93B52}" destId="{F89C0AC2-683B-4FF5-96EC-975821F01632}" srcOrd="0" destOrd="0" presId="urn:microsoft.com/office/officeart/2005/8/layout/cycle2"/>
    <dgm:cxn modelId="{654127AE-26EA-45DB-A269-F84B3EBA6A96}" type="presParOf" srcId="{F13371CF-0304-4945-9BA1-7061C4EBE38B}" destId="{C507E7A5-BC54-4160-96D6-AF0328539010}" srcOrd="6" destOrd="0" presId="urn:microsoft.com/office/officeart/2005/8/layout/cycle2"/>
    <dgm:cxn modelId="{54CE1A23-426B-4DE7-8262-ADF1A822B98D}" type="presParOf" srcId="{F13371CF-0304-4945-9BA1-7061C4EBE38B}" destId="{373C2191-9BAA-42C0-8992-E07975E9FB40}" srcOrd="7" destOrd="0" presId="urn:microsoft.com/office/officeart/2005/8/layout/cycle2"/>
    <dgm:cxn modelId="{F12C88FD-5AC2-4884-9694-1E18F840227C}" type="presParOf" srcId="{373C2191-9BAA-42C0-8992-E07975E9FB40}" destId="{65040442-C9DA-4266-863F-A23AD72764B4}" srcOrd="0" destOrd="0" presId="urn:microsoft.com/office/officeart/2005/8/layout/cycle2"/>
    <dgm:cxn modelId="{25DF9B0D-C805-4085-AA3B-84E5006F1582}" type="presParOf" srcId="{F13371CF-0304-4945-9BA1-7061C4EBE38B}" destId="{BA34D0DD-DEF4-493D-81E6-A01274A86AB0}" srcOrd="8" destOrd="0" presId="urn:microsoft.com/office/officeart/2005/8/layout/cycle2"/>
    <dgm:cxn modelId="{89EE3EFF-D9F8-4C95-A5C0-CC6F23A4A6D9}" type="presParOf" srcId="{F13371CF-0304-4945-9BA1-7061C4EBE38B}" destId="{20404BFD-E4F4-4DDB-AAB5-67C04449E876}" srcOrd="9" destOrd="0" presId="urn:microsoft.com/office/officeart/2005/8/layout/cycle2"/>
    <dgm:cxn modelId="{B7CBEE4C-59EE-4608-B5E9-694A334B2AC9}" type="presParOf" srcId="{20404BFD-E4F4-4DDB-AAB5-67C04449E876}" destId="{2BD5C4B4-E595-470E-A60A-2EEBB6F4E4BA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741076-E827-4D90-89A8-83C813C771FB}">
      <dsp:nvSpPr>
        <dsp:cNvPr id="0" name=""/>
        <dsp:cNvSpPr/>
      </dsp:nvSpPr>
      <dsp:spPr>
        <a:xfrm>
          <a:off x="12845" y="1542904"/>
          <a:ext cx="3839333" cy="2303600"/>
        </a:xfrm>
        <a:prstGeom prst="roundRect">
          <a:avLst>
            <a:gd name="adj" fmla="val 10000"/>
          </a:avLst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/>
            <a:t>Helmet &amp; Compliance Detection</a:t>
          </a:r>
          <a:endParaRPr lang="en-US" sz="2000" b="1" kern="1200" dirty="0"/>
        </a:p>
      </dsp:txBody>
      <dsp:txXfrm>
        <a:off x="80315" y="1610374"/>
        <a:ext cx="3704393" cy="2168660"/>
      </dsp:txXfrm>
    </dsp:sp>
    <dsp:sp modelId="{C8F58153-AB3D-4274-B9EA-154D6158FB96}">
      <dsp:nvSpPr>
        <dsp:cNvPr id="0" name=""/>
        <dsp:cNvSpPr/>
      </dsp:nvSpPr>
      <dsp:spPr>
        <a:xfrm>
          <a:off x="4236112" y="2218627"/>
          <a:ext cx="813938" cy="95215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0" kern="1200"/>
        </a:p>
      </dsp:txBody>
      <dsp:txXfrm>
        <a:off x="4236112" y="2409058"/>
        <a:ext cx="569757" cy="571292"/>
      </dsp:txXfrm>
    </dsp:sp>
    <dsp:sp modelId="{52FCA1D4-A8CB-40C5-9C39-006E69FFA924}">
      <dsp:nvSpPr>
        <dsp:cNvPr id="0" name=""/>
        <dsp:cNvSpPr/>
      </dsp:nvSpPr>
      <dsp:spPr>
        <a:xfrm>
          <a:off x="5387912" y="1542904"/>
          <a:ext cx="3839333" cy="2303600"/>
        </a:xfrm>
        <a:prstGeom prst="roundRect">
          <a:avLst>
            <a:gd name="adj" fmla="val 10000"/>
          </a:avLst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/>
            <a:t>Scene Understanding &amp; Behavior Analysis</a:t>
          </a:r>
          <a:endParaRPr lang="en-US" sz="2000" b="1" kern="1200" dirty="0"/>
        </a:p>
      </dsp:txBody>
      <dsp:txXfrm>
        <a:off x="5455382" y="1610374"/>
        <a:ext cx="3704393" cy="2168660"/>
      </dsp:txXfrm>
    </dsp:sp>
    <dsp:sp modelId="{B728FB20-5158-4039-8EBA-EAD51805C0D2}">
      <dsp:nvSpPr>
        <dsp:cNvPr id="0" name=""/>
        <dsp:cNvSpPr/>
      </dsp:nvSpPr>
      <dsp:spPr>
        <a:xfrm>
          <a:off x="9611179" y="2218627"/>
          <a:ext cx="813938" cy="95215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0" kern="1200"/>
        </a:p>
      </dsp:txBody>
      <dsp:txXfrm>
        <a:off x="9611179" y="2409058"/>
        <a:ext cx="569757" cy="571292"/>
      </dsp:txXfrm>
    </dsp:sp>
    <dsp:sp modelId="{90CA437B-C385-4233-9584-E158DC45D018}">
      <dsp:nvSpPr>
        <dsp:cNvPr id="0" name=""/>
        <dsp:cNvSpPr/>
      </dsp:nvSpPr>
      <dsp:spPr>
        <a:xfrm>
          <a:off x="10762979" y="1542904"/>
          <a:ext cx="3839333" cy="2303600"/>
        </a:xfrm>
        <a:prstGeom prst="roundRect">
          <a:avLst>
            <a:gd name="adj" fmla="val 10000"/>
          </a:avLst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/>
            <a:t>Temporal Traffic Modeling</a:t>
          </a:r>
          <a:endParaRPr lang="en-US" sz="2000" b="1" kern="1200" dirty="0"/>
        </a:p>
      </dsp:txBody>
      <dsp:txXfrm>
        <a:off x="10830449" y="1610374"/>
        <a:ext cx="3704393" cy="21686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0C7A66-776D-429D-8D5C-598EB04200D0}">
      <dsp:nvSpPr>
        <dsp:cNvPr id="0" name=""/>
        <dsp:cNvSpPr/>
      </dsp:nvSpPr>
      <dsp:spPr>
        <a:xfrm>
          <a:off x="4674510" y="815"/>
          <a:ext cx="2595329" cy="2595329"/>
        </a:xfrm>
        <a:prstGeom prst="ellips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✔ Object detection (vehicles, pedestrians, obstacles)</a:t>
          </a:r>
          <a:endParaRPr lang="en-US" sz="2000" kern="1200" dirty="0"/>
        </a:p>
      </dsp:txBody>
      <dsp:txXfrm>
        <a:off x="5054587" y="380892"/>
        <a:ext cx="1835175" cy="1835175"/>
      </dsp:txXfrm>
    </dsp:sp>
    <dsp:sp modelId="{DAB65C5C-C634-4A81-8B51-E41B2F29B9BA}">
      <dsp:nvSpPr>
        <dsp:cNvPr id="0" name=""/>
        <dsp:cNvSpPr/>
      </dsp:nvSpPr>
      <dsp:spPr>
        <a:xfrm rot="2160000">
          <a:off x="7187539" y="1993744"/>
          <a:ext cx="688774" cy="8759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7207271" y="2108201"/>
        <a:ext cx="482142" cy="525553"/>
      </dsp:txXfrm>
    </dsp:sp>
    <dsp:sp modelId="{4A516795-1656-4652-98DE-524EEA23BDC6}">
      <dsp:nvSpPr>
        <dsp:cNvPr id="0" name=""/>
        <dsp:cNvSpPr/>
      </dsp:nvSpPr>
      <dsp:spPr>
        <a:xfrm>
          <a:off x="7825554" y="2290183"/>
          <a:ext cx="2595329" cy="2595329"/>
        </a:xfrm>
        <a:prstGeom prst="ellips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✔ Helmet detection &amp; compliance</a:t>
          </a:r>
          <a:endParaRPr lang="en-US" sz="2000" kern="1200" dirty="0"/>
        </a:p>
      </dsp:txBody>
      <dsp:txXfrm>
        <a:off x="8205631" y="2670260"/>
        <a:ext cx="1835175" cy="1835175"/>
      </dsp:txXfrm>
    </dsp:sp>
    <dsp:sp modelId="{D7B8016C-B74F-4809-8917-D893C65E6D07}">
      <dsp:nvSpPr>
        <dsp:cNvPr id="0" name=""/>
        <dsp:cNvSpPr/>
      </dsp:nvSpPr>
      <dsp:spPr>
        <a:xfrm rot="6480000">
          <a:off x="8183059" y="4983484"/>
          <a:ext cx="688774" cy="8759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10800000">
        <a:off x="8318301" y="5060410"/>
        <a:ext cx="482142" cy="525553"/>
      </dsp:txXfrm>
    </dsp:sp>
    <dsp:sp modelId="{B0E6617A-1148-4D33-AF1D-E9D91293B6D6}">
      <dsp:nvSpPr>
        <dsp:cNvPr id="0" name=""/>
        <dsp:cNvSpPr/>
      </dsp:nvSpPr>
      <dsp:spPr>
        <a:xfrm>
          <a:off x="6621962" y="5994458"/>
          <a:ext cx="2595329" cy="2595329"/>
        </a:xfrm>
        <a:prstGeom prst="ellips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✔ Behavior detection (crossing, overtaking, lane change, sudden movements)</a:t>
          </a:r>
          <a:endParaRPr lang="en-US" sz="2000" kern="1200"/>
        </a:p>
      </dsp:txBody>
      <dsp:txXfrm>
        <a:off x="7002039" y="6374535"/>
        <a:ext cx="1835175" cy="1835175"/>
      </dsp:txXfrm>
    </dsp:sp>
    <dsp:sp modelId="{D91439ED-5E74-4109-A12A-BA4242E93B52}">
      <dsp:nvSpPr>
        <dsp:cNvPr id="0" name=""/>
        <dsp:cNvSpPr/>
      </dsp:nvSpPr>
      <dsp:spPr>
        <a:xfrm rot="10800000">
          <a:off x="5647281" y="6854161"/>
          <a:ext cx="688774" cy="8759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10800000">
        <a:off x="5853913" y="7029346"/>
        <a:ext cx="482142" cy="525553"/>
      </dsp:txXfrm>
    </dsp:sp>
    <dsp:sp modelId="{C507E7A5-BC54-4160-96D6-AF0328539010}">
      <dsp:nvSpPr>
        <dsp:cNvPr id="0" name=""/>
        <dsp:cNvSpPr/>
      </dsp:nvSpPr>
      <dsp:spPr>
        <a:xfrm>
          <a:off x="2727057" y="5994458"/>
          <a:ext cx="2595329" cy="2595329"/>
        </a:xfrm>
        <a:prstGeom prst="ellips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✔ Scene classification (road type, environment)</a:t>
          </a:r>
          <a:endParaRPr lang="en-US" sz="2000" kern="1200"/>
        </a:p>
      </dsp:txBody>
      <dsp:txXfrm>
        <a:off x="3107134" y="6374535"/>
        <a:ext cx="1835175" cy="1835175"/>
      </dsp:txXfrm>
    </dsp:sp>
    <dsp:sp modelId="{373C2191-9BAA-42C0-8992-E07975E9FB40}">
      <dsp:nvSpPr>
        <dsp:cNvPr id="0" name=""/>
        <dsp:cNvSpPr/>
      </dsp:nvSpPr>
      <dsp:spPr>
        <a:xfrm rot="15120000">
          <a:off x="3084563" y="5020563"/>
          <a:ext cx="688774" cy="8759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10800000">
        <a:off x="3219805" y="5294007"/>
        <a:ext cx="482142" cy="525553"/>
      </dsp:txXfrm>
    </dsp:sp>
    <dsp:sp modelId="{BA34D0DD-DEF4-493D-81E6-A01274A86AB0}">
      <dsp:nvSpPr>
        <dsp:cNvPr id="0" name=""/>
        <dsp:cNvSpPr/>
      </dsp:nvSpPr>
      <dsp:spPr>
        <a:xfrm>
          <a:off x="1523465" y="2290183"/>
          <a:ext cx="2595329" cy="2595329"/>
        </a:xfrm>
        <a:prstGeom prst="ellips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✔ Video-sequence based analysis </a:t>
          </a:r>
        </a:p>
      </dsp:txBody>
      <dsp:txXfrm>
        <a:off x="1903542" y="2670260"/>
        <a:ext cx="1835175" cy="1835175"/>
      </dsp:txXfrm>
    </dsp:sp>
    <dsp:sp modelId="{20404BFD-E4F4-4DDB-AAB5-67C04449E876}">
      <dsp:nvSpPr>
        <dsp:cNvPr id="0" name=""/>
        <dsp:cNvSpPr/>
      </dsp:nvSpPr>
      <dsp:spPr>
        <a:xfrm rot="19440000">
          <a:off x="4036494" y="2016660"/>
          <a:ext cx="688774" cy="8759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4056226" y="2252573"/>
        <a:ext cx="482142" cy="5255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A7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826" y="0"/>
            <a:ext cx="2224257" cy="10287000"/>
            <a:chOff x="0" y="0"/>
            <a:chExt cx="85293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614959" y="1139257"/>
            <a:ext cx="9009601" cy="36944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900"/>
              </a:lnSpc>
            </a:pPr>
            <a:r>
              <a:rPr lang="en-US" sz="6000" b="1" spc="-89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  <a:ea typeface="Telegraf Bold"/>
                <a:cs typeface="Telegraf Bold"/>
                <a:sym typeface="Telegraf Bold"/>
              </a:rPr>
              <a:t> </a:t>
            </a:r>
            <a:r>
              <a:rPr lang="en-US" sz="6000" b="1" spc="-89" dirty="0">
                <a:solidFill>
                  <a:srgbClr val="FFFFFF"/>
                </a:solidFill>
                <a:effectLst>
                  <a:outerShdw blurRad="50800" dist="50800" dir="1800000" algn="ctr" rotWithShape="0">
                    <a:srgbClr val="000000">
                      <a:alpha val="43137"/>
                    </a:srgbClr>
                  </a:outerShdw>
                </a:effectLst>
                <a:ea typeface="Telegraf Bold"/>
                <a:cs typeface="Telegraf Bold"/>
                <a:sym typeface="Telegraf Bold"/>
              </a:rPr>
              <a:t>“An Overview of Research Papers  Regarding Road Scene Analysis”</a:t>
            </a:r>
            <a:endParaRPr lang="en-US" sz="6000" b="1" dirty="0">
              <a:effectLst>
                <a:outerShdw blurRad="50800" dist="50800" dir="1800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3233B07-D651-4A95-8DE1-608F09EFFC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285" y="632229"/>
            <a:ext cx="3736764" cy="31581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6A858A-FB01-8042-5622-006D173E1CC2}"/>
              </a:ext>
            </a:extLst>
          </p:cNvPr>
          <p:cNvSpPr txBox="1"/>
          <p:nvPr/>
        </p:nvSpPr>
        <p:spPr>
          <a:xfrm>
            <a:off x="10224851" y="8012951"/>
            <a:ext cx="7445375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 b="1" dirty="0">
                <a:solidFill>
                  <a:schemeClr val="bg1"/>
                </a:solidFill>
                <a:ea typeface="Calibri"/>
                <a:cs typeface="Calibri"/>
              </a:rPr>
              <a:t>Presented By : Afroja Akter Dalia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9B78C4-A645-4D31-CD1E-04B69EF01842}"/>
              </a:ext>
            </a:extLst>
          </p:cNvPr>
          <p:cNvSpPr txBox="1"/>
          <p:nvPr/>
        </p:nvSpPr>
        <p:spPr>
          <a:xfrm>
            <a:off x="2779476" y="8012951"/>
            <a:ext cx="7445375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 b="1" dirty="0">
                <a:solidFill>
                  <a:schemeClr val="bg1"/>
                </a:solidFill>
                <a:ea typeface="Calibri"/>
                <a:cs typeface="Calibri"/>
              </a:rPr>
              <a:t>Supervisor : MD. Tamim Hossain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6C5D2-329F-59EE-53CC-B9CE4204F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D38BA6F-B3A8-DB77-6AD1-BED855837DA4}"/>
              </a:ext>
            </a:extLst>
          </p:cNvPr>
          <p:cNvGrpSpPr/>
          <p:nvPr/>
        </p:nvGrpSpPr>
        <p:grpSpPr>
          <a:xfrm>
            <a:off x="0" y="0"/>
            <a:ext cx="7180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3D76E98-1422-39C7-41CE-5E7F33C67309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39F330C-C601-4360-582F-A46C8B534C0C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2">
            <a:extLst>
              <a:ext uri="{FF2B5EF4-FFF2-40B4-BE49-F238E27FC236}">
                <a16:creationId xmlns:a16="http://schemas.microsoft.com/office/drawing/2014/main" id="{BDF0BB8A-D2BD-830B-7C85-CF892D90F2F1}"/>
              </a:ext>
            </a:extLst>
          </p:cNvPr>
          <p:cNvGrpSpPr/>
          <p:nvPr/>
        </p:nvGrpSpPr>
        <p:grpSpPr>
          <a:xfrm>
            <a:off x="718039" y="-117231"/>
            <a:ext cx="2300654" cy="10576322"/>
            <a:chOff x="-1879943" y="-76200"/>
            <a:chExt cx="2732881" cy="2785533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12AAD9C7-8090-183B-4C62-FDB86B6524C4}"/>
                </a:ext>
              </a:extLst>
            </p:cNvPr>
            <p:cNvSpPr/>
            <p:nvPr/>
          </p:nvSpPr>
          <p:spPr>
            <a:xfrm>
              <a:off x="-1879943" y="-46313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A7E1"/>
            </a:solidFill>
            <a:ln>
              <a:solidFill>
                <a:srgbClr val="A0D9F7"/>
              </a:solidFill>
            </a:ln>
          </p:spPr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80F482A1-7074-A0DB-AEEE-F8BA686171FD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9" name="TextBox 11">
            <a:extLst>
              <a:ext uri="{FF2B5EF4-FFF2-40B4-BE49-F238E27FC236}">
                <a16:creationId xmlns:a16="http://schemas.microsoft.com/office/drawing/2014/main" id="{3EC679C3-3583-BF66-9EBC-EF5C058F8693}"/>
              </a:ext>
            </a:extLst>
          </p:cNvPr>
          <p:cNvSpPr txBox="1"/>
          <p:nvPr/>
        </p:nvSpPr>
        <p:spPr>
          <a:xfrm>
            <a:off x="1958174" y="141114"/>
            <a:ext cx="6886575" cy="1931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99"/>
              </a:lnSpc>
            </a:pPr>
            <a:r>
              <a:rPr lang="en-US" sz="6000" b="1" dirty="0">
                <a:solidFill>
                  <a:srgbClr val="0070C0"/>
                </a:solidFill>
              </a:rPr>
              <a:t>Studied Papers &amp; Identified Categories</a:t>
            </a:r>
          </a:p>
        </p:txBody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66E4E96E-E685-2927-3285-7333F374EABB}"/>
              </a:ext>
            </a:extLst>
          </p:cNvPr>
          <p:cNvSpPr txBox="1"/>
          <p:nvPr/>
        </p:nvSpPr>
        <p:spPr>
          <a:xfrm>
            <a:off x="18362013" y="9735057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  <p:sp>
        <p:nvSpPr>
          <p:cNvPr id="8" name="AutoShape 12">
            <a:extLst>
              <a:ext uri="{FF2B5EF4-FFF2-40B4-BE49-F238E27FC236}">
                <a16:creationId xmlns:a16="http://schemas.microsoft.com/office/drawing/2014/main" id="{F554A56A-59A8-929C-0C13-AEE01A854C3F}"/>
              </a:ext>
            </a:extLst>
          </p:cNvPr>
          <p:cNvSpPr/>
          <p:nvPr/>
        </p:nvSpPr>
        <p:spPr>
          <a:xfrm flipV="1">
            <a:off x="1055743" y="9705750"/>
            <a:ext cx="16851923" cy="29307"/>
          </a:xfrm>
          <a:prstGeom prst="line">
            <a:avLst/>
          </a:prstGeom>
          <a:ln w="57150" cap="flat">
            <a:solidFill>
              <a:srgbClr val="13A451"/>
            </a:solidFill>
            <a:prstDash val="sysDot"/>
            <a:headEnd type="none" w="sm" len="sm"/>
            <a:tailEnd type="none" w="sm" len="sm"/>
          </a:ln>
        </p:spPr>
      </p:sp>
      <p:pic>
        <p:nvPicPr>
          <p:cNvPr id="12" name="Picture 11" descr="Premier University | Center of Exellence for Quality Learning">
            <a:extLst>
              <a:ext uri="{FF2B5EF4-FFF2-40B4-BE49-F238E27FC236}">
                <a16:creationId xmlns:a16="http://schemas.microsoft.com/office/drawing/2014/main" id="{1EF7CF9B-3900-C46F-A0B6-83B7F3ED17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30" r="1575" b="1205"/>
          <a:stretch>
            <a:fillRect/>
          </a:stretch>
        </p:blipFill>
        <p:spPr>
          <a:xfrm>
            <a:off x="-60758" y="9153971"/>
            <a:ext cx="3279437" cy="1139570"/>
          </a:xfrm>
          <a:prstGeom prst="rect">
            <a:avLst/>
          </a:prstGeom>
        </p:spPr>
      </p:pic>
      <p:graphicFrame>
        <p:nvGraphicFramePr>
          <p:cNvPr id="36" name="Content Placeholder 11">
            <a:extLst>
              <a:ext uri="{FF2B5EF4-FFF2-40B4-BE49-F238E27FC236}">
                <a16:creationId xmlns:a16="http://schemas.microsoft.com/office/drawing/2014/main" id="{A5A69CD9-B1BD-46D2-805B-F34D58C8D0D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4701434"/>
              </p:ext>
            </p:extLst>
          </p:nvPr>
        </p:nvGraphicFramePr>
        <p:xfrm>
          <a:off x="2606040" y="2735858"/>
          <a:ext cx="14615159" cy="53894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73533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6C5D2-329F-59EE-53CC-B9CE4204F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D38BA6F-B3A8-DB77-6AD1-BED855837DA4}"/>
              </a:ext>
            </a:extLst>
          </p:cNvPr>
          <p:cNvGrpSpPr/>
          <p:nvPr/>
        </p:nvGrpSpPr>
        <p:grpSpPr>
          <a:xfrm>
            <a:off x="0" y="0"/>
            <a:ext cx="7180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3D76E98-1422-39C7-41CE-5E7F33C67309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39F330C-C601-4360-582F-A46C8B534C0C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2">
            <a:extLst>
              <a:ext uri="{FF2B5EF4-FFF2-40B4-BE49-F238E27FC236}">
                <a16:creationId xmlns:a16="http://schemas.microsoft.com/office/drawing/2014/main" id="{BDF0BB8A-D2BD-830B-7C85-CF892D90F2F1}"/>
              </a:ext>
            </a:extLst>
          </p:cNvPr>
          <p:cNvGrpSpPr/>
          <p:nvPr/>
        </p:nvGrpSpPr>
        <p:grpSpPr>
          <a:xfrm>
            <a:off x="718039" y="-117231"/>
            <a:ext cx="2300654" cy="10576322"/>
            <a:chOff x="-1879943" y="-76200"/>
            <a:chExt cx="2732881" cy="2785533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12AAD9C7-8090-183B-4C62-FDB86B6524C4}"/>
                </a:ext>
              </a:extLst>
            </p:cNvPr>
            <p:cNvSpPr/>
            <p:nvPr/>
          </p:nvSpPr>
          <p:spPr>
            <a:xfrm>
              <a:off x="-1879943" y="-46313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A7E1"/>
            </a:solidFill>
            <a:ln>
              <a:solidFill>
                <a:srgbClr val="A0D9F7"/>
              </a:solidFill>
            </a:ln>
          </p:spPr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80F482A1-7074-A0DB-AEEE-F8BA686171FD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9" name="TextBox 11">
            <a:extLst>
              <a:ext uri="{FF2B5EF4-FFF2-40B4-BE49-F238E27FC236}">
                <a16:creationId xmlns:a16="http://schemas.microsoft.com/office/drawing/2014/main" id="{3EC679C3-3583-BF66-9EBC-EF5C058F8693}"/>
              </a:ext>
            </a:extLst>
          </p:cNvPr>
          <p:cNvSpPr txBox="1"/>
          <p:nvPr/>
        </p:nvSpPr>
        <p:spPr>
          <a:xfrm>
            <a:off x="1780510" y="553516"/>
            <a:ext cx="6886575" cy="943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99"/>
              </a:lnSpc>
            </a:pPr>
            <a:r>
              <a:rPr lang="en-US" sz="6000" b="1" dirty="0">
                <a:solidFill>
                  <a:srgbClr val="0070C0"/>
                </a:solidFill>
              </a:rPr>
              <a:t> Identified Patterns</a:t>
            </a:r>
            <a:endParaRPr lang="en-US" sz="6000" b="1" dirty="0">
              <a:solidFill>
                <a:srgbClr val="0070C0"/>
              </a:solidFill>
              <a:latin typeface="Arial Black"/>
            </a:endParaRPr>
          </a:p>
        </p:txBody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66E4E96E-E685-2927-3285-7333F374EABB}"/>
              </a:ext>
            </a:extLst>
          </p:cNvPr>
          <p:cNvSpPr txBox="1"/>
          <p:nvPr/>
        </p:nvSpPr>
        <p:spPr>
          <a:xfrm>
            <a:off x="18362013" y="9735057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  <p:sp>
        <p:nvSpPr>
          <p:cNvPr id="8" name="AutoShape 12">
            <a:extLst>
              <a:ext uri="{FF2B5EF4-FFF2-40B4-BE49-F238E27FC236}">
                <a16:creationId xmlns:a16="http://schemas.microsoft.com/office/drawing/2014/main" id="{F554A56A-59A8-929C-0C13-AEE01A854C3F}"/>
              </a:ext>
            </a:extLst>
          </p:cNvPr>
          <p:cNvSpPr/>
          <p:nvPr/>
        </p:nvSpPr>
        <p:spPr>
          <a:xfrm flipV="1">
            <a:off x="1055743" y="9704177"/>
            <a:ext cx="16851923" cy="29307"/>
          </a:xfrm>
          <a:prstGeom prst="line">
            <a:avLst/>
          </a:prstGeom>
          <a:ln w="57150" cap="flat">
            <a:solidFill>
              <a:srgbClr val="13A451"/>
            </a:solidFill>
            <a:prstDash val="sysDot"/>
            <a:headEnd type="none" w="sm" len="sm"/>
            <a:tailEnd type="none" w="sm" len="sm"/>
          </a:ln>
        </p:spPr>
      </p:sp>
      <p:pic>
        <p:nvPicPr>
          <p:cNvPr id="12" name="Picture 11" descr="Premier University | Center of Exellence for Quality Learning">
            <a:extLst>
              <a:ext uri="{FF2B5EF4-FFF2-40B4-BE49-F238E27FC236}">
                <a16:creationId xmlns:a16="http://schemas.microsoft.com/office/drawing/2014/main" id="{1EF7CF9B-3900-C46F-A0B6-83B7F3ED17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30" r="1575" b="1205"/>
          <a:stretch>
            <a:fillRect/>
          </a:stretch>
        </p:blipFill>
        <p:spPr>
          <a:xfrm>
            <a:off x="-60758" y="9153971"/>
            <a:ext cx="3279437" cy="1139570"/>
          </a:xfrm>
          <a:prstGeom prst="rect">
            <a:avLst/>
          </a:prstGeom>
        </p:spPr>
      </p:pic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848253B2-BD4F-402A-A2A6-A1185287EE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137483"/>
              </p:ext>
            </p:extLst>
          </p:nvPr>
        </p:nvGraphicFramePr>
        <p:xfrm>
          <a:off x="5380105" y="481844"/>
          <a:ext cx="11944350" cy="8590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24713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87475-6410-CF0C-8E19-FB05FF840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145F91B-82E0-9524-F9AD-2E71B99829FD}"/>
              </a:ext>
            </a:extLst>
          </p:cNvPr>
          <p:cNvGrpSpPr/>
          <p:nvPr/>
        </p:nvGrpSpPr>
        <p:grpSpPr>
          <a:xfrm>
            <a:off x="0" y="0"/>
            <a:ext cx="7180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7CC6F21-476F-F6C4-1220-D6E239938C64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0A78677-C335-ADAB-3B22-B310479E397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2">
            <a:extLst>
              <a:ext uri="{FF2B5EF4-FFF2-40B4-BE49-F238E27FC236}">
                <a16:creationId xmlns:a16="http://schemas.microsoft.com/office/drawing/2014/main" id="{BB7C5304-BDF2-992B-79E0-A983C88100E2}"/>
              </a:ext>
            </a:extLst>
          </p:cNvPr>
          <p:cNvGrpSpPr/>
          <p:nvPr/>
        </p:nvGrpSpPr>
        <p:grpSpPr>
          <a:xfrm>
            <a:off x="666978" y="-144661"/>
            <a:ext cx="2300654" cy="10576322"/>
            <a:chOff x="-1879943" y="-76200"/>
            <a:chExt cx="2732881" cy="2785533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DBA0272D-4BAB-7670-D1DD-C84C70AD8FA2}"/>
                </a:ext>
              </a:extLst>
            </p:cNvPr>
            <p:cNvSpPr/>
            <p:nvPr/>
          </p:nvSpPr>
          <p:spPr>
            <a:xfrm>
              <a:off x="-1879943" y="-46313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A7E1"/>
            </a:solidFill>
            <a:ln>
              <a:solidFill>
                <a:srgbClr val="A0D9F7"/>
              </a:solidFill>
            </a:ln>
          </p:spPr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E629E917-63F7-6CB6-8C04-070C4079ECD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AutoShape 12">
            <a:extLst>
              <a:ext uri="{FF2B5EF4-FFF2-40B4-BE49-F238E27FC236}">
                <a16:creationId xmlns:a16="http://schemas.microsoft.com/office/drawing/2014/main" id="{7DF2B862-FCED-1A3F-7699-A9F1DF3268B6}"/>
              </a:ext>
            </a:extLst>
          </p:cNvPr>
          <p:cNvSpPr/>
          <p:nvPr/>
        </p:nvSpPr>
        <p:spPr>
          <a:xfrm flipV="1">
            <a:off x="1384788" y="9634904"/>
            <a:ext cx="16851923" cy="29307"/>
          </a:xfrm>
          <a:prstGeom prst="line">
            <a:avLst/>
          </a:prstGeom>
          <a:ln w="57150" cap="flat">
            <a:solidFill>
              <a:srgbClr val="13A451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F2CD3060-15FC-0A50-2A42-6CE4FC65CB86}"/>
              </a:ext>
            </a:extLst>
          </p:cNvPr>
          <p:cNvSpPr txBox="1"/>
          <p:nvPr/>
        </p:nvSpPr>
        <p:spPr>
          <a:xfrm>
            <a:off x="18362013" y="9735057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  <p:grpSp>
        <p:nvGrpSpPr>
          <p:cNvPr id="12" name="Group 2">
            <a:extLst>
              <a:ext uri="{FF2B5EF4-FFF2-40B4-BE49-F238E27FC236}">
                <a16:creationId xmlns:a16="http://schemas.microsoft.com/office/drawing/2014/main" id="{C34B11E4-14ED-8F65-9400-0A61A83AD631}"/>
              </a:ext>
            </a:extLst>
          </p:cNvPr>
          <p:cNvGrpSpPr/>
          <p:nvPr/>
        </p:nvGrpSpPr>
        <p:grpSpPr>
          <a:xfrm>
            <a:off x="1761207" y="782723"/>
            <a:ext cx="14390876" cy="2298226"/>
            <a:chOff x="714736" y="199079"/>
            <a:chExt cx="19187838" cy="3064303"/>
          </a:xfrm>
        </p:grpSpPr>
        <p:sp>
          <p:nvSpPr>
            <p:cNvPr id="6" name="TextBox 3">
              <a:extLst>
                <a:ext uri="{FF2B5EF4-FFF2-40B4-BE49-F238E27FC236}">
                  <a16:creationId xmlns:a16="http://schemas.microsoft.com/office/drawing/2014/main" id="{D8F6D9E4-7C09-4A13-3A49-FD0E420A152F}"/>
                </a:ext>
              </a:extLst>
            </p:cNvPr>
            <p:cNvSpPr txBox="1"/>
            <p:nvPr/>
          </p:nvSpPr>
          <p:spPr>
            <a:xfrm>
              <a:off x="714736" y="199079"/>
              <a:ext cx="19187838" cy="125812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7699"/>
                </a:lnSpc>
              </a:pPr>
              <a:r>
                <a:rPr lang="en-US" sz="6000" b="1" dirty="0">
                  <a:solidFill>
                    <a:srgbClr val="0070C0"/>
                  </a:solidFill>
                </a:rPr>
                <a:t>Category 1: Helmet &amp; Compliance Detection</a:t>
              </a:r>
              <a:endParaRPr lang="en-US" sz="6000" b="1" spc="-69" dirty="0">
                <a:solidFill>
                  <a:srgbClr val="0070C0"/>
                </a:solidFill>
                <a:latin typeface="Arial Black"/>
                <a:ea typeface="Telegraf Bold"/>
                <a:cs typeface="Telegraf Bold"/>
              </a:endParaRPr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1131FF81-A442-CA29-7A8E-2A370A0059E5}"/>
                </a:ext>
              </a:extLst>
            </p:cNvPr>
            <p:cNvSpPr txBox="1"/>
            <p:nvPr/>
          </p:nvSpPr>
          <p:spPr>
            <a:xfrm>
              <a:off x="978199" y="2699124"/>
              <a:ext cx="9182100" cy="564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u="sng" spc="-30" dirty="0">
                  <a:latin typeface="Telegraf Bold"/>
                  <a:ea typeface="Telegraf Bold"/>
                  <a:cs typeface="Telegraf Bold"/>
                  <a:sym typeface="Telegraf Bold"/>
                </a:rPr>
                <a:t>Key Insights and Findings</a:t>
              </a:r>
              <a:r>
                <a:rPr lang="en-US" sz="3000" b="1" spc="-30" dirty="0">
                  <a:latin typeface="Telegraf Bold"/>
                  <a:ea typeface="Telegraf Bold"/>
                  <a:cs typeface="Telegraf Bold"/>
                  <a:sym typeface="Telegraf Bold"/>
                </a:rPr>
                <a:t>:</a:t>
              </a:r>
            </a:p>
          </p:txBody>
        </p:sp>
      </p:grpSp>
      <p:sp>
        <p:nvSpPr>
          <p:cNvPr id="24" name="TextBox 8">
            <a:extLst>
              <a:ext uri="{FF2B5EF4-FFF2-40B4-BE49-F238E27FC236}">
                <a16:creationId xmlns:a16="http://schemas.microsoft.com/office/drawing/2014/main" id="{32920595-302A-0DD8-FA84-6D12146450C0}"/>
              </a:ext>
            </a:extLst>
          </p:cNvPr>
          <p:cNvSpPr txBox="1"/>
          <p:nvPr/>
        </p:nvSpPr>
        <p:spPr>
          <a:xfrm>
            <a:off x="18324136" y="982298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  <p:pic>
        <p:nvPicPr>
          <p:cNvPr id="13" name="Picture 12" descr="Premier University | Center of Exellence for Quality Learning">
            <a:extLst>
              <a:ext uri="{FF2B5EF4-FFF2-40B4-BE49-F238E27FC236}">
                <a16:creationId xmlns:a16="http://schemas.microsoft.com/office/drawing/2014/main" id="{A4D8A288-068A-BAE9-389D-C07D85BC32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30" r="1575" b="1205"/>
          <a:stretch>
            <a:fillRect/>
          </a:stretch>
        </p:blipFill>
        <p:spPr>
          <a:xfrm>
            <a:off x="0" y="9147430"/>
            <a:ext cx="3522415" cy="1139570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2F1E28F-C86D-4813-AA42-A05B0ACC0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8804" y="3679384"/>
            <a:ext cx="6226591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effectLst/>
              </a:rPr>
              <a:t>YOLO-based object detection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3000" b="1" i="0" u="none" strike="noStrike" cap="none" normalizeH="0" baseline="0" dirty="0">
              <a:ln>
                <a:noFill/>
              </a:ln>
              <a:effectLst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effectLst/>
              </a:rPr>
              <a:t>Helmet / No-helmet classification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3000" b="1" i="0" u="none" strike="noStrike" cap="none" normalizeH="0" baseline="0" dirty="0">
              <a:ln>
                <a:noFill/>
              </a:ln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effectLst/>
              </a:rPr>
              <a:t> Mirror absence detection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3000" b="1" i="0" u="none" strike="noStrike" cap="none" normalizeH="0" baseline="0" dirty="0">
              <a:ln>
                <a:noFill/>
              </a:ln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effectLst/>
              </a:rPr>
              <a:t>License Plate OCR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000" b="1" i="0" u="none" strike="noStrike" cap="none" normalizeH="0" baseline="0" dirty="0">
              <a:ln>
                <a:noFill/>
              </a:ln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effectLst/>
              </a:rPr>
              <a:t>Traffic violation analytics</a:t>
            </a:r>
          </a:p>
        </p:txBody>
      </p:sp>
    </p:spTree>
    <p:extLst>
      <p:ext uri="{BB962C8B-B14F-4D97-AF65-F5344CB8AC3E}">
        <p14:creationId xmlns:p14="http://schemas.microsoft.com/office/powerpoint/2010/main" val="1750706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A7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B315EF-481C-342F-D45F-FB76657A4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C2C946D-A8AB-6105-1445-BF3BF4C07037}"/>
              </a:ext>
            </a:extLst>
          </p:cNvPr>
          <p:cNvGrpSpPr/>
          <p:nvPr/>
        </p:nvGrpSpPr>
        <p:grpSpPr>
          <a:xfrm>
            <a:off x="0" y="0"/>
            <a:ext cx="10058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45D3A24-B1E2-DA35-B078-D4069A488320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622C7CB-8721-B785-F725-D2A017B97AFD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1" name="TextBox 4">
            <a:extLst>
              <a:ext uri="{FF2B5EF4-FFF2-40B4-BE49-F238E27FC236}">
                <a16:creationId xmlns:a16="http://schemas.microsoft.com/office/drawing/2014/main" id="{FD10FC41-6A2D-D09C-737B-EA63ED190260}"/>
              </a:ext>
            </a:extLst>
          </p:cNvPr>
          <p:cNvSpPr txBox="1"/>
          <p:nvPr/>
        </p:nvSpPr>
        <p:spPr>
          <a:xfrm>
            <a:off x="-859302" y="-144661"/>
            <a:ext cx="3238500" cy="1057632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18" name="TextBox 4">
            <a:extLst>
              <a:ext uri="{FF2B5EF4-FFF2-40B4-BE49-F238E27FC236}">
                <a16:creationId xmlns:a16="http://schemas.microsoft.com/office/drawing/2014/main" id="{7D76C5C5-8B20-48E7-A3A2-2BF5EF2E4E6A}"/>
              </a:ext>
            </a:extLst>
          </p:cNvPr>
          <p:cNvSpPr txBox="1"/>
          <p:nvPr/>
        </p:nvSpPr>
        <p:spPr>
          <a:xfrm>
            <a:off x="1229897" y="3744450"/>
            <a:ext cx="7018605" cy="3900498"/>
          </a:xfrm>
          <a:prstGeom prst="rect">
            <a:avLst/>
          </a:prstGeom>
        </p:spPr>
        <p:txBody>
          <a:bodyPr lIns="50800" tIns="50800" rIns="50800" bIns="508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00"/>
              </a:lnSpc>
            </a:pPr>
            <a:r>
              <a:rPr lang="en-US" sz="2500" b="1" dirty="0">
                <a:solidFill>
                  <a:schemeClr val="bg1"/>
                </a:solidFill>
              </a:rPr>
              <a:t>***System output examples: (a) Multiple violators. (b) Rider/pillion noncompliance. (c) LP detection &amp; OCR. (d) No violations.</a:t>
            </a:r>
            <a:endParaRPr sz="2500" b="1" dirty="0">
              <a:solidFill>
                <a:schemeClr val="bg1"/>
              </a:solidFill>
            </a:endParaRPr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5E80C229-E174-5AB3-FAB3-6351B5A7160E}"/>
              </a:ext>
            </a:extLst>
          </p:cNvPr>
          <p:cNvSpPr txBox="1"/>
          <p:nvPr/>
        </p:nvSpPr>
        <p:spPr>
          <a:xfrm>
            <a:off x="3692772" y="2377677"/>
            <a:ext cx="13041921" cy="582400"/>
          </a:xfrm>
          <a:prstGeom prst="rect">
            <a:avLst/>
          </a:prstGeom>
        </p:spPr>
        <p:txBody>
          <a:bodyPr lIns="50800" tIns="50800" rIns="50800" bIns="508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BAD6D6-20A2-14F1-B878-C0C0EF002153}"/>
              </a:ext>
            </a:extLst>
          </p:cNvPr>
          <p:cNvSpPr txBox="1"/>
          <p:nvPr/>
        </p:nvSpPr>
        <p:spPr>
          <a:xfrm>
            <a:off x="1229897" y="328974"/>
            <a:ext cx="822324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</a:rPr>
              <a:t>Example (Category 1)</a:t>
            </a:r>
            <a:r>
              <a:rPr lang="en-US" sz="6000" b="1" dirty="0">
                <a:solidFill>
                  <a:schemeClr val="bg1"/>
                </a:solidFill>
                <a:ea typeface="Calibri"/>
                <a:cs typeface="Calibri"/>
              </a:rPr>
              <a:t> 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B15727-3A4B-4314-9523-6ABA75047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2422" y="1298470"/>
            <a:ext cx="8716107" cy="8016240"/>
          </a:xfrm>
          <a:prstGeom prst="rect">
            <a:avLst/>
          </a:prstGeom>
        </p:spPr>
      </p:pic>
      <p:sp>
        <p:nvSpPr>
          <p:cNvPr id="28" name="Arrow" descr="Dashed Arrow">
            <a:extLst>
              <a:ext uri="{FF2B5EF4-FFF2-40B4-BE49-F238E27FC236}">
                <a16:creationId xmlns:a16="http://schemas.microsoft.com/office/drawing/2014/main" id="{E4E363DF-78BF-7047-827C-B91CD97363E6}"/>
              </a:ext>
            </a:extLst>
          </p:cNvPr>
          <p:cNvSpPr/>
          <p:nvPr/>
        </p:nvSpPr>
        <p:spPr>
          <a:xfrm rot="5400000" flipV="1">
            <a:off x="5383046" y="5677904"/>
            <a:ext cx="3060251" cy="3238501"/>
          </a:xfrm>
          <a:prstGeom prst="arc">
            <a:avLst>
              <a:gd name="adj1" fmla="val 12549592"/>
              <a:gd name="adj2" fmla="val 4002257"/>
            </a:avLst>
          </a:prstGeom>
          <a:ln w="20320">
            <a:solidFill>
              <a:schemeClr val="bg1"/>
            </a:solidFill>
            <a:prstDash val="dash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Arial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020E2B-EB57-4FC5-9640-EF7ED0D3460B}"/>
              </a:ext>
            </a:extLst>
          </p:cNvPr>
          <p:cNvSpPr txBox="1"/>
          <p:nvPr/>
        </p:nvSpPr>
        <p:spPr>
          <a:xfrm>
            <a:off x="1335944" y="1657650"/>
            <a:ext cx="749606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bg1"/>
                </a:solidFill>
              </a:rPr>
              <a:t>Example Outputs: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chemeClr val="bg1"/>
                </a:solidFill>
              </a:rPr>
              <a:t>Bounding boxes detecting helmet vs no-helmet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chemeClr val="bg1"/>
                </a:solidFill>
              </a:rPr>
              <a:t>LPR + OCR for identifying violators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chemeClr val="bg1"/>
                </a:solidFill>
              </a:rPr>
              <a:t>Real-time helmet detection using YOLOv5/Yolov8</a:t>
            </a:r>
          </a:p>
        </p:txBody>
      </p:sp>
    </p:spTree>
    <p:extLst>
      <p:ext uri="{BB962C8B-B14F-4D97-AF65-F5344CB8AC3E}">
        <p14:creationId xmlns:p14="http://schemas.microsoft.com/office/powerpoint/2010/main" val="2681513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A7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B315EF-481C-342F-D45F-FB76657A4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C2C946D-A8AB-6105-1445-BF3BF4C07037}"/>
              </a:ext>
            </a:extLst>
          </p:cNvPr>
          <p:cNvGrpSpPr/>
          <p:nvPr/>
        </p:nvGrpSpPr>
        <p:grpSpPr>
          <a:xfrm>
            <a:off x="0" y="0"/>
            <a:ext cx="10058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45D3A24-B1E2-DA35-B078-D4069A488320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622C7CB-8721-B785-F725-D2A017B97AFD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1" name="TextBox 4">
            <a:extLst>
              <a:ext uri="{FF2B5EF4-FFF2-40B4-BE49-F238E27FC236}">
                <a16:creationId xmlns:a16="http://schemas.microsoft.com/office/drawing/2014/main" id="{FD10FC41-6A2D-D09C-737B-EA63ED190260}"/>
              </a:ext>
            </a:extLst>
          </p:cNvPr>
          <p:cNvSpPr txBox="1"/>
          <p:nvPr/>
        </p:nvSpPr>
        <p:spPr>
          <a:xfrm>
            <a:off x="-859302" y="-144661"/>
            <a:ext cx="3238500" cy="1057632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18" name="TextBox 4">
            <a:extLst>
              <a:ext uri="{FF2B5EF4-FFF2-40B4-BE49-F238E27FC236}">
                <a16:creationId xmlns:a16="http://schemas.microsoft.com/office/drawing/2014/main" id="{7D76C5C5-8B20-48E7-A3A2-2BF5EF2E4E6A}"/>
              </a:ext>
            </a:extLst>
          </p:cNvPr>
          <p:cNvSpPr txBox="1"/>
          <p:nvPr/>
        </p:nvSpPr>
        <p:spPr>
          <a:xfrm>
            <a:off x="1229897" y="850816"/>
            <a:ext cx="7018605" cy="3900498"/>
          </a:xfrm>
          <a:prstGeom prst="rect">
            <a:avLst/>
          </a:prstGeom>
        </p:spPr>
        <p:txBody>
          <a:bodyPr lIns="50800" tIns="50800" rIns="50800" bIns="508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00"/>
              </a:lnSpc>
            </a:pPr>
            <a:r>
              <a:rPr lang="en-US" sz="2500" b="1" dirty="0">
                <a:solidFill>
                  <a:schemeClr val="bg1"/>
                </a:solidFill>
              </a:rPr>
              <a:t>***System output examples: Whether a person is wearing helmet or not.</a:t>
            </a:r>
            <a:endParaRPr sz="2500" b="1" dirty="0">
              <a:solidFill>
                <a:schemeClr val="bg1"/>
              </a:solidFill>
            </a:endParaRPr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5E80C229-E174-5AB3-FAB3-6351B5A7160E}"/>
              </a:ext>
            </a:extLst>
          </p:cNvPr>
          <p:cNvSpPr txBox="1"/>
          <p:nvPr/>
        </p:nvSpPr>
        <p:spPr>
          <a:xfrm>
            <a:off x="3692772" y="2377677"/>
            <a:ext cx="13041921" cy="582400"/>
          </a:xfrm>
          <a:prstGeom prst="rect">
            <a:avLst/>
          </a:prstGeom>
        </p:spPr>
        <p:txBody>
          <a:bodyPr lIns="50800" tIns="50800" rIns="50800" bIns="508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BAD6D6-20A2-14F1-B878-C0C0EF002153}"/>
              </a:ext>
            </a:extLst>
          </p:cNvPr>
          <p:cNvSpPr txBox="1"/>
          <p:nvPr/>
        </p:nvSpPr>
        <p:spPr>
          <a:xfrm>
            <a:off x="1229897" y="328974"/>
            <a:ext cx="822324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</a:rPr>
              <a:t> More Example Outputs </a:t>
            </a:r>
            <a:r>
              <a:rPr lang="en-US" sz="6000" b="1" dirty="0">
                <a:solidFill>
                  <a:schemeClr val="bg1"/>
                </a:solidFill>
                <a:ea typeface="Calibri"/>
                <a:cs typeface="Calibri"/>
              </a:rPr>
              <a:t>:</a:t>
            </a:r>
          </a:p>
        </p:txBody>
      </p:sp>
      <p:sp>
        <p:nvSpPr>
          <p:cNvPr id="28" name="Arrow" descr="Dashed Arrow">
            <a:extLst>
              <a:ext uri="{FF2B5EF4-FFF2-40B4-BE49-F238E27FC236}">
                <a16:creationId xmlns:a16="http://schemas.microsoft.com/office/drawing/2014/main" id="{E4E363DF-78BF-7047-827C-B91CD97363E6}"/>
              </a:ext>
            </a:extLst>
          </p:cNvPr>
          <p:cNvSpPr/>
          <p:nvPr/>
        </p:nvSpPr>
        <p:spPr>
          <a:xfrm rot="5400000" flipV="1">
            <a:off x="5151166" y="2579752"/>
            <a:ext cx="3060251" cy="3238501"/>
          </a:xfrm>
          <a:prstGeom prst="arc">
            <a:avLst>
              <a:gd name="adj1" fmla="val 12549592"/>
              <a:gd name="adj2" fmla="val 4002257"/>
            </a:avLst>
          </a:prstGeom>
          <a:ln w="20320">
            <a:solidFill>
              <a:schemeClr val="bg1"/>
            </a:solidFill>
            <a:prstDash val="dash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Arial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125BE0-A7FE-42FE-912D-331F8EB99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502" y="1688124"/>
            <a:ext cx="9533312" cy="704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349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87475-6410-CF0C-8E19-FB05FF840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145F91B-82E0-9524-F9AD-2E71B99829FD}"/>
              </a:ext>
            </a:extLst>
          </p:cNvPr>
          <p:cNvGrpSpPr/>
          <p:nvPr/>
        </p:nvGrpSpPr>
        <p:grpSpPr>
          <a:xfrm>
            <a:off x="0" y="0"/>
            <a:ext cx="7180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7CC6F21-476F-F6C4-1220-D6E239938C64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0A78677-C335-ADAB-3B22-B310479E397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2">
            <a:extLst>
              <a:ext uri="{FF2B5EF4-FFF2-40B4-BE49-F238E27FC236}">
                <a16:creationId xmlns:a16="http://schemas.microsoft.com/office/drawing/2014/main" id="{BB7C5304-BDF2-992B-79E0-A983C88100E2}"/>
              </a:ext>
            </a:extLst>
          </p:cNvPr>
          <p:cNvGrpSpPr/>
          <p:nvPr/>
        </p:nvGrpSpPr>
        <p:grpSpPr>
          <a:xfrm>
            <a:off x="666978" y="-144661"/>
            <a:ext cx="2300654" cy="10576322"/>
            <a:chOff x="-1879943" y="-76200"/>
            <a:chExt cx="2732881" cy="2785533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DBA0272D-4BAB-7670-D1DD-C84C70AD8FA2}"/>
                </a:ext>
              </a:extLst>
            </p:cNvPr>
            <p:cNvSpPr/>
            <p:nvPr/>
          </p:nvSpPr>
          <p:spPr>
            <a:xfrm>
              <a:off x="-1879943" y="-46313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A7E1"/>
            </a:solidFill>
            <a:ln>
              <a:solidFill>
                <a:srgbClr val="A0D9F7"/>
              </a:solidFill>
            </a:ln>
          </p:spPr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E629E917-63F7-6CB6-8C04-070C4079ECD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AutoShape 12">
            <a:extLst>
              <a:ext uri="{FF2B5EF4-FFF2-40B4-BE49-F238E27FC236}">
                <a16:creationId xmlns:a16="http://schemas.microsoft.com/office/drawing/2014/main" id="{7DF2B862-FCED-1A3F-7699-A9F1DF3268B6}"/>
              </a:ext>
            </a:extLst>
          </p:cNvPr>
          <p:cNvSpPr/>
          <p:nvPr/>
        </p:nvSpPr>
        <p:spPr>
          <a:xfrm flipV="1">
            <a:off x="1384788" y="9634904"/>
            <a:ext cx="16851923" cy="29307"/>
          </a:xfrm>
          <a:prstGeom prst="line">
            <a:avLst/>
          </a:prstGeom>
          <a:ln w="57150" cap="flat">
            <a:solidFill>
              <a:srgbClr val="13A451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F2CD3060-15FC-0A50-2A42-6CE4FC65CB86}"/>
              </a:ext>
            </a:extLst>
          </p:cNvPr>
          <p:cNvSpPr txBox="1"/>
          <p:nvPr/>
        </p:nvSpPr>
        <p:spPr>
          <a:xfrm>
            <a:off x="18362013" y="9735057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D8F6D9E4-7C09-4A13-3A49-FD0E420A152F}"/>
              </a:ext>
            </a:extLst>
          </p:cNvPr>
          <p:cNvSpPr txBox="1"/>
          <p:nvPr/>
        </p:nvSpPr>
        <p:spPr>
          <a:xfrm>
            <a:off x="1808722" y="622789"/>
            <a:ext cx="10799461" cy="9435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699"/>
              </a:lnSpc>
            </a:pPr>
            <a:r>
              <a:rPr lang="en-US" sz="6000" b="1" dirty="0">
                <a:solidFill>
                  <a:srgbClr val="0070C0"/>
                </a:solidFill>
              </a:rPr>
              <a:t>Conclusion &amp; Implementation:</a:t>
            </a:r>
            <a:endParaRPr lang="en-US" sz="6000" b="1" spc="-69" dirty="0">
              <a:solidFill>
                <a:srgbClr val="0070C0"/>
              </a:solidFill>
              <a:latin typeface="Arial Black"/>
              <a:ea typeface="Telegraf Bold"/>
              <a:cs typeface="Telegraf Bold"/>
            </a:endParaRPr>
          </a:p>
        </p:txBody>
      </p:sp>
      <p:sp>
        <p:nvSpPr>
          <p:cNvPr id="24" name="TextBox 8">
            <a:extLst>
              <a:ext uri="{FF2B5EF4-FFF2-40B4-BE49-F238E27FC236}">
                <a16:creationId xmlns:a16="http://schemas.microsoft.com/office/drawing/2014/main" id="{32920595-302A-0DD8-FA84-6D12146450C0}"/>
              </a:ext>
            </a:extLst>
          </p:cNvPr>
          <p:cNvSpPr txBox="1"/>
          <p:nvPr/>
        </p:nvSpPr>
        <p:spPr>
          <a:xfrm>
            <a:off x="18324136" y="982298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  <p:pic>
        <p:nvPicPr>
          <p:cNvPr id="13" name="Picture 12" descr="Premier University | Center of Exellence for Quality Learning">
            <a:extLst>
              <a:ext uri="{FF2B5EF4-FFF2-40B4-BE49-F238E27FC236}">
                <a16:creationId xmlns:a16="http://schemas.microsoft.com/office/drawing/2014/main" id="{A4D8A288-068A-BAE9-389D-C07D85BC32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30" r="1575" b="1205"/>
          <a:stretch>
            <a:fillRect/>
          </a:stretch>
        </p:blipFill>
        <p:spPr>
          <a:xfrm>
            <a:off x="-60758" y="9153971"/>
            <a:ext cx="3279437" cy="1139570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A9064054-045F-495A-9204-8F729BCD27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7017" y="2711659"/>
            <a:ext cx="6896503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effectLst/>
              </a:rPr>
              <a:t>to prepare datasets.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000" b="1" i="0" u="none" strike="noStrike" cap="none" normalizeH="0" baseline="0" dirty="0">
              <a:ln>
                <a:noFill/>
              </a:ln>
              <a:effectLst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effectLst/>
              </a:rPr>
              <a:t>to train YOLO models.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000" b="1" i="0" u="none" strike="noStrike" cap="none" normalizeH="0" baseline="0" dirty="0">
              <a:ln>
                <a:noFill/>
              </a:ln>
              <a:effectLst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effectLst/>
              </a:rPr>
              <a:t>to detect relevant objects n FPV frames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060F8D-6659-4BEC-B31E-93AE480F9AF2}"/>
              </a:ext>
            </a:extLst>
          </p:cNvPr>
          <p:cNvSpPr txBox="1"/>
          <p:nvPr/>
        </p:nvSpPr>
        <p:spPr>
          <a:xfrm>
            <a:off x="1578960" y="2697758"/>
            <a:ext cx="689650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000" b="1" dirty="0"/>
              <a:t>Helmet detection is well-studied and accurate with YOLO models.</a:t>
            </a:r>
            <a:br>
              <a:rPr lang="en-US" sz="3000" b="1" dirty="0"/>
            </a:br>
            <a:r>
              <a:rPr lang="en-US" sz="3000" b="1" dirty="0"/>
              <a:t>It forms the foundation for any object-detection module.</a:t>
            </a:r>
          </a:p>
        </p:txBody>
      </p:sp>
    </p:spTree>
    <p:extLst>
      <p:ext uri="{BB962C8B-B14F-4D97-AF65-F5344CB8AC3E}">
        <p14:creationId xmlns:p14="http://schemas.microsoft.com/office/powerpoint/2010/main" val="4199246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87475-6410-CF0C-8E19-FB05FF840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145F91B-82E0-9524-F9AD-2E71B99829FD}"/>
              </a:ext>
            </a:extLst>
          </p:cNvPr>
          <p:cNvGrpSpPr/>
          <p:nvPr/>
        </p:nvGrpSpPr>
        <p:grpSpPr>
          <a:xfrm>
            <a:off x="0" y="0"/>
            <a:ext cx="7180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7CC6F21-476F-F6C4-1220-D6E239938C64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0A78677-C335-ADAB-3B22-B310479E397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2">
            <a:extLst>
              <a:ext uri="{FF2B5EF4-FFF2-40B4-BE49-F238E27FC236}">
                <a16:creationId xmlns:a16="http://schemas.microsoft.com/office/drawing/2014/main" id="{BB7C5304-BDF2-992B-79E0-A983C88100E2}"/>
              </a:ext>
            </a:extLst>
          </p:cNvPr>
          <p:cNvGrpSpPr/>
          <p:nvPr/>
        </p:nvGrpSpPr>
        <p:grpSpPr>
          <a:xfrm>
            <a:off x="666978" y="-144661"/>
            <a:ext cx="2300654" cy="10576322"/>
            <a:chOff x="-1879943" y="-76200"/>
            <a:chExt cx="2732881" cy="2785533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DBA0272D-4BAB-7670-D1DD-C84C70AD8FA2}"/>
                </a:ext>
              </a:extLst>
            </p:cNvPr>
            <p:cNvSpPr/>
            <p:nvPr/>
          </p:nvSpPr>
          <p:spPr>
            <a:xfrm>
              <a:off x="-1879943" y="-46313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A7E1"/>
            </a:solidFill>
            <a:ln>
              <a:solidFill>
                <a:srgbClr val="A0D9F7"/>
              </a:solidFill>
            </a:ln>
          </p:spPr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E629E917-63F7-6CB6-8C04-070C4079ECD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AutoShape 12">
            <a:extLst>
              <a:ext uri="{FF2B5EF4-FFF2-40B4-BE49-F238E27FC236}">
                <a16:creationId xmlns:a16="http://schemas.microsoft.com/office/drawing/2014/main" id="{7DF2B862-FCED-1A3F-7699-A9F1DF3268B6}"/>
              </a:ext>
            </a:extLst>
          </p:cNvPr>
          <p:cNvSpPr/>
          <p:nvPr/>
        </p:nvSpPr>
        <p:spPr>
          <a:xfrm flipV="1">
            <a:off x="1384788" y="9634904"/>
            <a:ext cx="16851923" cy="29307"/>
          </a:xfrm>
          <a:prstGeom prst="line">
            <a:avLst/>
          </a:prstGeom>
          <a:ln w="57150" cap="flat">
            <a:solidFill>
              <a:srgbClr val="13A451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F2CD3060-15FC-0A50-2A42-6CE4FC65CB86}"/>
              </a:ext>
            </a:extLst>
          </p:cNvPr>
          <p:cNvSpPr txBox="1"/>
          <p:nvPr/>
        </p:nvSpPr>
        <p:spPr>
          <a:xfrm>
            <a:off x="18362013" y="9735057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  <p:grpSp>
        <p:nvGrpSpPr>
          <p:cNvPr id="12" name="Group 2">
            <a:extLst>
              <a:ext uri="{FF2B5EF4-FFF2-40B4-BE49-F238E27FC236}">
                <a16:creationId xmlns:a16="http://schemas.microsoft.com/office/drawing/2014/main" id="{C34B11E4-14ED-8F65-9400-0A61A83AD631}"/>
              </a:ext>
            </a:extLst>
          </p:cNvPr>
          <p:cNvGrpSpPr/>
          <p:nvPr/>
        </p:nvGrpSpPr>
        <p:grpSpPr>
          <a:xfrm>
            <a:off x="1855182" y="231965"/>
            <a:ext cx="15651203" cy="3063442"/>
            <a:chOff x="452318" y="-693817"/>
            <a:chExt cx="20868274" cy="4084588"/>
          </a:xfrm>
        </p:grpSpPr>
        <p:sp>
          <p:nvSpPr>
            <p:cNvPr id="6" name="TextBox 3">
              <a:extLst>
                <a:ext uri="{FF2B5EF4-FFF2-40B4-BE49-F238E27FC236}">
                  <a16:creationId xmlns:a16="http://schemas.microsoft.com/office/drawing/2014/main" id="{D8F6D9E4-7C09-4A13-3A49-FD0E420A152F}"/>
                </a:ext>
              </a:extLst>
            </p:cNvPr>
            <p:cNvSpPr txBox="1"/>
            <p:nvPr/>
          </p:nvSpPr>
          <p:spPr>
            <a:xfrm>
              <a:off x="452318" y="-693817"/>
              <a:ext cx="20868274" cy="257429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7699"/>
                </a:lnSpc>
              </a:pPr>
              <a:r>
                <a:rPr lang="en-US" sz="6000" b="1" dirty="0">
                  <a:solidFill>
                    <a:srgbClr val="0070C0"/>
                  </a:solidFill>
                </a:rPr>
                <a:t>Category 2: Scene Understanding &amp; Behavior Analysis</a:t>
              </a:r>
              <a:endParaRPr lang="en-US" sz="6000" b="1" spc="-69" dirty="0">
                <a:solidFill>
                  <a:srgbClr val="0070C0"/>
                </a:solidFill>
                <a:ea typeface="Telegraf Bold"/>
                <a:cs typeface="Telegraf Bold"/>
              </a:endParaRPr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1131FF81-A442-CA29-7A8E-2A370A0059E5}"/>
                </a:ext>
              </a:extLst>
            </p:cNvPr>
            <p:cNvSpPr txBox="1"/>
            <p:nvPr/>
          </p:nvSpPr>
          <p:spPr>
            <a:xfrm>
              <a:off x="452318" y="2826514"/>
              <a:ext cx="9182100" cy="5642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u="sng" spc="-30" dirty="0">
                  <a:latin typeface="Telegraf Bold"/>
                  <a:ea typeface="Telegraf Bold"/>
                  <a:cs typeface="Telegraf Bold"/>
                  <a:sym typeface="Telegraf Bold"/>
                </a:rPr>
                <a:t>Key Insights and Findings</a:t>
              </a:r>
              <a:r>
                <a:rPr lang="en-US" sz="3000" b="1" spc="-30" dirty="0">
                  <a:latin typeface="Telegraf Bold"/>
                  <a:ea typeface="Telegraf Bold"/>
                  <a:cs typeface="Telegraf Bold"/>
                  <a:sym typeface="Telegraf Bold"/>
                </a:rPr>
                <a:t>:</a:t>
              </a:r>
            </a:p>
          </p:txBody>
        </p:sp>
      </p:grpSp>
      <p:sp>
        <p:nvSpPr>
          <p:cNvPr id="24" name="TextBox 8">
            <a:extLst>
              <a:ext uri="{FF2B5EF4-FFF2-40B4-BE49-F238E27FC236}">
                <a16:creationId xmlns:a16="http://schemas.microsoft.com/office/drawing/2014/main" id="{32920595-302A-0DD8-FA84-6D12146450C0}"/>
              </a:ext>
            </a:extLst>
          </p:cNvPr>
          <p:cNvSpPr txBox="1"/>
          <p:nvPr/>
        </p:nvSpPr>
        <p:spPr>
          <a:xfrm>
            <a:off x="18324136" y="982298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  <p:pic>
        <p:nvPicPr>
          <p:cNvPr id="13" name="Picture 12" descr="Premier University | Center of Exellence for Quality Learning">
            <a:extLst>
              <a:ext uri="{FF2B5EF4-FFF2-40B4-BE49-F238E27FC236}">
                <a16:creationId xmlns:a16="http://schemas.microsoft.com/office/drawing/2014/main" id="{A4D8A288-068A-BAE9-389D-C07D85BC32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30" r="1575" b="1205"/>
          <a:stretch>
            <a:fillRect/>
          </a:stretch>
        </p:blipFill>
        <p:spPr>
          <a:xfrm>
            <a:off x="-60758" y="9153971"/>
            <a:ext cx="3279437" cy="1139570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9DBF4BD3-197D-4F96-950E-F6C1BB5EAC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5182" y="3776340"/>
            <a:ext cx="9313319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effectLst/>
              </a:rPr>
              <a:t>Vehicle &amp; pedestrian detection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000" b="1" i="0" u="none" strike="noStrike" cap="none" normalizeH="0" baseline="0" dirty="0">
              <a:ln>
                <a:noFill/>
              </a:ln>
              <a:effectLst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effectLst/>
              </a:rPr>
              <a:t>Road-type classification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000" b="1" i="0" u="none" strike="noStrike" cap="none" normalizeH="0" baseline="0" dirty="0">
              <a:ln>
                <a:noFill/>
              </a:ln>
              <a:effectLst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effectLst/>
              </a:rPr>
              <a:t>Multi-object tracking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000" b="1" i="0" u="none" strike="noStrike" cap="none" normalizeH="0" baseline="0" dirty="0">
              <a:ln>
                <a:noFill/>
              </a:ln>
              <a:effectLst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effectLst/>
              </a:rPr>
              <a:t>Behavior extraction (crossing, </a:t>
            </a:r>
            <a:r>
              <a:rPr kumimoji="0" lang="en-US" altLang="en-US" sz="3000" b="1" i="0" u="none" strike="noStrike" cap="none" normalizeH="0" baseline="0" dirty="0" err="1">
                <a:ln>
                  <a:noFill/>
                </a:ln>
                <a:effectLst/>
              </a:rPr>
              <a:t>ovetaking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effectLst/>
              </a:rPr>
              <a:t>, risky actions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246E44"/>
                </a:solidFill>
                <a:effectLst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23234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A7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B315EF-481C-342F-D45F-FB76657A4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C2C946D-A8AB-6105-1445-BF3BF4C07037}"/>
              </a:ext>
            </a:extLst>
          </p:cNvPr>
          <p:cNvGrpSpPr/>
          <p:nvPr/>
        </p:nvGrpSpPr>
        <p:grpSpPr>
          <a:xfrm>
            <a:off x="0" y="0"/>
            <a:ext cx="10058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45D3A24-B1E2-DA35-B078-D4069A488320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622C7CB-8721-B785-F725-D2A017B97AFD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1" name="TextBox 4">
            <a:extLst>
              <a:ext uri="{FF2B5EF4-FFF2-40B4-BE49-F238E27FC236}">
                <a16:creationId xmlns:a16="http://schemas.microsoft.com/office/drawing/2014/main" id="{FD10FC41-6A2D-D09C-737B-EA63ED190260}"/>
              </a:ext>
            </a:extLst>
          </p:cNvPr>
          <p:cNvSpPr txBox="1"/>
          <p:nvPr/>
        </p:nvSpPr>
        <p:spPr>
          <a:xfrm>
            <a:off x="-859302" y="-144661"/>
            <a:ext cx="3238500" cy="1057632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18" name="TextBox 4">
            <a:extLst>
              <a:ext uri="{FF2B5EF4-FFF2-40B4-BE49-F238E27FC236}">
                <a16:creationId xmlns:a16="http://schemas.microsoft.com/office/drawing/2014/main" id="{7D76C5C5-8B20-48E7-A3A2-2BF5EF2E4E6A}"/>
              </a:ext>
            </a:extLst>
          </p:cNvPr>
          <p:cNvSpPr txBox="1"/>
          <p:nvPr/>
        </p:nvSpPr>
        <p:spPr>
          <a:xfrm>
            <a:off x="1210309" y="3993117"/>
            <a:ext cx="7018605" cy="3900498"/>
          </a:xfrm>
          <a:prstGeom prst="rect">
            <a:avLst/>
          </a:prstGeom>
        </p:spPr>
        <p:txBody>
          <a:bodyPr lIns="50800" tIns="50800" rIns="50800" bIns="508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00"/>
              </a:lnSpc>
            </a:pPr>
            <a:r>
              <a:rPr lang="en-US" sz="2500" b="1" dirty="0">
                <a:solidFill>
                  <a:schemeClr val="bg1"/>
                </a:solidFill>
              </a:rPr>
              <a:t>***</a:t>
            </a:r>
            <a:r>
              <a:rPr lang="en-US" sz="2800" b="1" i="0" dirty="0">
                <a:solidFill>
                  <a:schemeClr val="bg1"/>
                </a:solidFill>
                <a:effectLst/>
                <a:latin typeface="ElsevierGulliver"/>
              </a:rPr>
              <a:t>Examples of correctly classified images: (a) urban predicted as urban (b) rural predicted as rural.</a:t>
            </a:r>
            <a:endParaRPr sz="2500" b="1" dirty="0">
              <a:solidFill>
                <a:schemeClr val="bg1"/>
              </a:solidFill>
            </a:endParaRPr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5E80C229-E174-5AB3-FAB3-6351B5A7160E}"/>
              </a:ext>
            </a:extLst>
          </p:cNvPr>
          <p:cNvSpPr txBox="1"/>
          <p:nvPr/>
        </p:nvSpPr>
        <p:spPr>
          <a:xfrm>
            <a:off x="3692772" y="2377677"/>
            <a:ext cx="13041921" cy="582400"/>
          </a:xfrm>
          <a:prstGeom prst="rect">
            <a:avLst/>
          </a:prstGeom>
        </p:spPr>
        <p:txBody>
          <a:bodyPr lIns="50800" tIns="50800" rIns="50800" bIns="508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BAD6D6-20A2-14F1-B878-C0C0EF002153}"/>
              </a:ext>
            </a:extLst>
          </p:cNvPr>
          <p:cNvSpPr txBox="1"/>
          <p:nvPr/>
        </p:nvSpPr>
        <p:spPr>
          <a:xfrm>
            <a:off x="1229897" y="328974"/>
            <a:ext cx="822324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</a:rPr>
              <a:t>Example (Category 2)</a:t>
            </a:r>
            <a:r>
              <a:rPr lang="en-US" sz="6000" b="1" dirty="0">
                <a:solidFill>
                  <a:schemeClr val="bg1"/>
                </a:solidFill>
                <a:ea typeface="Calibri"/>
                <a:cs typeface="Calibri"/>
              </a:rPr>
              <a:t> :</a:t>
            </a:r>
          </a:p>
        </p:txBody>
      </p:sp>
      <p:sp>
        <p:nvSpPr>
          <p:cNvPr id="28" name="Arrow" descr="Dashed Arrow">
            <a:extLst>
              <a:ext uri="{FF2B5EF4-FFF2-40B4-BE49-F238E27FC236}">
                <a16:creationId xmlns:a16="http://schemas.microsoft.com/office/drawing/2014/main" id="{E4E363DF-78BF-7047-827C-B91CD97363E6}"/>
              </a:ext>
            </a:extLst>
          </p:cNvPr>
          <p:cNvSpPr/>
          <p:nvPr/>
        </p:nvSpPr>
        <p:spPr>
          <a:xfrm rot="5400000" flipV="1">
            <a:off x="5986445" y="5267691"/>
            <a:ext cx="3060251" cy="4618908"/>
          </a:xfrm>
          <a:prstGeom prst="arc">
            <a:avLst>
              <a:gd name="adj1" fmla="val 12549592"/>
              <a:gd name="adj2" fmla="val 4002257"/>
            </a:avLst>
          </a:prstGeom>
          <a:ln w="20320">
            <a:solidFill>
              <a:schemeClr val="bg1"/>
            </a:solidFill>
            <a:prstDash val="dash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Arial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020E2B-EB57-4FC5-9640-EF7ED0D3460B}"/>
              </a:ext>
            </a:extLst>
          </p:cNvPr>
          <p:cNvSpPr txBox="1"/>
          <p:nvPr/>
        </p:nvSpPr>
        <p:spPr>
          <a:xfrm>
            <a:off x="1459083" y="1530166"/>
            <a:ext cx="7496066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Example Outputs: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</a:rPr>
              <a:t>Pedestrian crossing detection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</a:rPr>
              <a:t>Vehicle overtaking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</a:rPr>
              <a:t>Predicting risky behavior (sudden crossing, wrong-side driving)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</a:rPr>
              <a:t>Scene classification: junction, straight road, urban, rural</a:t>
            </a:r>
          </a:p>
          <a:p>
            <a:endParaRPr lang="en-US" sz="30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64403F-9B9F-45CF-BCEC-F6A88AEDB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7981" y="1044180"/>
            <a:ext cx="7938014" cy="8064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153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A7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B315EF-481C-342F-D45F-FB76657A4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C2C946D-A8AB-6105-1445-BF3BF4C07037}"/>
              </a:ext>
            </a:extLst>
          </p:cNvPr>
          <p:cNvGrpSpPr/>
          <p:nvPr/>
        </p:nvGrpSpPr>
        <p:grpSpPr>
          <a:xfrm>
            <a:off x="0" y="0"/>
            <a:ext cx="10058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45D3A24-B1E2-DA35-B078-D4069A488320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622C7CB-8721-B785-F725-D2A017B97AFD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1" name="TextBox 4">
            <a:extLst>
              <a:ext uri="{FF2B5EF4-FFF2-40B4-BE49-F238E27FC236}">
                <a16:creationId xmlns:a16="http://schemas.microsoft.com/office/drawing/2014/main" id="{FD10FC41-6A2D-D09C-737B-EA63ED190260}"/>
              </a:ext>
            </a:extLst>
          </p:cNvPr>
          <p:cNvSpPr txBox="1"/>
          <p:nvPr/>
        </p:nvSpPr>
        <p:spPr>
          <a:xfrm>
            <a:off x="-859302" y="-144661"/>
            <a:ext cx="3238500" cy="1057632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18" name="TextBox 4">
            <a:extLst>
              <a:ext uri="{FF2B5EF4-FFF2-40B4-BE49-F238E27FC236}">
                <a16:creationId xmlns:a16="http://schemas.microsoft.com/office/drawing/2014/main" id="{7D76C5C5-8B20-48E7-A3A2-2BF5EF2E4E6A}"/>
              </a:ext>
            </a:extLst>
          </p:cNvPr>
          <p:cNvSpPr txBox="1"/>
          <p:nvPr/>
        </p:nvSpPr>
        <p:spPr>
          <a:xfrm>
            <a:off x="1353138" y="818072"/>
            <a:ext cx="7018605" cy="3900498"/>
          </a:xfrm>
          <a:prstGeom prst="rect">
            <a:avLst/>
          </a:prstGeom>
        </p:spPr>
        <p:txBody>
          <a:bodyPr lIns="50800" tIns="50800" rIns="50800" bIns="508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00"/>
              </a:lnSpc>
            </a:pPr>
            <a:r>
              <a:rPr lang="en-US" sz="2500" b="1" dirty="0">
                <a:solidFill>
                  <a:schemeClr val="bg1"/>
                </a:solidFill>
              </a:rPr>
              <a:t>***</a:t>
            </a:r>
            <a:r>
              <a:rPr lang="en-US" sz="2800" b="1" i="0" dirty="0">
                <a:solidFill>
                  <a:schemeClr val="bg1"/>
                </a:solidFill>
                <a:effectLst/>
                <a:latin typeface="ElsevierGulliver"/>
              </a:rPr>
              <a:t>Examples of correctly classified images: Pedestrian crosswalk.</a:t>
            </a:r>
            <a:endParaRPr sz="2500" b="1" dirty="0">
              <a:solidFill>
                <a:schemeClr val="bg1"/>
              </a:solidFill>
            </a:endParaRPr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5E80C229-E174-5AB3-FAB3-6351B5A7160E}"/>
              </a:ext>
            </a:extLst>
          </p:cNvPr>
          <p:cNvSpPr txBox="1"/>
          <p:nvPr/>
        </p:nvSpPr>
        <p:spPr>
          <a:xfrm>
            <a:off x="3692772" y="2377677"/>
            <a:ext cx="13041921" cy="582400"/>
          </a:xfrm>
          <a:prstGeom prst="rect">
            <a:avLst/>
          </a:prstGeom>
        </p:spPr>
        <p:txBody>
          <a:bodyPr lIns="50800" tIns="50800" rIns="50800" bIns="508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BAD6D6-20A2-14F1-B878-C0C0EF002153}"/>
              </a:ext>
            </a:extLst>
          </p:cNvPr>
          <p:cNvSpPr txBox="1"/>
          <p:nvPr/>
        </p:nvSpPr>
        <p:spPr>
          <a:xfrm>
            <a:off x="1229897" y="328974"/>
            <a:ext cx="822324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</a:rPr>
              <a:t> More Example Outputs </a:t>
            </a:r>
            <a:r>
              <a:rPr lang="en-US" sz="6000" b="1" dirty="0">
                <a:solidFill>
                  <a:schemeClr val="bg1"/>
                </a:solidFill>
                <a:ea typeface="Calibri"/>
                <a:cs typeface="Calibri"/>
              </a:rPr>
              <a:t>:</a:t>
            </a:r>
          </a:p>
        </p:txBody>
      </p:sp>
      <p:sp>
        <p:nvSpPr>
          <p:cNvPr id="28" name="Arrow" descr="Dashed Arrow">
            <a:extLst>
              <a:ext uri="{FF2B5EF4-FFF2-40B4-BE49-F238E27FC236}">
                <a16:creationId xmlns:a16="http://schemas.microsoft.com/office/drawing/2014/main" id="{E4E363DF-78BF-7047-827C-B91CD97363E6}"/>
              </a:ext>
            </a:extLst>
          </p:cNvPr>
          <p:cNvSpPr/>
          <p:nvPr/>
        </p:nvSpPr>
        <p:spPr>
          <a:xfrm rot="5400000" flipV="1">
            <a:off x="5158021" y="1889550"/>
            <a:ext cx="3060251" cy="4618908"/>
          </a:xfrm>
          <a:prstGeom prst="arc">
            <a:avLst>
              <a:gd name="adj1" fmla="val 12549592"/>
              <a:gd name="adj2" fmla="val 4002257"/>
            </a:avLst>
          </a:prstGeom>
          <a:ln w="20320">
            <a:solidFill>
              <a:schemeClr val="bg1"/>
            </a:solidFill>
            <a:prstDash val="dash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Arial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9E0FB9-FC3F-448D-B1F6-2B9CC0C7F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9415" y="1589672"/>
            <a:ext cx="9306991" cy="7407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0237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87475-6410-CF0C-8E19-FB05FF840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145F91B-82E0-9524-F9AD-2E71B99829FD}"/>
              </a:ext>
            </a:extLst>
          </p:cNvPr>
          <p:cNvGrpSpPr/>
          <p:nvPr/>
        </p:nvGrpSpPr>
        <p:grpSpPr>
          <a:xfrm>
            <a:off x="0" y="0"/>
            <a:ext cx="7180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7CC6F21-476F-F6C4-1220-D6E239938C64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0A78677-C335-ADAB-3B22-B310479E397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2">
            <a:extLst>
              <a:ext uri="{FF2B5EF4-FFF2-40B4-BE49-F238E27FC236}">
                <a16:creationId xmlns:a16="http://schemas.microsoft.com/office/drawing/2014/main" id="{BB7C5304-BDF2-992B-79E0-A983C88100E2}"/>
              </a:ext>
            </a:extLst>
          </p:cNvPr>
          <p:cNvGrpSpPr/>
          <p:nvPr/>
        </p:nvGrpSpPr>
        <p:grpSpPr>
          <a:xfrm>
            <a:off x="714289" y="-144661"/>
            <a:ext cx="2300654" cy="10576322"/>
            <a:chOff x="-1879943" y="-76200"/>
            <a:chExt cx="2732881" cy="2785533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DBA0272D-4BAB-7670-D1DD-C84C70AD8FA2}"/>
                </a:ext>
              </a:extLst>
            </p:cNvPr>
            <p:cNvSpPr/>
            <p:nvPr/>
          </p:nvSpPr>
          <p:spPr>
            <a:xfrm>
              <a:off x="-1879943" y="-46313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A7E1"/>
            </a:solidFill>
            <a:ln>
              <a:solidFill>
                <a:srgbClr val="A0D9F7"/>
              </a:solidFill>
            </a:ln>
          </p:spPr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E629E917-63F7-6CB6-8C04-070C4079ECD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AutoShape 12">
            <a:extLst>
              <a:ext uri="{FF2B5EF4-FFF2-40B4-BE49-F238E27FC236}">
                <a16:creationId xmlns:a16="http://schemas.microsoft.com/office/drawing/2014/main" id="{7DF2B862-FCED-1A3F-7699-A9F1DF3268B6}"/>
              </a:ext>
            </a:extLst>
          </p:cNvPr>
          <p:cNvSpPr/>
          <p:nvPr/>
        </p:nvSpPr>
        <p:spPr>
          <a:xfrm flipV="1">
            <a:off x="1384788" y="9634904"/>
            <a:ext cx="16851923" cy="29307"/>
          </a:xfrm>
          <a:prstGeom prst="line">
            <a:avLst/>
          </a:prstGeom>
          <a:ln w="57150" cap="flat">
            <a:solidFill>
              <a:srgbClr val="13A451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F2CD3060-15FC-0A50-2A42-6CE4FC65CB86}"/>
              </a:ext>
            </a:extLst>
          </p:cNvPr>
          <p:cNvSpPr txBox="1"/>
          <p:nvPr/>
        </p:nvSpPr>
        <p:spPr>
          <a:xfrm>
            <a:off x="18362013" y="9735057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D8F6D9E4-7C09-4A13-3A49-FD0E420A152F}"/>
              </a:ext>
            </a:extLst>
          </p:cNvPr>
          <p:cNvSpPr txBox="1"/>
          <p:nvPr/>
        </p:nvSpPr>
        <p:spPr>
          <a:xfrm>
            <a:off x="2249593" y="1014404"/>
            <a:ext cx="10799461" cy="9435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699"/>
              </a:lnSpc>
            </a:pPr>
            <a:r>
              <a:rPr lang="en-US" sz="6000" b="1" dirty="0">
                <a:solidFill>
                  <a:srgbClr val="0070C0"/>
                </a:solidFill>
              </a:rPr>
              <a:t>Conclusion &amp; Implementation:</a:t>
            </a:r>
            <a:endParaRPr lang="en-US" sz="6000" b="1" spc="-69" dirty="0">
              <a:solidFill>
                <a:srgbClr val="0070C0"/>
              </a:solidFill>
              <a:latin typeface="Arial Black"/>
              <a:ea typeface="Telegraf Bold"/>
              <a:cs typeface="Telegraf Bold"/>
            </a:endParaRPr>
          </a:p>
        </p:txBody>
      </p:sp>
      <p:sp>
        <p:nvSpPr>
          <p:cNvPr id="24" name="TextBox 8">
            <a:extLst>
              <a:ext uri="{FF2B5EF4-FFF2-40B4-BE49-F238E27FC236}">
                <a16:creationId xmlns:a16="http://schemas.microsoft.com/office/drawing/2014/main" id="{32920595-302A-0DD8-FA84-6D12146450C0}"/>
              </a:ext>
            </a:extLst>
          </p:cNvPr>
          <p:cNvSpPr txBox="1"/>
          <p:nvPr/>
        </p:nvSpPr>
        <p:spPr>
          <a:xfrm>
            <a:off x="18324136" y="982298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  <p:pic>
        <p:nvPicPr>
          <p:cNvPr id="13" name="Picture 12" descr="Premier University | Center of Exellence for Quality Learning">
            <a:extLst>
              <a:ext uri="{FF2B5EF4-FFF2-40B4-BE49-F238E27FC236}">
                <a16:creationId xmlns:a16="http://schemas.microsoft.com/office/drawing/2014/main" id="{A4D8A288-068A-BAE9-389D-C07D85BC32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30" r="1575" b="1205"/>
          <a:stretch>
            <a:fillRect/>
          </a:stretch>
        </p:blipFill>
        <p:spPr>
          <a:xfrm>
            <a:off x="-60758" y="9153971"/>
            <a:ext cx="3279437" cy="113957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C060F8D-6659-4BEC-B31E-93AE480F9AF2}"/>
              </a:ext>
            </a:extLst>
          </p:cNvPr>
          <p:cNvSpPr txBox="1"/>
          <p:nvPr/>
        </p:nvSpPr>
        <p:spPr>
          <a:xfrm>
            <a:off x="1841379" y="2582394"/>
            <a:ext cx="68140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000" b="1" dirty="0"/>
              <a:t>Scene &amp; behavior analysis is essential for FPV systems.</a:t>
            </a:r>
            <a:br>
              <a:rPr lang="en-US" sz="3000" b="1" dirty="0"/>
            </a:br>
            <a:r>
              <a:rPr lang="en-US" sz="3000" b="1" dirty="0"/>
              <a:t>It gives meaning to objects by analyzing how they move</a:t>
            </a:r>
            <a:r>
              <a:rPr lang="en-US" sz="3000" dirty="0"/>
              <a:t>.</a:t>
            </a:r>
            <a:endParaRPr lang="en-US" sz="3000" b="1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CA4F446-4869-4D4C-A10B-E339DD0A1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2603" y="2598182"/>
            <a:ext cx="11070772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Action classification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(Body)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Behavior detection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(Body)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Risk assessment</a:t>
            </a:r>
          </a:p>
        </p:txBody>
      </p:sp>
    </p:spTree>
    <p:extLst>
      <p:ext uri="{BB962C8B-B14F-4D97-AF65-F5344CB8AC3E}">
        <p14:creationId xmlns:p14="http://schemas.microsoft.com/office/powerpoint/2010/main" val="15941063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87475-6410-CF0C-8E19-FB05FF840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145F91B-82E0-9524-F9AD-2E71B99829FD}"/>
              </a:ext>
            </a:extLst>
          </p:cNvPr>
          <p:cNvGrpSpPr/>
          <p:nvPr/>
        </p:nvGrpSpPr>
        <p:grpSpPr>
          <a:xfrm>
            <a:off x="0" y="0"/>
            <a:ext cx="7180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7CC6F21-476F-F6C4-1220-D6E239938C64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0A78677-C335-ADAB-3B22-B310479E397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2">
            <a:extLst>
              <a:ext uri="{FF2B5EF4-FFF2-40B4-BE49-F238E27FC236}">
                <a16:creationId xmlns:a16="http://schemas.microsoft.com/office/drawing/2014/main" id="{BB7C5304-BDF2-992B-79E0-A983C88100E2}"/>
              </a:ext>
            </a:extLst>
          </p:cNvPr>
          <p:cNvGrpSpPr/>
          <p:nvPr/>
        </p:nvGrpSpPr>
        <p:grpSpPr>
          <a:xfrm>
            <a:off x="666978" y="-144661"/>
            <a:ext cx="2300654" cy="10576322"/>
            <a:chOff x="-1879943" y="-76200"/>
            <a:chExt cx="2732881" cy="2785533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DBA0272D-4BAB-7670-D1DD-C84C70AD8FA2}"/>
                </a:ext>
              </a:extLst>
            </p:cNvPr>
            <p:cNvSpPr/>
            <p:nvPr/>
          </p:nvSpPr>
          <p:spPr>
            <a:xfrm>
              <a:off x="-1879943" y="-46313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A7E1"/>
            </a:solidFill>
            <a:ln>
              <a:solidFill>
                <a:srgbClr val="A0D9F7"/>
              </a:solidFill>
            </a:ln>
          </p:spPr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E629E917-63F7-6CB6-8C04-070C4079ECD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AutoShape 12">
            <a:extLst>
              <a:ext uri="{FF2B5EF4-FFF2-40B4-BE49-F238E27FC236}">
                <a16:creationId xmlns:a16="http://schemas.microsoft.com/office/drawing/2014/main" id="{7DF2B862-FCED-1A3F-7699-A9F1DF3268B6}"/>
              </a:ext>
            </a:extLst>
          </p:cNvPr>
          <p:cNvSpPr/>
          <p:nvPr/>
        </p:nvSpPr>
        <p:spPr>
          <a:xfrm flipV="1">
            <a:off x="1384788" y="9634904"/>
            <a:ext cx="16851923" cy="29307"/>
          </a:xfrm>
          <a:prstGeom prst="line">
            <a:avLst/>
          </a:prstGeom>
          <a:ln w="57150" cap="flat">
            <a:solidFill>
              <a:srgbClr val="13A451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F2CD3060-15FC-0A50-2A42-6CE4FC65CB86}"/>
              </a:ext>
            </a:extLst>
          </p:cNvPr>
          <p:cNvSpPr txBox="1"/>
          <p:nvPr/>
        </p:nvSpPr>
        <p:spPr>
          <a:xfrm>
            <a:off x="18362013" y="9735057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  <p:grpSp>
        <p:nvGrpSpPr>
          <p:cNvPr id="12" name="Group 2">
            <a:extLst>
              <a:ext uri="{FF2B5EF4-FFF2-40B4-BE49-F238E27FC236}">
                <a16:creationId xmlns:a16="http://schemas.microsoft.com/office/drawing/2014/main" id="{C34B11E4-14ED-8F65-9400-0A61A83AD631}"/>
              </a:ext>
            </a:extLst>
          </p:cNvPr>
          <p:cNvGrpSpPr/>
          <p:nvPr/>
        </p:nvGrpSpPr>
        <p:grpSpPr>
          <a:xfrm>
            <a:off x="1823395" y="260938"/>
            <a:ext cx="15485761" cy="2038120"/>
            <a:chOff x="1146768" y="502059"/>
            <a:chExt cx="27266200" cy="3085785"/>
          </a:xfrm>
        </p:grpSpPr>
        <p:sp>
          <p:nvSpPr>
            <p:cNvPr id="6" name="TextBox 3">
              <a:extLst>
                <a:ext uri="{FF2B5EF4-FFF2-40B4-BE49-F238E27FC236}">
                  <a16:creationId xmlns:a16="http://schemas.microsoft.com/office/drawing/2014/main" id="{D8F6D9E4-7C09-4A13-3A49-FD0E420A152F}"/>
                </a:ext>
              </a:extLst>
            </p:cNvPr>
            <p:cNvSpPr txBox="1"/>
            <p:nvPr/>
          </p:nvSpPr>
          <p:spPr>
            <a:xfrm>
              <a:off x="1146768" y="502059"/>
              <a:ext cx="27266200" cy="142814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7699"/>
                </a:lnSpc>
              </a:pPr>
              <a:r>
                <a:rPr lang="en-US" sz="6000" b="1" dirty="0">
                  <a:solidFill>
                    <a:srgbClr val="0070C0"/>
                  </a:solidFill>
                </a:rPr>
                <a:t>Category 3: Temporal Traffic Modeling</a:t>
              </a:r>
              <a:endParaRPr lang="en-US" sz="6000" b="1" spc="-69" dirty="0">
                <a:solidFill>
                  <a:srgbClr val="0070C0"/>
                </a:solidFill>
                <a:latin typeface="Arial Black"/>
                <a:ea typeface="Telegraf Bold"/>
                <a:cs typeface="Telegraf Bold"/>
              </a:endParaRPr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1131FF81-A442-CA29-7A8E-2A370A0059E5}"/>
                </a:ext>
              </a:extLst>
            </p:cNvPr>
            <p:cNvSpPr txBox="1"/>
            <p:nvPr/>
          </p:nvSpPr>
          <p:spPr>
            <a:xfrm>
              <a:off x="1146768" y="2947115"/>
              <a:ext cx="9182101" cy="6407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u="sng" spc="-30" dirty="0">
                  <a:latin typeface="Telegraf Bold"/>
                  <a:ea typeface="Telegraf Bold"/>
                  <a:cs typeface="Telegraf Bold"/>
                  <a:sym typeface="Telegraf Bold"/>
                </a:rPr>
                <a:t>Key Insights and Findings</a:t>
              </a:r>
              <a:r>
                <a:rPr lang="en-US" sz="3000" b="1" spc="-30" dirty="0">
                  <a:solidFill>
                    <a:srgbClr val="004D4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:</a:t>
              </a:r>
            </a:p>
          </p:txBody>
        </p:sp>
      </p:grpSp>
      <p:sp>
        <p:nvSpPr>
          <p:cNvPr id="24" name="TextBox 8">
            <a:extLst>
              <a:ext uri="{FF2B5EF4-FFF2-40B4-BE49-F238E27FC236}">
                <a16:creationId xmlns:a16="http://schemas.microsoft.com/office/drawing/2014/main" id="{32920595-302A-0DD8-FA84-6D12146450C0}"/>
              </a:ext>
            </a:extLst>
          </p:cNvPr>
          <p:cNvSpPr txBox="1"/>
          <p:nvPr/>
        </p:nvSpPr>
        <p:spPr>
          <a:xfrm>
            <a:off x="18324136" y="982298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  <p:pic>
        <p:nvPicPr>
          <p:cNvPr id="13" name="Picture 12" descr="Premier University | Center of Exellence for Quality Learning">
            <a:extLst>
              <a:ext uri="{FF2B5EF4-FFF2-40B4-BE49-F238E27FC236}">
                <a16:creationId xmlns:a16="http://schemas.microsoft.com/office/drawing/2014/main" id="{A4D8A288-068A-BAE9-389D-C07D85BC32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30" r="1575" b="1205"/>
          <a:stretch>
            <a:fillRect/>
          </a:stretch>
        </p:blipFill>
        <p:spPr>
          <a:xfrm>
            <a:off x="-60758" y="9153971"/>
            <a:ext cx="3279437" cy="1139570"/>
          </a:xfrm>
          <a:prstGeom prst="rect">
            <a:avLst/>
          </a:prstGeom>
        </p:spPr>
      </p:pic>
      <p:sp>
        <p:nvSpPr>
          <p:cNvPr id="16" name="Rectangle 3">
            <a:extLst>
              <a:ext uri="{FF2B5EF4-FFF2-40B4-BE49-F238E27FC236}">
                <a16:creationId xmlns:a16="http://schemas.microsoft.com/office/drawing/2014/main" id="{9F229A23-D980-4FF5-8BBC-890D6862C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3395" y="2749511"/>
            <a:ext cx="5193409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Object movement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Speed changes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Direction changes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Interaction between objects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Event development </a:t>
            </a:r>
          </a:p>
        </p:txBody>
      </p:sp>
    </p:spTree>
    <p:extLst>
      <p:ext uri="{BB962C8B-B14F-4D97-AF65-F5344CB8AC3E}">
        <p14:creationId xmlns:p14="http://schemas.microsoft.com/office/powerpoint/2010/main" val="30590605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A7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B315EF-481C-342F-D45F-FB76657A4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C2C946D-A8AB-6105-1445-BF3BF4C07037}"/>
              </a:ext>
            </a:extLst>
          </p:cNvPr>
          <p:cNvGrpSpPr/>
          <p:nvPr/>
        </p:nvGrpSpPr>
        <p:grpSpPr>
          <a:xfrm>
            <a:off x="0" y="0"/>
            <a:ext cx="10058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45D3A24-B1E2-DA35-B078-D4069A488320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622C7CB-8721-B785-F725-D2A017B97AFD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1" name="TextBox 4">
            <a:extLst>
              <a:ext uri="{FF2B5EF4-FFF2-40B4-BE49-F238E27FC236}">
                <a16:creationId xmlns:a16="http://schemas.microsoft.com/office/drawing/2014/main" id="{FD10FC41-6A2D-D09C-737B-EA63ED190260}"/>
              </a:ext>
            </a:extLst>
          </p:cNvPr>
          <p:cNvSpPr txBox="1"/>
          <p:nvPr/>
        </p:nvSpPr>
        <p:spPr>
          <a:xfrm>
            <a:off x="-859302" y="-144661"/>
            <a:ext cx="3238500" cy="1057632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18" name="TextBox 4">
            <a:extLst>
              <a:ext uri="{FF2B5EF4-FFF2-40B4-BE49-F238E27FC236}">
                <a16:creationId xmlns:a16="http://schemas.microsoft.com/office/drawing/2014/main" id="{7D76C5C5-8B20-48E7-A3A2-2BF5EF2E4E6A}"/>
              </a:ext>
            </a:extLst>
          </p:cNvPr>
          <p:cNvSpPr txBox="1"/>
          <p:nvPr/>
        </p:nvSpPr>
        <p:spPr>
          <a:xfrm>
            <a:off x="1350591" y="3193251"/>
            <a:ext cx="7018605" cy="3900498"/>
          </a:xfrm>
          <a:prstGeom prst="rect">
            <a:avLst/>
          </a:prstGeom>
        </p:spPr>
        <p:txBody>
          <a:bodyPr lIns="50800" tIns="50800" rIns="50800" bIns="508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00"/>
              </a:lnSpc>
            </a:pPr>
            <a:r>
              <a:rPr lang="en-US" sz="2500" b="1" dirty="0">
                <a:solidFill>
                  <a:schemeClr val="bg1"/>
                </a:solidFill>
              </a:rPr>
              <a:t>***</a:t>
            </a:r>
            <a:r>
              <a:rPr lang="en-US" sz="3000" b="1" i="0" dirty="0">
                <a:solidFill>
                  <a:schemeClr val="bg1"/>
                </a:solidFill>
                <a:effectLst/>
              </a:rPr>
              <a:t>A structural description of pedestrian movement behavior in multiple surveillance videos</a:t>
            </a:r>
          </a:p>
          <a:p>
            <a:pPr>
              <a:lnSpc>
                <a:spcPts val="2800"/>
              </a:lnSpc>
            </a:pPr>
            <a:r>
              <a:rPr lang="en-US" sz="3000" b="0" i="0" dirty="0">
                <a:solidFill>
                  <a:schemeClr val="bg1"/>
                </a:solidFill>
                <a:effectLst/>
              </a:rPr>
              <a:t>.</a:t>
            </a:r>
            <a:endParaRPr sz="3000" b="1" dirty="0">
              <a:solidFill>
                <a:schemeClr val="bg1"/>
              </a:solidFill>
            </a:endParaRPr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5E80C229-E174-5AB3-FAB3-6351B5A7160E}"/>
              </a:ext>
            </a:extLst>
          </p:cNvPr>
          <p:cNvSpPr txBox="1"/>
          <p:nvPr/>
        </p:nvSpPr>
        <p:spPr>
          <a:xfrm>
            <a:off x="3692772" y="2377677"/>
            <a:ext cx="13041921" cy="582400"/>
          </a:xfrm>
          <a:prstGeom prst="rect">
            <a:avLst/>
          </a:prstGeom>
        </p:spPr>
        <p:txBody>
          <a:bodyPr lIns="50800" tIns="50800" rIns="50800" bIns="508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BAD6D6-20A2-14F1-B878-C0C0EF002153}"/>
              </a:ext>
            </a:extLst>
          </p:cNvPr>
          <p:cNvSpPr txBox="1"/>
          <p:nvPr/>
        </p:nvSpPr>
        <p:spPr>
          <a:xfrm>
            <a:off x="1229897" y="328974"/>
            <a:ext cx="822324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</a:rPr>
              <a:t>Example (Category 3)</a:t>
            </a:r>
            <a:r>
              <a:rPr lang="en-US" sz="6000" b="1" dirty="0">
                <a:solidFill>
                  <a:schemeClr val="bg1"/>
                </a:solidFill>
                <a:ea typeface="Calibri"/>
                <a:cs typeface="Calibri"/>
              </a:rPr>
              <a:t> :</a:t>
            </a:r>
          </a:p>
        </p:txBody>
      </p:sp>
      <p:sp>
        <p:nvSpPr>
          <p:cNvPr id="28" name="Arrow" descr="Dashed Arrow">
            <a:extLst>
              <a:ext uri="{FF2B5EF4-FFF2-40B4-BE49-F238E27FC236}">
                <a16:creationId xmlns:a16="http://schemas.microsoft.com/office/drawing/2014/main" id="{E4E363DF-78BF-7047-827C-B91CD97363E6}"/>
              </a:ext>
            </a:extLst>
          </p:cNvPr>
          <p:cNvSpPr/>
          <p:nvPr/>
        </p:nvSpPr>
        <p:spPr>
          <a:xfrm rot="5400000" flipV="1">
            <a:off x="6164354" y="4568422"/>
            <a:ext cx="3060251" cy="3238501"/>
          </a:xfrm>
          <a:prstGeom prst="arc">
            <a:avLst>
              <a:gd name="adj1" fmla="val 12549592"/>
              <a:gd name="adj2" fmla="val 4002257"/>
            </a:avLst>
          </a:prstGeom>
          <a:ln w="20320">
            <a:solidFill>
              <a:schemeClr val="bg1"/>
            </a:solidFill>
            <a:prstDash val="dash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Arial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020E2B-EB57-4FC5-9640-EF7ED0D3460B}"/>
              </a:ext>
            </a:extLst>
          </p:cNvPr>
          <p:cNvSpPr txBox="1"/>
          <p:nvPr/>
        </p:nvSpPr>
        <p:spPr>
          <a:xfrm>
            <a:off x="1350591" y="1554542"/>
            <a:ext cx="7496066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Example Outputs:</a:t>
            </a:r>
            <a:endParaRPr lang="en-US" sz="32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chemeClr val="bg1"/>
                </a:solidFill>
              </a:rPr>
              <a:t>Object trajectory mapping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chemeClr val="bg1"/>
                </a:solidFill>
              </a:rPr>
              <a:t>Predicting near-miss events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chemeClr val="bg1"/>
                </a:solidFill>
              </a:rPr>
              <a:t>Behavior timeline generation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chemeClr val="bg1"/>
                </a:solidFill>
              </a:rPr>
              <a:t>Motion curve analysis</a:t>
            </a:r>
          </a:p>
          <a:p>
            <a:endParaRPr lang="en-US" sz="3000" b="1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E5EE3C-B099-42C0-A4FD-D52E302EAB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5887" y="736742"/>
            <a:ext cx="8223249" cy="7683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544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A7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B315EF-481C-342F-D45F-FB76657A4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C2C946D-A8AB-6105-1445-BF3BF4C07037}"/>
              </a:ext>
            </a:extLst>
          </p:cNvPr>
          <p:cNvGrpSpPr/>
          <p:nvPr/>
        </p:nvGrpSpPr>
        <p:grpSpPr>
          <a:xfrm>
            <a:off x="0" y="0"/>
            <a:ext cx="10058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45D3A24-B1E2-DA35-B078-D4069A488320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622C7CB-8721-B785-F725-D2A017B97AFD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1" name="TextBox 4">
            <a:extLst>
              <a:ext uri="{FF2B5EF4-FFF2-40B4-BE49-F238E27FC236}">
                <a16:creationId xmlns:a16="http://schemas.microsoft.com/office/drawing/2014/main" id="{FD10FC41-6A2D-D09C-737B-EA63ED190260}"/>
              </a:ext>
            </a:extLst>
          </p:cNvPr>
          <p:cNvSpPr txBox="1"/>
          <p:nvPr/>
        </p:nvSpPr>
        <p:spPr>
          <a:xfrm>
            <a:off x="-859302" y="-144661"/>
            <a:ext cx="3238500" cy="1057632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18" name="TextBox 4">
            <a:extLst>
              <a:ext uri="{FF2B5EF4-FFF2-40B4-BE49-F238E27FC236}">
                <a16:creationId xmlns:a16="http://schemas.microsoft.com/office/drawing/2014/main" id="{7D76C5C5-8B20-48E7-A3A2-2BF5EF2E4E6A}"/>
              </a:ext>
            </a:extLst>
          </p:cNvPr>
          <p:cNvSpPr txBox="1"/>
          <p:nvPr/>
        </p:nvSpPr>
        <p:spPr>
          <a:xfrm>
            <a:off x="1178627" y="578645"/>
            <a:ext cx="7018605" cy="3900498"/>
          </a:xfrm>
          <a:prstGeom prst="rect">
            <a:avLst/>
          </a:prstGeom>
        </p:spPr>
        <p:txBody>
          <a:bodyPr lIns="50800" tIns="50800" rIns="50800" bIns="508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00"/>
              </a:lnSpc>
            </a:pPr>
            <a:r>
              <a:rPr lang="en-US" sz="2500" b="1" dirty="0">
                <a:solidFill>
                  <a:schemeClr val="bg1"/>
                </a:solidFill>
              </a:rPr>
              <a:t>***</a:t>
            </a:r>
            <a:r>
              <a:rPr lang="en-US" sz="3000" b="1" i="0" dirty="0">
                <a:solidFill>
                  <a:schemeClr val="bg1"/>
                </a:solidFill>
                <a:effectLst/>
              </a:rPr>
              <a:t>A structural description of pedestrian movement behavior in multiple surveillance videos</a:t>
            </a:r>
          </a:p>
          <a:p>
            <a:pPr>
              <a:lnSpc>
                <a:spcPts val="2800"/>
              </a:lnSpc>
            </a:pPr>
            <a:r>
              <a:rPr lang="en-US" sz="3000" b="0" i="0" dirty="0">
                <a:solidFill>
                  <a:schemeClr val="bg1"/>
                </a:solidFill>
                <a:effectLst/>
              </a:rPr>
              <a:t>.</a:t>
            </a:r>
            <a:endParaRPr sz="3000" b="1" dirty="0">
              <a:solidFill>
                <a:schemeClr val="bg1"/>
              </a:solidFill>
            </a:endParaRPr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5E80C229-E174-5AB3-FAB3-6351B5A7160E}"/>
              </a:ext>
            </a:extLst>
          </p:cNvPr>
          <p:cNvSpPr txBox="1"/>
          <p:nvPr/>
        </p:nvSpPr>
        <p:spPr>
          <a:xfrm>
            <a:off x="3692772" y="2377677"/>
            <a:ext cx="13041921" cy="582400"/>
          </a:xfrm>
          <a:prstGeom prst="rect">
            <a:avLst/>
          </a:prstGeom>
        </p:spPr>
        <p:txBody>
          <a:bodyPr lIns="50800" tIns="50800" rIns="50800" bIns="508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BAD6D6-20A2-14F1-B878-C0C0EF002153}"/>
              </a:ext>
            </a:extLst>
          </p:cNvPr>
          <p:cNvSpPr txBox="1"/>
          <p:nvPr/>
        </p:nvSpPr>
        <p:spPr>
          <a:xfrm>
            <a:off x="1229897" y="328974"/>
            <a:ext cx="822324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</a:rPr>
              <a:t>More Example Outputs</a:t>
            </a:r>
            <a:r>
              <a:rPr lang="en-US" sz="6000" b="1" dirty="0">
                <a:solidFill>
                  <a:schemeClr val="bg1"/>
                </a:solidFill>
                <a:ea typeface="Calibri"/>
                <a:cs typeface="Calibri"/>
              </a:rPr>
              <a:t>:</a:t>
            </a:r>
          </a:p>
        </p:txBody>
      </p:sp>
      <p:sp>
        <p:nvSpPr>
          <p:cNvPr id="28" name="Arrow" descr="Dashed Arrow">
            <a:extLst>
              <a:ext uri="{FF2B5EF4-FFF2-40B4-BE49-F238E27FC236}">
                <a16:creationId xmlns:a16="http://schemas.microsoft.com/office/drawing/2014/main" id="{E4E363DF-78BF-7047-827C-B91CD97363E6}"/>
              </a:ext>
            </a:extLst>
          </p:cNvPr>
          <p:cNvSpPr/>
          <p:nvPr/>
        </p:nvSpPr>
        <p:spPr>
          <a:xfrm rot="5400000" flipV="1">
            <a:off x="4789877" y="2343396"/>
            <a:ext cx="3060251" cy="3238501"/>
          </a:xfrm>
          <a:prstGeom prst="arc">
            <a:avLst>
              <a:gd name="adj1" fmla="val 12549592"/>
              <a:gd name="adj2" fmla="val 4002257"/>
            </a:avLst>
          </a:prstGeom>
          <a:ln w="20320">
            <a:solidFill>
              <a:schemeClr val="bg1"/>
            </a:solidFill>
            <a:prstDash val="dash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Arial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020E2B-EB57-4FC5-9640-EF7ED0D3460B}"/>
              </a:ext>
            </a:extLst>
          </p:cNvPr>
          <p:cNvSpPr txBox="1"/>
          <p:nvPr/>
        </p:nvSpPr>
        <p:spPr>
          <a:xfrm>
            <a:off x="1229897" y="2432521"/>
            <a:ext cx="749606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3000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F38364-9589-43FD-8103-2C9A4C110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9253" y="1410778"/>
            <a:ext cx="9907876" cy="7684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2329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87475-6410-CF0C-8E19-FB05FF840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145F91B-82E0-9524-F9AD-2E71B99829FD}"/>
              </a:ext>
            </a:extLst>
          </p:cNvPr>
          <p:cNvGrpSpPr/>
          <p:nvPr/>
        </p:nvGrpSpPr>
        <p:grpSpPr>
          <a:xfrm>
            <a:off x="0" y="0"/>
            <a:ext cx="718039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7CC6F21-476F-F6C4-1220-D6E239938C64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0A78677-C335-ADAB-3B22-B310479E397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2">
            <a:extLst>
              <a:ext uri="{FF2B5EF4-FFF2-40B4-BE49-F238E27FC236}">
                <a16:creationId xmlns:a16="http://schemas.microsoft.com/office/drawing/2014/main" id="{BB7C5304-BDF2-992B-79E0-A983C88100E2}"/>
              </a:ext>
            </a:extLst>
          </p:cNvPr>
          <p:cNvGrpSpPr/>
          <p:nvPr/>
        </p:nvGrpSpPr>
        <p:grpSpPr>
          <a:xfrm>
            <a:off x="666978" y="-144661"/>
            <a:ext cx="2300654" cy="10576322"/>
            <a:chOff x="-1879943" y="-76200"/>
            <a:chExt cx="2732881" cy="2785533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DBA0272D-4BAB-7670-D1DD-C84C70AD8FA2}"/>
                </a:ext>
              </a:extLst>
            </p:cNvPr>
            <p:cNvSpPr/>
            <p:nvPr/>
          </p:nvSpPr>
          <p:spPr>
            <a:xfrm>
              <a:off x="-1879943" y="-46313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AA7E1"/>
            </a:solidFill>
            <a:ln>
              <a:solidFill>
                <a:srgbClr val="A0D9F7"/>
              </a:solidFill>
            </a:ln>
          </p:spPr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E629E917-63F7-6CB6-8C04-070C4079ECD8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AutoShape 12">
            <a:extLst>
              <a:ext uri="{FF2B5EF4-FFF2-40B4-BE49-F238E27FC236}">
                <a16:creationId xmlns:a16="http://schemas.microsoft.com/office/drawing/2014/main" id="{7DF2B862-FCED-1A3F-7699-A9F1DF3268B6}"/>
              </a:ext>
            </a:extLst>
          </p:cNvPr>
          <p:cNvSpPr/>
          <p:nvPr/>
        </p:nvSpPr>
        <p:spPr>
          <a:xfrm flipV="1">
            <a:off x="1384788" y="9634904"/>
            <a:ext cx="16851923" cy="29307"/>
          </a:xfrm>
          <a:prstGeom prst="line">
            <a:avLst/>
          </a:prstGeom>
          <a:ln w="57150" cap="flat">
            <a:solidFill>
              <a:srgbClr val="13A451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F2CD3060-15FC-0A50-2A42-6CE4FC65CB86}"/>
              </a:ext>
            </a:extLst>
          </p:cNvPr>
          <p:cNvSpPr txBox="1"/>
          <p:nvPr/>
        </p:nvSpPr>
        <p:spPr>
          <a:xfrm>
            <a:off x="18362013" y="9735057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D8F6D9E4-7C09-4A13-3A49-FD0E420A152F}"/>
              </a:ext>
            </a:extLst>
          </p:cNvPr>
          <p:cNvSpPr txBox="1"/>
          <p:nvPr/>
        </p:nvSpPr>
        <p:spPr>
          <a:xfrm>
            <a:off x="2249593" y="1014404"/>
            <a:ext cx="10799461" cy="9435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699"/>
              </a:lnSpc>
            </a:pPr>
            <a:r>
              <a:rPr lang="en-US" sz="6000" b="1" dirty="0">
                <a:solidFill>
                  <a:srgbClr val="0070C0"/>
                </a:solidFill>
              </a:rPr>
              <a:t>Conclusion &amp; Implementation:</a:t>
            </a:r>
            <a:endParaRPr lang="en-US" sz="6000" b="1" spc="-69" dirty="0">
              <a:solidFill>
                <a:srgbClr val="0070C0"/>
              </a:solidFill>
              <a:latin typeface="Arial Black"/>
              <a:ea typeface="Telegraf Bold"/>
              <a:cs typeface="Telegraf Bold"/>
            </a:endParaRPr>
          </a:p>
        </p:txBody>
      </p:sp>
      <p:sp>
        <p:nvSpPr>
          <p:cNvPr id="24" name="TextBox 8">
            <a:extLst>
              <a:ext uri="{FF2B5EF4-FFF2-40B4-BE49-F238E27FC236}">
                <a16:creationId xmlns:a16="http://schemas.microsoft.com/office/drawing/2014/main" id="{32920595-302A-0DD8-FA84-6D12146450C0}"/>
              </a:ext>
            </a:extLst>
          </p:cNvPr>
          <p:cNvSpPr txBox="1"/>
          <p:nvPr/>
        </p:nvSpPr>
        <p:spPr>
          <a:xfrm>
            <a:off x="18324136" y="982298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004D40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  <p:pic>
        <p:nvPicPr>
          <p:cNvPr id="13" name="Picture 12" descr="Premier University | Center of Exellence for Quality Learning">
            <a:extLst>
              <a:ext uri="{FF2B5EF4-FFF2-40B4-BE49-F238E27FC236}">
                <a16:creationId xmlns:a16="http://schemas.microsoft.com/office/drawing/2014/main" id="{A4D8A288-068A-BAE9-389D-C07D85BC32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30" r="1575" b="1205"/>
          <a:stretch>
            <a:fillRect/>
          </a:stretch>
        </p:blipFill>
        <p:spPr>
          <a:xfrm>
            <a:off x="-60758" y="9153971"/>
            <a:ext cx="3279437" cy="113957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C060F8D-6659-4BEC-B31E-93AE480F9AF2}"/>
              </a:ext>
            </a:extLst>
          </p:cNvPr>
          <p:cNvSpPr txBox="1"/>
          <p:nvPr/>
        </p:nvSpPr>
        <p:spPr>
          <a:xfrm>
            <a:off x="2000287" y="2908830"/>
            <a:ext cx="673549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000" b="1" dirty="0"/>
              <a:t>Temporal modeling helps detect events such as sudden jumps, near misses, or risky movements.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22060E6-A020-4368-88CA-61C8A9A4DB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94652" y="2908830"/>
            <a:ext cx="5793061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Continuous FPV video processing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Event detection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Multi-frame risk scoring</a:t>
            </a:r>
          </a:p>
        </p:txBody>
      </p:sp>
    </p:spTree>
    <p:extLst>
      <p:ext uri="{BB962C8B-B14F-4D97-AF65-F5344CB8AC3E}">
        <p14:creationId xmlns:p14="http://schemas.microsoft.com/office/powerpoint/2010/main" val="311195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A7E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B315EF-481C-342F-D45F-FB76657A4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C2C946D-A8AB-6105-1445-BF3BF4C07037}"/>
              </a:ext>
            </a:extLst>
          </p:cNvPr>
          <p:cNvGrpSpPr/>
          <p:nvPr/>
        </p:nvGrpSpPr>
        <p:grpSpPr>
          <a:xfrm>
            <a:off x="0" y="0"/>
            <a:ext cx="3238500" cy="10287000"/>
            <a:chOff x="0" y="0"/>
            <a:chExt cx="852938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45D3A24-B1E2-DA35-B078-D4069A488320}"/>
                </a:ext>
              </a:extLst>
            </p:cNvPr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622C7CB-8721-B785-F725-D2A017B97AFD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2">
            <a:extLst>
              <a:ext uri="{FF2B5EF4-FFF2-40B4-BE49-F238E27FC236}">
                <a16:creationId xmlns:a16="http://schemas.microsoft.com/office/drawing/2014/main" id="{1810EF7C-EB01-8F43-BD26-F3847A62F680}"/>
              </a:ext>
            </a:extLst>
          </p:cNvPr>
          <p:cNvGrpSpPr/>
          <p:nvPr/>
        </p:nvGrpSpPr>
        <p:grpSpPr>
          <a:xfrm>
            <a:off x="146538" y="-142784"/>
            <a:ext cx="18141463" cy="10576322"/>
            <a:chOff x="0" y="-76200"/>
            <a:chExt cx="4777997" cy="2785533"/>
          </a:xfrm>
        </p:grpSpPr>
        <p:sp>
          <p:nvSpPr>
            <p:cNvPr id="10" name="Freeform 3">
              <a:extLst>
                <a:ext uri="{FF2B5EF4-FFF2-40B4-BE49-F238E27FC236}">
                  <a16:creationId xmlns:a16="http://schemas.microsoft.com/office/drawing/2014/main" id="{6928B849-0500-5167-E62E-64C6147BDA83}"/>
                </a:ext>
              </a:extLst>
            </p:cNvPr>
            <p:cNvSpPr/>
            <p:nvPr/>
          </p:nvSpPr>
          <p:spPr>
            <a:xfrm>
              <a:off x="3925059" y="-38594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0D9F7"/>
            </a:solidFill>
            <a:ln>
              <a:solidFill>
                <a:srgbClr val="A0D9F7"/>
              </a:solidFill>
            </a:ln>
          </p:spPr>
        </p:sp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FD10FC41-6A2D-D09C-737B-EA63ED190260}"/>
                </a:ext>
              </a:extLst>
            </p:cNvPr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8" name="TextBox 4">
            <a:extLst>
              <a:ext uri="{FF2B5EF4-FFF2-40B4-BE49-F238E27FC236}">
                <a16:creationId xmlns:a16="http://schemas.microsoft.com/office/drawing/2014/main" id="{7D76C5C5-8B20-48E7-A3A2-2BF5EF2E4E6A}"/>
              </a:ext>
            </a:extLst>
          </p:cNvPr>
          <p:cNvSpPr txBox="1"/>
          <p:nvPr/>
        </p:nvSpPr>
        <p:spPr>
          <a:xfrm>
            <a:off x="3546232" y="3506023"/>
            <a:ext cx="13041921" cy="582400"/>
          </a:xfrm>
          <a:prstGeom prst="rect">
            <a:avLst/>
          </a:prstGeom>
        </p:spPr>
        <p:txBody>
          <a:bodyPr lIns="50800" tIns="50800" rIns="50800" bIns="508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5E80C229-E174-5AB3-FAB3-6351B5A7160E}"/>
              </a:ext>
            </a:extLst>
          </p:cNvPr>
          <p:cNvSpPr txBox="1"/>
          <p:nvPr/>
        </p:nvSpPr>
        <p:spPr>
          <a:xfrm>
            <a:off x="3692772" y="2377677"/>
            <a:ext cx="13041921" cy="582400"/>
          </a:xfrm>
          <a:prstGeom prst="rect">
            <a:avLst/>
          </a:prstGeom>
        </p:spPr>
        <p:txBody>
          <a:bodyPr lIns="50800" tIns="50800" rIns="50800" bIns="508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BAD6D6-20A2-14F1-B878-C0C0EF002153}"/>
              </a:ext>
            </a:extLst>
          </p:cNvPr>
          <p:cNvSpPr txBox="1"/>
          <p:nvPr/>
        </p:nvSpPr>
        <p:spPr>
          <a:xfrm>
            <a:off x="6632431" y="3747567"/>
            <a:ext cx="822324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  <a:ea typeface="Calibri"/>
                <a:cs typeface="Calibri"/>
              </a:rPr>
              <a:t>THANK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C982EA-A270-FF9B-0158-0C06B32CB517}"/>
              </a:ext>
            </a:extLst>
          </p:cNvPr>
          <p:cNvSpPr txBox="1"/>
          <p:nvPr/>
        </p:nvSpPr>
        <p:spPr>
          <a:xfrm>
            <a:off x="9139040" y="3758896"/>
            <a:ext cx="9342782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0" b="1" baseline="0" dirty="0">
                <a:solidFill>
                  <a:schemeClr val="bg1"/>
                </a:solidFill>
              </a:rPr>
              <a:t>YOU</a:t>
            </a:r>
            <a:endParaRPr lang="en-US" sz="6000" dirty="0">
              <a:solidFill>
                <a:schemeClr val="bg1"/>
              </a:solidFill>
              <a:ea typeface="Calibri"/>
              <a:cs typeface="Calibri"/>
            </a:endParaRPr>
          </a:p>
          <a:p>
            <a:pPr algn="ctr"/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35" name="Picture 34" descr="A logo of a university&#10;&#10;AI-generated content may be incorrect.">
            <a:extLst>
              <a:ext uri="{FF2B5EF4-FFF2-40B4-BE49-F238E27FC236}">
                <a16:creationId xmlns:a16="http://schemas.microsoft.com/office/drawing/2014/main" id="{11206C05-1FD3-CAD0-5F64-1211FE4336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5053" y="8018839"/>
            <a:ext cx="1709913" cy="150055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0C4B2147-C344-F8C9-8FEC-44EAA0476170}"/>
              </a:ext>
            </a:extLst>
          </p:cNvPr>
          <p:cNvSpPr txBox="1"/>
          <p:nvPr/>
        </p:nvSpPr>
        <p:spPr>
          <a:xfrm>
            <a:off x="7657537" y="9528662"/>
            <a:ext cx="29630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Calibri"/>
                <a:cs typeface="Calibri"/>
              </a:rPr>
              <a:t>PREMIERE UNIVERSITY</a:t>
            </a:r>
          </a:p>
        </p:txBody>
      </p:sp>
    </p:spTree>
    <p:extLst>
      <p:ext uri="{BB962C8B-B14F-4D97-AF65-F5344CB8AC3E}">
        <p14:creationId xmlns:p14="http://schemas.microsoft.com/office/powerpoint/2010/main" val="619738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2176</TotalTime>
  <Words>492</Words>
  <Application>Microsoft Office PowerPoint</Application>
  <PresentationFormat>Custom</PresentationFormat>
  <Paragraphs>110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Telegraf Bold</vt:lpstr>
      <vt:lpstr>Calibri (Body)</vt:lpstr>
      <vt:lpstr>Arial Black</vt:lpstr>
      <vt:lpstr>Calibri</vt:lpstr>
      <vt:lpstr>Wingdings</vt:lpstr>
      <vt:lpstr>ElsevierGulliver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Innovations in Sustainable Design</dc:title>
  <dc:creator>Admin</dc:creator>
  <dc:description>Presentation - Innovations in Sustainable Design</dc:description>
  <cp:lastModifiedBy>Afroja Dalia</cp:lastModifiedBy>
  <cp:revision>61</cp:revision>
  <dcterms:created xsi:type="dcterms:W3CDTF">2006-08-16T00:00:00Z</dcterms:created>
  <dcterms:modified xsi:type="dcterms:W3CDTF">2025-12-02T03:26:40Z</dcterms:modified>
  <dc:identifier>DAG6GVWpC6w</dc:identifier>
</cp:coreProperties>
</file>