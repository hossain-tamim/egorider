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0" r:id="rId3"/>
    <p:sldId id="265" r:id="rId4"/>
    <p:sldId id="261" r:id="rId5"/>
    <p:sldId id="263" r:id="rId6"/>
    <p:sldId id="266" r:id="rId7"/>
    <p:sldId id="267" r:id="rId8"/>
    <p:sldId id="270" r:id="rId9"/>
    <p:sldId id="271" r:id="rId10"/>
    <p:sldId id="268" r:id="rId11"/>
    <p:sldId id="272" r:id="rId12"/>
    <p:sldId id="273" r:id="rId13"/>
    <p:sldId id="274" r:id="rId14"/>
    <p:sldId id="275" r:id="rId15"/>
    <p:sldId id="276" r:id="rId16"/>
    <p:sldId id="269" r:id="rId17"/>
  </p:sldIdLst>
  <p:sldSz cx="18288000" cy="10287000"/>
  <p:notesSz cx="6858000" cy="9144000"/>
  <p:embeddedFontLst>
    <p:embeddedFont>
      <p:font typeface="Arial Black" panose="020B0A04020102020204" pitchFamily="34" charset="0"/>
      <p:bold r:id="rId18"/>
    </p:embeddedFont>
    <p:embeddedFont>
      <p:font typeface="Calibri" panose="020F0502020204030204" pitchFamily="34" charset="0"/>
      <p:regular r:id="rId19"/>
      <p:bold r:id="rId20"/>
      <p:italic r:id="rId21"/>
      <p:boldItalic r:id="rId22"/>
    </p:embeddedFont>
    <p:embeddedFont>
      <p:font typeface="Telegraf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6E44"/>
    <a:srgbClr val="2AA7E1"/>
    <a:srgbClr val="120078"/>
    <a:srgbClr val="009EC5"/>
    <a:srgbClr val="A0D9F7"/>
    <a:srgbClr val="4F81BD"/>
    <a:srgbClr val="13A4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516" y="12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8302995-AFB9-4CBA-9972-40069DE0136B}"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8E2357CE-2544-4546-AF4B-95A5414FEFF0}">
      <dgm:prSet custT="1"/>
      <dgm:spPr>
        <a:solidFill>
          <a:srgbClr val="0070C0"/>
        </a:solidFill>
      </dgm:spPr>
      <dgm:t>
        <a:bodyPr/>
        <a:lstStyle/>
        <a:p>
          <a:r>
            <a:rPr lang="en-US" sz="2000" b="1" dirty="0"/>
            <a:t>Road Hazards</a:t>
          </a:r>
        </a:p>
      </dgm:t>
    </dgm:pt>
    <dgm:pt modelId="{86B4A8F1-0F70-4002-A74A-964A367FE6C8}" type="parTrans" cxnId="{4C1FAA21-7B16-4A4A-9FC1-6F934C26D441}">
      <dgm:prSet/>
      <dgm:spPr/>
      <dgm:t>
        <a:bodyPr/>
        <a:lstStyle/>
        <a:p>
          <a:endParaRPr lang="en-US"/>
        </a:p>
      </dgm:t>
    </dgm:pt>
    <dgm:pt modelId="{C813530F-9237-4251-B59C-279FFDDF5674}" type="sibTrans" cxnId="{4C1FAA21-7B16-4A4A-9FC1-6F934C26D441}">
      <dgm:prSet/>
      <dgm:spPr/>
      <dgm:t>
        <a:bodyPr/>
        <a:lstStyle/>
        <a:p>
          <a:endParaRPr lang="en-US"/>
        </a:p>
      </dgm:t>
    </dgm:pt>
    <dgm:pt modelId="{91C06201-374A-4E64-9327-FD024BF91807}">
      <dgm:prSet custT="1"/>
      <dgm:spPr>
        <a:solidFill>
          <a:srgbClr val="0070C0"/>
        </a:solidFill>
      </dgm:spPr>
      <dgm:t>
        <a:bodyPr/>
        <a:lstStyle/>
        <a:p>
          <a:r>
            <a:rPr lang="en-US" sz="2000" b="1" dirty="0"/>
            <a:t>Pedestrians </a:t>
          </a:r>
          <a:r>
            <a:rPr lang="en-US" sz="2000" b="1" dirty="0" err="1"/>
            <a:t>behaviour</a:t>
          </a:r>
          <a:endParaRPr lang="en-US" sz="2000" b="1" dirty="0"/>
        </a:p>
      </dgm:t>
    </dgm:pt>
    <dgm:pt modelId="{D03767E2-55AD-4809-BD64-798ED4E92FC8}" type="parTrans" cxnId="{F2525EF3-6F45-4211-896A-955F0EC076D4}">
      <dgm:prSet/>
      <dgm:spPr/>
      <dgm:t>
        <a:bodyPr/>
        <a:lstStyle/>
        <a:p>
          <a:endParaRPr lang="en-US"/>
        </a:p>
      </dgm:t>
    </dgm:pt>
    <dgm:pt modelId="{8D026800-916A-4B51-8FD7-169F5EF5358C}" type="sibTrans" cxnId="{F2525EF3-6F45-4211-896A-955F0EC076D4}">
      <dgm:prSet/>
      <dgm:spPr/>
      <dgm:t>
        <a:bodyPr/>
        <a:lstStyle/>
        <a:p>
          <a:endParaRPr lang="en-US"/>
        </a:p>
      </dgm:t>
    </dgm:pt>
    <dgm:pt modelId="{555315F0-F8E2-40EB-B041-103082B68AAB}">
      <dgm:prSet custT="1"/>
      <dgm:spPr>
        <a:solidFill>
          <a:srgbClr val="0070C0"/>
        </a:solidFill>
      </dgm:spPr>
      <dgm:t>
        <a:bodyPr/>
        <a:lstStyle/>
        <a:p>
          <a:r>
            <a:rPr lang="en-US" sz="2000" b="1" dirty="0"/>
            <a:t>Overall Scene Understanding</a:t>
          </a:r>
        </a:p>
      </dgm:t>
    </dgm:pt>
    <dgm:pt modelId="{FCA943D7-6BBA-4DD3-8197-4FD93024804D}" type="parTrans" cxnId="{8E3BABE5-F066-4FB6-9A85-8B38E5D01392}">
      <dgm:prSet/>
      <dgm:spPr/>
      <dgm:t>
        <a:bodyPr/>
        <a:lstStyle/>
        <a:p>
          <a:endParaRPr lang="en-US"/>
        </a:p>
      </dgm:t>
    </dgm:pt>
    <dgm:pt modelId="{6FC7DDA2-FBB7-432F-9BBB-2DDE5A740EF0}" type="sibTrans" cxnId="{8E3BABE5-F066-4FB6-9A85-8B38E5D01392}">
      <dgm:prSet/>
      <dgm:spPr/>
      <dgm:t>
        <a:bodyPr/>
        <a:lstStyle/>
        <a:p>
          <a:endParaRPr lang="en-US"/>
        </a:p>
      </dgm:t>
    </dgm:pt>
    <dgm:pt modelId="{57B6D9CD-F1AC-48C5-A23F-22AD4F9490E3}">
      <dgm:prSet custT="1"/>
      <dgm:spPr>
        <a:solidFill>
          <a:srgbClr val="0070C0"/>
        </a:solidFill>
      </dgm:spPr>
      <dgm:t>
        <a:bodyPr/>
        <a:lstStyle/>
        <a:p>
          <a:r>
            <a:rPr lang="en-US" sz="2000" b="1" dirty="0"/>
            <a:t>Motion detection of the vehicles in front</a:t>
          </a:r>
        </a:p>
      </dgm:t>
    </dgm:pt>
    <dgm:pt modelId="{2430ED2C-A654-4D43-87D3-C94F67E7A9ED}" type="parTrans" cxnId="{30F5D1AA-B885-4633-B7F0-636B1F3F9C7C}">
      <dgm:prSet/>
      <dgm:spPr/>
      <dgm:t>
        <a:bodyPr/>
        <a:lstStyle/>
        <a:p>
          <a:endParaRPr lang="en-US"/>
        </a:p>
      </dgm:t>
    </dgm:pt>
    <dgm:pt modelId="{163C450D-FF0C-4969-A0EF-4EDC2305EC67}" type="sibTrans" cxnId="{30F5D1AA-B885-4633-B7F0-636B1F3F9C7C}">
      <dgm:prSet/>
      <dgm:spPr/>
      <dgm:t>
        <a:bodyPr/>
        <a:lstStyle/>
        <a:p>
          <a:endParaRPr lang="en-US"/>
        </a:p>
      </dgm:t>
    </dgm:pt>
    <dgm:pt modelId="{A3073A93-C056-4A3B-A2D7-B87F729FA25A}" type="pres">
      <dgm:prSet presAssocID="{48302995-AFB9-4CBA-9972-40069DE0136B}" presName="Name0" presStyleCnt="0">
        <dgm:presLayoutVars>
          <dgm:dir/>
          <dgm:resizeHandles val="exact"/>
        </dgm:presLayoutVars>
      </dgm:prSet>
      <dgm:spPr/>
    </dgm:pt>
    <dgm:pt modelId="{61741076-E827-4D90-89A8-83C813C771FB}" type="pres">
      <dgm:prSet presAssocID="{8E2357CE-2544-4546-AF4B-95A5414FEFF0}" presName="node" presStyleLbl="node1" presStyleIdx="0" presStyleCnt="4">
        <dgm:presLayoutVars>
          <dgm:bulletEnabled val="1"/>
        </dgm:presLayoutVars>
      </dgm:prSet>
      <dgm:spPr/>
    </dgm:pt>
    <dgm:pt modelId="{C8F58153-AB3D-4274-B9EA-154D6158FB96}" type="pres">
      <dgm:prSet presAssocID="{C813530F-9237-4251-B59C-279FFDDF5674}" presName="sibTrans" presStyleLbl="sibTrans2D1" presStyleIdx="0" presStyleCnt="3"/>
      <dgm:spPr/>
    </dgm:pt>
    <dgm:pt modelId="{CC3F5679-7A6F-417D-B42F-1B40DE41F994}" type="pres">
      <dgm:prSet presAssocID="{C813530F-9237-4251-B59C-279FFDDF5674}" presName="connectorText" presStyleLbl="sibTrans2D1" presStyleIdx="0" presStyleCnt="3"/>
      <dgm:spPr/>
    </dgm:pt>
    <dgm:pt modelId="{52FCA1D4-A8CB-40C5-9C39-006E69FFA924}" type="pres">
      <dgm:prSet presAssocID="{91C06201-374A-4E64-9327-FD024BF91807}" presName="node" presStyleLbl="node1" presStyleIdx="1" presStyleCnt="4">
        <dgm:presLayoutVars>
          <dgm:bulletEnabled val="1"/>
        </dgm:presLayoutVars>
      </dgm:prSet>
      <dgm:spPr/>
    </dgm:pt>
    <dgm:pt modelId="{B728FB20-5158-4039-8EBA-EAD51805C0D2}" type="pres">
      <dgm:prSet presAssocID="{8D026800-916A-4B51-8FD7-169F5EF5358C}" presName="sibTrans" presStyleLbl="sibTrans2D1" presStyleIdx="1" presStyleCnt="3"/>
      <dgm:spPr/>
    </dgm:pt>
    <dgm:pt modelId="{FFAB7904-B928-4755-AE6C-F593E7035C70}" type="pres">
      <dgm:prSet presAssocID="{8D026800-916A-4B51-8FD7-169F5EF5358C}" presName="connectorText" presStyleLbl="sibTrans2D1" presStyleIdx="1" presStyleCnt="3"/>
      <dgm:spPr/>
    </dgm:pt>
    <dgm:pt modelId="{90CA437B-C385-4233-9584-E158DC45D018}" type="pres">
      <dgm:prSet presAssocID="{555315F0-F8E2-40EB-B041-103082B68AAB}" presName="node" presStyleLbl="node1" presStyleIdx="2" presStyleCnt="4">
        <dgm:presLayoutVars>
          <dgm:bulletEnabled val="1"/>
        </dgm:presLayoutVars>
      </dgm:prSet>
      <dgm:spPr/>
    </dgm:pt>
    <dgm:pt modelId="{CF3E5C06-1719-4115-A051-EEFBC17B3DFE}" type="pres">
      <dgm:prSet presAssocID="{6FC7DDA2-FBB7-432F-9BBB-2DDE5A740EF0}" presName="sibTrans" presStyleLbl="sibTrans2D1" presStyleIdx="2" presStyleCnt="3"/>
      <dgm:spPr/>
    </dgm:pt>
    <dgm:pt modelId="{C95F1F79-A2CA-4F69-9B45-1836E36A3A84}" type="pres">
      <dgm:prSet presAssocID="{6FC7DDA2-FBB7-432F-9BBB-2DDE5A740EF0}" presName="connectorText" presStyleLbl="sibTrans2D1" presStyleIdx="2" presStyleCnt="3"/>
      <dgm:spPr/>
    </dgm:pt>
    <dgm:pt modelId="{BE59F702-79B6-4141-896B-1A4DDB70ECEC}" type="pres">
      <dgm:prSet presAssocID="{57B6D9CD-F1AC-48C5-A23F-22AD4F9490E3}" presName="node" presStyleLbl="node1" presStyleIdx="3" presStyleCnt="4">
        <dgm:presLayoutVars>
          <dgm:bulletEnabled val="1"/>
        </dgm:presLayoutVars>
      </dgm:prSet>
      <dgm:spPr/>
    </dgm:pt>
  </dgm:ptLst>
  <dgm:cxnLst>
    <dgm:cxn modelId="{D6D2311B-6FAF-4F93-BF47-6B13B4747AD7}" type="presOf" srcId="{C813530F-9237-4251-B59C-279FFDDF5674}" destId="{C8F58153-AB3D-4274-B9EA-154D6158FB96}" srcOrd="0" destOrd="0" presId="urn:microsoft.com/office/officeart/2005/8/layout/process1"/>
    <dgm:cxn modelId="{4C1FAA21-7B16-4A4A-9FC1-6F934C26D441}" srcId="{48302995-AFB9-4CBA-9972-40069DE0136B}" destId="{8E2357CE-2544-4546-AF4B-95A5414FEFF0}" srcOrd="0" destOrd="0" parTransId="{86B4A8F1-0F70-4002-A74A-964A367FE6C8}" sibTransId="{C813530F-9237-4251-B59C-279FFDDF5674}"/>
    <dgm:cxn modelId="{05C3EB27-7102-4C30-A7DD-6AA59EEBC7AD}" type="presOf" srcId="{8D026800-916A-4B51-8FD7-169F5EF5358C}" destId="{B728FB20-5158-4039-8EBA-EAD51805C0D2}" srcOrd="0" destOrd="0" presId="urn:microsoft.com/office/officeart/2005/8/layout/process1"/>
    <dgm:cxn modelId="{8EF8753E-EC68-42E8-8C72-2E498B865D9C}" type="presOf" srcId="{91C06201-374A-4E64-9327-FD024BF91807}" destId="{52FCA1D4-A8CB-40C5-9C39-006E69FFA924}" srcOrd="0" destOrd="0" presId="urn:microsoft.com/office/officeart/2005/8/layout/process1"/>
    <dgm:cxn modelId="{D6F5B048-1F7A-42C6-B1A8-1742C685B89A}" type="presOf" srcId="{C813530F-9237-4251-B59C-279FFDDF5674}" destId="{CC3F5679-7A6F-417D-B42F-1B40DE41F994}" srcOrd="1" destOrd="0" presId="urn:microsoft.com/office/officeart/2005/8/layout/process1"/>
    <dgm:cxn modelId="{42A88553-E7C2-4611-98FA-7E81CD0B1538}" type="presOf" srcId="{8D026800-916A-4B51-8FD7-169F5EF5358C}" destId="{FFAB7904-B928-4755-AE6C-F593E7035C70}" srcOrd="1" destOrd="0" presId="urn:microsoft.com/office/officeart/2005/8/layout/process1"/>
    <dgm:cxn modelId="{62D4DD9F-9A49-445E-B759-246E982F6E08}" type="presOf" srcId="{57B6D9CD-F1AC-48C5-A23F-22AD4F9490E3}" destId="{BE59F702-79B6-4141-896B-1A4DDB70ECEC}" srcOrd="0" destOrd="0" presId="urn:microsoft.com/office/officeart/2005/8/layout/process1"/>
    <dgm:cxn modelId="{07930FA9-B78C-4DF6-931A-F97E92197F08}" type="presOf" srcId="{48302995-AFB9-4CBA-9972-40069DE0136B}" destId="{A3073A93-C056-4A3B-A2D7-B87F729FA25A}" srcOrd="0" destOrd="0" presId="urn:microsoft.com/office/officeart/2005/8/layout/process1"/>
    <dgm:cxn modelId="{30F5D1AA-B885-4633-B7F0-636B1F3F9C7C}" srcId="{48302995-AFB9-4CBA-9972-40069DE0136B}" destId="{57B6D9CD-F1AC-48C5-A23F-22AD4F9490E3}" srcOrd="3" destOrd="0" parTransId="{2430ED2C-A654-4D43-87D3-C94F67E7A9ED}" sibTransId="{163C450D-FF0C-4969-A0EF-4EDC2305EC67}"/>
    <dgm:cxn modelId="{919CC6BA-1457-4A50-A9EA-54A47899A842}" type="presOf" srcId="{6FC7DDA2-FBB7-432F-9BBB-2DDE5A740EF0}" destId="{CF3E5C06-1719-4115-A051-EEFBC17B3DFE}" srcOrd="0" destOrd="0" presId="urn:microsoft.com/office/officeart/2005/8/layout/process1"/>
    <dgm:cxn modelId="{481825BE-2899-4608-AA80-785450ADE1EF}" type="presOf" srcId="{8E2357CE-2544-4546-AF4B-95A5414FEFF0}" destId="{61741076-E827-4D90-89A8-83C813C771FB}" srcOrd="0" destOrd="0" presId="urn:microsoft.com/office/officeart/2005/8/layout/process1"/>
    <dgm:cxn modelId="{5DFC35BE-96D7-4511-BBAB-FCEB3649F267}" type="presOf" srcId="{555315F0-F8E2-40EB-B041-103082B68AAB}" destId="{90CA437B-C385-4233-9584-E158DC45D018}" srcOrd="0" destOrd="0" presId="urn:microsoft.com/office/officeart/2005/8/layout/process1"/>
    <dgm:cxn modelId="{FC301ADB-098C-43DF-9274-FC9D3C140336}" type="presOf" srcId="{6FC7DDA2-FBB7-432F-9BBB-2DDE5A740EF0}" destId="{C95F1F79-A2CA-4F69-9B45-1836E36A3A84}" srcOrd="1" destOrd="0" presId="urn:microsoft.com/office/officeart/2005/8/layout/process1"/>
    <dgm:cxn modelId="{8E3BABE5-F066-4FB6-9A85-8B38E5D01392}" srcId="{48302995-AFB9-4CBA-9972-40069DE0136B}" destId="{555315F0-F8E2-40EB-B041-103082B68AAB}" srcOrd="2" destOrd="0" parTransId="{FCA943D7-6BBA-4DD3-8197-4FD93024804D}" sibTransId="{6FC7DDA2-FBB7-432F-9BBB-2DDE5A740EF0}"/>
    <dgm:cxn modelId="{F2525EF3-6F45-4211-896A-955F0EC076D4}" srcId="{48302995-AFB9-4CBA-9972-40069DE0136B}" destId="{91C06201-374A-4E64-9327-FD024BF91807}" srcOrd="1" destOrd="0" parTransId="{D03767E2-55AD-4809-BD64-798ED4E92FC8}" sibTransId="{8D026800-916A-4B51-8FD7-169F5EF5358C}"/>
    <dgm:cxn modelId="{1AD9E6E6-4DDD-4E09-966A-FA01EB468595}" type="presParOf" srcId="{A3073A93-C056-4A3B-A2D7-B87F729FA25A}" destId="{61741076-E827-4D90-89A8-83C813C771FB}" srcOrd="0" destOrd="0" presId="urn:microsoft.com/office/officeart/2005/8/layout/process1"/>
    <dgm:cxn modelId="{8D091336-2C36-4717-B120-B6C5821CAD19}" type="presParOf" srcId="{A3073A93-C056-4A3B-A2D7-B87F729FA25A}" destId="{C8F58153-AB3D-4274-B9EA-154D6158FB96}" srcOrd="1" destOrd="0" presId="urn:microsoft.com/office/officeart/2005/8/layout/process1"/>
    <dgm:cxn modelId="{DBD93AED-7431-46AF-AF19-ED5D2D5C9EA7}" type="presParOf" srcId="{C8F58153-AB3D-4274-B9EA-154D6158FB96}" destId="{CC3F5679-7A6F-417D-B42F-1B40DE41F994}" srcOrd="0" destOrd="0" presId="urn:microsoft.com/office/officeart/2005/8/layout/process1"/>
    <dgm:cxn modelId="{BB0D3B4A-223B-44E8-A00A-75F446214DC6}" type="presParOf" srcId="{A3073A93-C056-4A3B-A2D7-B87F729FA25A}" destId="{52FCA1D4-A8CB-40C5-9C39-006E69FFA924}" srcOrd="2" destOrd="0" presId="urn:microsoft.com/office/officeart/2005/8/layout/process1"/>
    <dgm:cxn modelId="{18AD6763-90FC-4672-B4AD-75A296D2DAFB}" type="presParOf" srcId="{A3073A93-C056-4A3B-A2D7-B87F729FA25A}" destId="{B728FB20-5158-4039-8EBA-EAD51805C0D2}" srcOrd="3" destOrd="0" presId="urn:microsoft.com/office/officeart/2005/8/layout/process1"/>
    <dgm:cxn modelId="{CBBE2F15-F93D-4817-955F-01428977AF01}" type="presParOf" srcId="{B728FB20-5158-4039-8EBA-EAD51805C0D2}" destId="{FFAB7904-B928-4755-AE6C-F593E7035C70}" srcOrd="0" destOrd="0" presId="urn:microsoft.com/office/officeart/2005/8/layout/process1"/>
    <dgm:cxn modelId="{3B9B185D-5371-4479-90B0-2EAB46CFA718}" type="presParOf" srcId="{A3073A93-C056-4A3B-A2D7-B87F729FA25A}" destId="{90CA437B-C385-4233-9584-E158DC45D018}" srcOrd="4" destOrd="0" presId="urn:microsoft.com/office/officeart/2005/8/layout/process1"/>
    <dgm:cxn modelId="{7FB02152-E271-4FA7-9219-DE10A31F50D3}" type="presParOf" srcId="{A3073A93-C056-4A3B-A2D7-B87F729FA25A}" destId="{CF3E5C06-1719-4115-A051-EEFBC17B3DFE}" srcOrd="5" destOrd="0" presId="urn:microsoft.com/office/officeart/2005/8/layout/process1"/>
    <dgm:cxn modelId="{D7359A6D-DB5E-4875-B26A-503F123CB607}" type="presParOf" srcId="{CF3E5C06-1719-4115-A051-EEFBC17B3DFE}" destId="{C95F1F79-A2CA-4F69-9B45-1836E36A3A84}" srcOrd="0" destOrd="0" presId="urn:microsoft.com/office/officeart/2005/8/layout/process1"/>
    <dgm:cxn modelId="{6ED437D7-D027-4B8F-867C-A51E9972D5CC}" type="presParOf" srcId="{A3073A93-C056-4A3B-A2D7-B87F729FA25A}" destId="{BE59F702-79B6-4141-896B-1A4DDB70ECEC}"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F11A01-5676-4556-8C74-9F488DEABA8E}"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0A68EC56-09F2-4185-98C1-6CC969685169}">
      <dgm:prSet custT="1"/>
      <dgm:spPr>
        <a:solidFill>
          <a:srgbClr val="0070C0"/>
        </a:solidFill>
      </dgm:spPr>
      <dgm:t>
        <a:bodyPr/>
        <a:lstStyle/>
        <a:p>
          <a:r>
            <a:rPr lang="en-US" sz="2000" b="1" dirty="0"/>
            <a:t>✔ </a:t>
          </a:r>
          <a:r>
            <a:rPr lang="en-US" sz="2000" b="1" dirty="0" err="1"/>
            <a:t>Pathole</a:t>
          </a:r>
          <a:r>
            <a:rPr lang="en-US" sz="2000" b="1" dirty="0"/>
            <a:t> detection and manhole cover’s risk analysis</a:t>
          </a:r>
          <a:endParaRPr lang="en-US" sz="2000" dirty="0"/>
        </a:p>
      </dgm:t>
    </dgm:pt>
    <dgm:pt modelId="{18277DBE-1649-4DBF-83C1-72D7ADC3F077}" type="parTrans" cxnId="{6D019F97-723C-4654-A561-3A48744DE751}">
      <dgm:prSet/>
      <dgm:spPr/>
      <dgm:t>
        <a:bodyPr/>
        <a:lstStyle/>
        <a:p>
          <a:endParaRPr lang="en-US"/>
        </a:p>
      </dgm:t>
    </dgm:pt>
    <dgm:pt modelId="{62549B3A-45D7-47D3-AB01-C60E52E7ADCC}" type="sibTrans" cxnId="{6D019F97-723C-4654-A561-3A48744DE751}">
      <dgm:prSet/>
      <dgm:spPr/>
      <dgm:t>
        <a:bodyPr/>
        <a:lstStyle/>
        <a:p>
          <a:endParaRPr lang="en-US"/>
        </a:p>
      </dgm:t>
    </dgm:pt>
    <dgm:pt modelId="{B9E36D61-0164-4FC7-8F52-F0A51E7CCFAF}">
      <dgm:prSet custT="1"/>
      <dgm:spPr>
        <a:solidFill>
          <a:srgbClr val="0070C0"/>
        </a:solidFill>
      </dgm:spPr>
      <dgm:t>
        <a:bodyPr/>
        <a:lstStyle/>
        <a:p>
          <a:r>
            <a:rPr lang="en-US" sz="2000" b="1" dirty="0"/>
            <a:t>✔ Pedestrians action prediction</a:t>
          </a:r>
          <a:endParaRPr lang="en-US" sz="2000" dirty="0"/>
        </a:p>
      </dgm:t>
    </dgm:pt>
    <dgm:pt modelId="{2823F9D0-7D88-4B52-943A-8E415A4D3418}" type="parTrans" cxnId="{92CD4A17-3AFE-4B4C-BE3B-08421DD5F5E6}">
      <dgm:prSet/>
      <dgm:spPr/>
      <dgm:t>
        <a:bodyPr/>
        <a:lstStyle/>
        <a:p>
          <a:endParaRPr lang="en-US"/>
        </a:p>
      </dgm:t>
    </dgm:pt>
    <dgm:pt modelId="{13714FAA-5D64-4D04-8615-2282077C4F1F}" type="sibTrans" cxnId="{92CD4A17-3AFE-4B4C-BE3B-08421DD5F5E6}">
      <dgm:prSet/>
      <dgm:spPr/>
      <dgm:t>
        <a:bodyPr/>
        <a:lstStyle/>
        <a:p>
          <a:endParaRPr lang="en-US"/>
        </a:p>
      </dgm:t>
    </dgm:pt>
    <dgm:pt modelId="{9D8CBA8D-9FF1-46BE-955E-C619E8712349}">
      <dgm:prSet custT="1"/>
      <dgm:spPr>
        <a:solidFill>
          <a:srgbClr val="0070C0"/>
        </a:solidFill>
      </dgm:spPr>
      <dgm:t>
        <a:bodyPr/>
        <a:lstStyle/>
        <a:p>
          <a:r>
            <a:rPr lang="en-US" sz="2000" b="1" dirty="0"/>
            <a:t>✔ overall scene analysis(detecting object, lane,</a:t>
          </a:r>
        </a:p>
        <a:p>
          <a:r>
            <a:rPr lang="en-US" sz="2000" b="1" dirty="0"/>
            <a:t>drivable area)</a:t>
          </a:r>
          <a:endParaRPr lang="en-US" sz="2000" dirty="0"/>
        </a:p>
      </dgm:t>
    </dgm:pt>
    <dgm:pt modelId="{1A33BE52-774D-4FD3-A4E8-65D18CDECE15}" type="parTrans" cxnId="{0294BF06-3A96-49EF-B8D2-CF4A849A2113}">
      <dgm:prSet/>
      <dgm:spPr/>
      <dgm:t>
        <a:bodyPr/>
        <a:lstStyle/>
        <a:p>
          <a:endParaRPr lang="en-US"/>
        </a:p>
      </dgm:t>
    </dgm:pt>
    <dgm:pt modelId="{B20E772F-268F-4E38-87DD-2733508019F7}" type="sibTrans" cxnId="{0294BF06-3A96-49EF-B8D2-CF4A849A2113}">
      <dgm:prSet/>
      <dgm:spPr/>
      <dgm:t>
        <a:bodyPr/>
        <a:lstStyle/>
        <a:p>
          <a:endParaRPr lang="en-US"/>
        </a:p>
      </dgm:t>
    </dgm:pt>
    <dgm:pt modelId="{0295CF10-B2AC-41F3-BC65-90A38F462D13}">
      <dgm:prSet custT="1"/>
      <dgm:spPr>
        <a:solidFill>
          <a:srgbClr val="0070C0"/>
        </a:solidFill>
      </dgm:spPr>
      <dgm:t>
        <a:bodyPr/>
        <a:lstStyle/>
        <a:p>
          <a:r>
            <a:rPr lang="en-US" sz="2000" b="1" dirty="0"/>
            <a:t>✔</a:t>
          </a:r>
          <a:r>
            <a:rPr lang="en-US" sz="1700" b="1" dirty="0"/>
            <a:t> </a:t>
          </a:r>
          <a:r>
            <a:rPr lang="en-US" sz="2000" b="1" dirty="0"/>
            <a:t>speed detection of vehicles in front</a:t>
          </a:r>
          <a:endParaRPr lang="en-US" sz="2000" dirty="0"/>
        </a:p>
      </dgm:t>
    </dgm:pt>
    <dgm:pt modelId="{4B1F5E1F-03A1-44DC-9426-412080DF683D}" type="parTrans" cxnId="{22169AA8-E3F5-4FA4-A29E-DAE4F5AC543F}">
      <dgm:prSet/>
      <dgm:spPr/>
      <dgm:t>
        <a:bodyPr/>
        <a:lstStyle/>
        <a:p>
          <a:endParaRPr lang="en-US"/>
        </a:p>
      </dgm:t>
    </dgm:pt>
    <dgm:pt modelId="{4C04ED80-CE13-4822-B856-24E0687EE62F}" type="sibTrans" cxnId="{22169AA8-E3F5-4FA4-A29E-DAE4F5AC543F}">
      <dgm:prSet/>
      <dgm:spPr/>
      <dgm:t>
        <a:bodyPr/>
        <a:lstStyle/>
        <a:p>
          <a:endParaRPr lang="en-US"/>
        </a:p>
      </dgm:t>
    </dgm:pt>
    <dgm:pt modelId="{5DEC7987-8747-46E3-B2D4-393EA9BF5419}">
      <dgm:prSet custT="1"/>
      <dgm:spPr>
        <a:solidFill>
          <a:srgbClr val="0070C0"/>
        </a:solidFill>
      </dgm:spPr>
      <dgm:t>
        <a:bodyPr/>
        <a:lstStyle/>
        <a:p>
          <a:r>
            <a:rPr lang="en-US" sz="2000" b="1" dirty="0"/>
            <a:t>✔ action prediction of the vehicle in front</a:t>
          </a:r>
        </a:p>
      </dgm:t>
    </dgm:pt>
    <dgm:pt modelId="{90F4824F-A784-40B5-A124-96053B662C09}" type="parTrans" cxnId="{E3424634-C858-4AE5-BAED-A2965AE24D85}">
      <dgm:prSet/>
      <dgm:spPr/>
      <dgm:t>
        <a:bodyPr/>
        <a:lstStyle/>
        <a:p>
          <a:endParaRPr lang="en-US"/>
        </a:p>
      </dgm:t>
    </dgm:pt>
    <dgm:pt modelId="{BD3AD493-6E5B-4D58-BF57-44BCFEA3472F}" type="sibTrans" cxnId="{E3424634-C858-4AE5-BAED-A2965AE24D85}">
      <dgm:prSet/>
      <dgm:spPr/>
      <dgm:t>
        <a:bodyPr/>
        <a:lstStyle/>
        <a:p>
          <a:endParaRPr lang="en-US"/>
        </a:p>
      </dgm:t>
    </dgm:pt>
    <dgm:pt modelId="{F13371CF-0304-4945-9BA1-7061C4EBE38B}" type="pres">
      <dgm:prSet presAssocID="{9DF11A01-5676-4556-8C74-9F488DEABA8E}" presName="cycle" presStyleCnt="0">
        <dgm:presLayoutVars>
          <dgm:dir/>
          <dgm:resizeHandles val="exact"/>
        </dgm:presLayoutVars>
      </dgm:prSet>
      <dgm:spPr/>
    </dgm:pt>
    <dgm:pt modelId="{F30C7A66-776D-429D-8D5C-598EB04200D0}" type="pres">
      <dgm:prSet presAssocID="{0A68EC56-09F2-4185-98C1-6CC969685169}" presName="node" presStyleLbl="node1" presStyleIdx="0" presStyleCnt="5">
        <dgm:presLayoutVars>
          <dgm:bulletEnabled val="1"/>
        </dgm:presLayoutVars>
      </dgm:prSet>
      <dgm:spPr/>
    </dgm:pt>
    <dgm:pt modelId="{DAB65C5C-C634-4A81-8B51-E41B2F29B9BA}" type="pres">
      <dgm:prSet presAssocID="{62549B3A-45D7-47D3-AB01-C60E52E7ADCC}" presName="sibTrans" presStyleLbl="sibTrans2D1" presStyleIdx="0" presStyleCnt="5"/>
      <dgm:spPr/>
    </dgm:pt>
    <dgm:pt modelId="{65684080-3756-4642-83D9-D81D2C042AA1}" type="pres">
      <dgm:prSet presAssocID="{62549B3A-45D7-47D3-AB01-C60E52E7ADCC}" presName="connectorText" presStyleLbl="sibTrans2D1" presStyleIdx="0" presStyleCnt="5"/>
      <dgm:spPr/>
    </dgm:pt>
    <dgm:pt modelId="{4A516795-1656-4652-98DE-524EEA23BDC6}" type="pres">
      <dgm:prSet presAssocID="{B9E36D61-0164-4FC7-8F52-F0A51E7CCFAF}" presName="node" presStyleLbl="node1" presStyleIdx="1" presStyleCnt="5">
        <dgm:presLayoutVars>
          <dgm:bulletEnabled val="1"/>
        </dgm:presLayoutVars>
      </dgm:prSet>
      <dgm:spPr/>
    </dgm:pt>
    <dgm:pt modelId="{D7B8016C-B74F-4809-8917-D893C65E6D07}" type="pres">
      <dgm:prSet presAssocID="{13714FAA-5D64-4D04-8615-2282077C4F1F}" presName="sibTrans" presStyleLbl="sibTrans2D1" presStyleIdx="1" presStyleCnt="5"/>
      <dgm:spPr/>
    </dgm:pt>
    <dgm:pt modelId="{FA88EA25-4FC4-419A-93F3-1232DD3CE039}" type="pres">
      <dgm:prSet presAssocID="{13714FAA-5D64-4D04-8615-2282077C4F1F}" presName="connectorText" presStyleLbl="sibTrans2D1" presStyleIdx="1" presStyleCnt="5"/>
      <dgm:spPr/>
    </dgm:pt>
    <dgm:pt modelId="{B0E6617A-1148-4D33-AF1D-E9D91293B6D6}" type="pres">
      <dgm:prSet presAssocID="{9D8CBA8D-9FF1-46BE-955E-C619E8712349}" presName="node" presStyleLbl="node1" presStyleIdx="2" presStyleCnt="5" custScaleX="111088">
        <dgm:presLayoutVars>
          <dgm:bulletEnabled val="1"/>
        </dgm:presLayoutVars>
      </dgm:prSet>
      <dgm:spPr/>
    </dgm:pt>
    <dgm:pt modelId="{D91439ED-5E74-4109-A12A-BA4242E93B52}" type="pres">
      <dgm:prSet presAssocID="{B20E772F-268F-4E38-87DD-2733508019F7}" presName="sibTrans" presStyleLbl="sibTrans2D1" presStyleIdx="2" presStyleCnt="5"/>
      <dgm:spPr/>
    </dgm:pt>
    <dgm:pt modelId="{F89C0AC2-683B-4FF5-96EC-975821F01632}" type="pres">
      <dgm:prSet presAssocID="{B20E772F-268F-4E38-87DD-2733508019F7}" presName="connectorText" presStyleLbl="sibTrans2D1" presStyleIdx="2" presStyleCnt="5"/>
      <dgm:spPr/>
    </dgm:pt>
    <dgm:pt modelId="{C507E7A5-BC54-4160-96D6-AF0328539010}" type="pres">
      <dgm:prSet presAssocID="{0295CF10-B2AC-41F3-BC65-90A38F462D13}" presName="node" presStyleLbl="node1" presStyleIdx="3" presStyleCnt="5">
        <dgm:presLayoutVars>
          <dgm:bulletEnabled val="1"/>
        </dgm:presLayoutVars>
      </dgm:prSet>
      <dgm:spPr/>
    </dgm:pt>
    <dgm:pt modelId="{373C2191-9BAA-42C0-8992-E07975E9FB40}" type="pres">
      <dgm:prSet presAssocID="{4C04ED80-CE13-4822-B856-24E0687EE62F}" presName="sibTrans" presStyleLbl="sibTrans2D1" presStyleIdx="3" presStyleCnt="5"/>
      <dgm:spPr/>
    </dgm:pt>
    <dgm:pt modelId="{65040442-C9DA-4266-863F-A23AD72764B4}" type="pres">
      <dgm:prSet presAssocID="{4C04ED80-CE13-4822-B856-24E0687EE62F}" presName="connectorText" presStyleLbl="sibTrans2D1" presStyleIdx="3" presStyleCnt="5"/>
      <dgm:spPr/>
    </dgm:pt>
    <dgm:pt modelId="{BA34D0DD-DEF4-493D-81E6-A01274A86AB0}" type="pres">
      <dgm:prSet presAssocID="{5DEC7987-8747-46E3-B2D4-393EA9BF5419}" presName="node" presStyleLbl="node1" presStyleIdx="4" presStyleCnt="5">
        <dgm:presLayoutVars>
          <dgm:bulletEnabled val="1"/>
        </dgm:presLayoutVars>
      </dgm:prSet>
      <dgm:spPr/>
    </dgm:pt>
    <dgm:pt modelId="{20404BFD-E4F4-4DDB-AAB5-67C04449E876}" type="pres">
      <dgm:prSet presAssocID="{BD3AD493-6E5B-4D58-BF57-44BCFEA3472F}" presName="sibTrans" presStyleLbl="sibTrans2D1" presStyleIdx="4" presStyleCnt="5"/>
      <dgm:spPr/>
    </dgm:pt>
    <dgm:pt modelId="{2BD5C4B4-E595-470E-A60A-2EEBB6F4E4BA}" type="pres">
      <dgm:prSet presAssocID="{BD3AD493-6E5B-4D58-BF57-44BCFEA3472F}" presName="connectorText" presStyleLbl="sibTrans2D1" presStyleIdx="4" presStyleCnt="5"/>
      <dgm:spPr/>
    </dgm:pt>
  </dgm:ptLst>
  <dgm:cxnLst>
    <dgm:cxn modelId="{0294BF06-3A96-49EF-B8D2-CF4A849A2113}" srcId="{9DF11A01-5676-4556-8C74-9F488DEABA8E}" destId="{9D8CBA8D-9FF1-46BE-955E-C619E8712349}" srcOrd="2" destOrd="0" parTransId="{1A33BE52-774D-4FD3-A4E8-65D18CDECE15}" sibTransId="{B20E772F-268F-4E38-87DD-2733508019F7}"/>
    <dgm:cxn modelId="{2596C607-11AA-4002-8E8B-C822B788D465}" type="presOf" srcId="{5DEC7987-8747-46E3-B2D4-393EA9BF5419}" destId="{BA34D0DD-DEF4-493D-81E6-A01274A86AB0}" srcOrd="0" destOrd="0" presId="urn:microsoft.com/office/officeart/2005/8/layout/cycle2"/>
    <dgm:cxn modelId="{67753616-4733-4FD1-83FF-8B661F85022A}" type="presOf" srcId="{13714FAA-5D64-4D04-8615-2282077C4F1F}" destId="{D7B8016C-B74F-4809-8917-D893C65E6D07}" srcOrd="0" destOrd="0" presId="urn:microsoft.com/office/officeart/2005/8/layout/cycle2"/>
    <dgm:cxn modelId="{92CD4A17-3AFE-4B4C-BE3B-08421DD5F5E6}" srcId="{9DF11A01-5676-4556-8C74-9F488DEABA8E}" destId="{B9E36D61-0164-4FC7-8F52-F0A51E7CCFAF}" srcOrd="1" destOrd="0" parTransId="{2823F9D0-7D88-4B52-943A-8E415A4D3418}" sibTransId="{13714FAA-5D64-4D04-8615-2282077C4F1F}"/>
    <dgm:cxn modelId="{E3424634-C858-4AE5-BAED-A2965AE24D85}" srcId="{9DF11A01-5676-4556-8C74-9F488DEABA8E}" destId="{5DEC7987-8747-46E3-B2D4-393EA9BF5419}" srcOrd="4" destOrd="0" parTransId="{90F4824F-A784-40B5-A124-96053B662C09}" sibTransId="{BD3AD493-6E5B-4D58-BF57-44BCFEA3472F}"/>
    <dgm:cxn modelId="{8C83B668-0099-4E9C-8880-73EF21723161}" type="presOf" srcId="{0A68EC56-09F2-4185-98C1-6CC969685169}" destId="{F30C7A66-776D-429D-8D5C-598EB04200D0}" srcOrd="0" destOrd="0" presId="urn:microsoft.com/office/officeart/2005/8/layout/cycle2"/>
    <dgm:cxn modelId="{6AC6BB4F-D69E-4B4E-91C5-8D98BD74CF86}" type="presOf" srcId="{0295CF10-B2AC-41F3-BC65-90A38F462D13}" destId="{C507E7A5-BC54-4160-96D6-AF0328539010}" srcOrd="0" destOrd="0" presId="urn:microsoft.com/office/officeart/2005/8/layout/cycle2"/>
    <dgm:cxn modelId="{E33D5870-793E-423F-A5DD-EDE6F2FF2AD9}" type="presOf" srcId="{B9E36D61-0164-4FC7-8F52-F0A51E7CCFAF}" destId="{4A516795-1656-4652-98DE-524EEA23BDC6}" srcOrd="0" destOrd="0" presId="urn:microsoft.com/office/officeart/2005/8/layout/cycle2"/>
    <dgm:cxn modelId="{85FC2052-6DD5-442A-B224-0921948FA09C}" type="presOf" srcId="{B20E772F-268F-4E38-87DD-2733508019F7}" destId="{F89C0AC2-683B-4FF5-96EC-975821F01632}" srcOrd="1" destOrd="0" presId="urn:microsoft.com/office/officeart/2005/8/layout/cycle2"/>
    <dgm:cxn modelId="{98BB2D52-6360-45C0-BAA3-E1D9E0AF4631}" type="presOf" srcId="{62549B3A-45D7-47D3-AB01-C60E52E7ADCC}" destId="{DAB65C5C-C634-4A81-8B51-E41B2F29B9BA}" srcOrd="0" destOrd="0" presId="urn:microsoft.com/office/officeart/2005/8/layout/cycle2"/>
    <dgm:cxn modelId="{6D375572-E21C-4FA4-B917-D5914C73947A}" type="presOf" srcId="{BD3AD493-6E5B-4D58-BF57-44BCFEA3472F}" destId="{20404BFD-E4F4-4DDB-AAB5-67C04449E876}" srcOrd="0" destOrd="0" presId="urn:microsoft.com/office/officeart/2005/8/layout/cycle2"/>
    <dgm:cxn modelId="{FADDEE7B-1118-484A-99DD-E54DD49366CC}" type="presOf" srcId="{9D8CBA8D-9FF1-46BE-955E-C619E8712349}" destId="{B0E6617A-1148-4D33-AF1D-E9D91293B6D6}" srcOrd="0" destOrd="0" presId="urn:microsoft.com/office/officeart/2005/8/layout/cycle2"/>
    <dgm:cxn modelId="{6D019F97-723C-4654-A561-3A48744DE751}" srcId="{9DF11A01-5676-4556-8C74-9F488DEABA8E}" destId="{0A68EC56-09F2-4185-98C1-6CC969685169}" srcOrd="0" destOrd="0" parTransId="{18277DBE-1649-4DBF-83C1-72D7ADC3F077}" sibTransId="{62549B3A-45D7-47D3-AB01-C60E52E7ADCC}"/>
    <dgm:cxn modelId="{CEC9739A-4259-4AA1-B448-0294983FD87D}" type="presOf" srcId="{4C04ED80-CE13-4822-B856-24E0687EE62F}" destId="{373C2191-9BAA-42C0-8992-E07975E9FB40}" srcOrd="0" destOrd="0" presId="urn:microsoft.com/office/officeart/2005/8/layout/cycle2"/>
    <dgm:cxn modelId="{22169AA8-E3F5-4FA4-A29E-DAE4F5AC543F}" srcId="{9DF11A01-5676-4556-8C74-9F488DEABA8E}" destId="{0295CF10-B2AC-41F3-BC65-90A38F462D13}" srcOrd="3" destOrd="0" parTransId="{4B1F5E1F-03A1-44DC-9426-412080DF683D}" sibTransId="{4C04ED80-CE13-4822-B856-24E0687EE62F}"/>
    <dgm:cxn modelId="{BE73EEC2-DF29-4AE0-9DBD-6D3B0CC27F97}" type="presOf" srcId="{62549B3A-45D7-47D3-AB01-C60E52E7ADCC}" destId="{65684080-3756-4642-83D9-D81D2C042AA1}" srcOrd="1" destOrd="0" presId="urn:microsoft.com/office/officeart/2005/8/layout/cycle2"/>
    <dgm:cxn modelId="{E3AB2CCC-7406-444C-AE24-F1E4B6E69027}" type="presOf" srcId="{B20E772F-268F-4E38-87DD-2733508019F7}" destId="{D91439ED-5E74-4109-A12A-BA4242E93B52}" srcOrd="0" destOrd="0" presId="urn:microsoft.com/office/officeart/2005/8/layout/cycle2"/>
    <dgm:cxn modelId="{870B46D1-5A9F-4E98-B1D8-092DC8F2D8A2}" type="presOf" srcId="{9DF11A01-5676-4556-8C74-9F488DEABA8E}" destId="{F13371CF-0304-4945-9BA1-7061C4EBE38B}" srcOrd="0" destOrd="0" presId="urn:microsoft.com/office/officeart/2005/8/layout/cycle2"/>
    <dgm:cxn modelId="{90E84CED-3584-419A-99B2-AE174DC8163E}" type="presOf" srcId="{4C04ED80-CE13-4822-B856-24E0687EE62F}" destId="{65040442-C9DA-4266-863F-A23AD72764B4}" srcOrd="1" destOrd="0" presId="urn:microsoft.com/office/officeart/2005/8/layout/cycle2"/>
    <dgm:cxn modelId="{E19B87F6-1055-4D21-B17C-83CAA184AB50}" type="presOf" srcId="{BD3AD493-6E5B-4D58-BF57-44BCFEA3472F}" destId="{2BD5C4B4-E595-470E-A60A-2EEBB6F4E4BA}" srcOrd="1" destOrd="0" presId="urn:microsoft.com/office/officeart/2005/8/layout/cycle2"/>
    <dgm:cxn modelId="{00D00CF9-8045-4ADB-96BA-74CD4C6318D4}" type="presOf" srcId="{13714FAA-5D64-4D04-8615-2282077C4F1F}" destId="{FA88EA25-4FC4-419A-93F3-1232DD3CE039}" srcOrd="1" destOrd="0" presId="urn:microsoft.com/office/officeart/2005/8/layout/cycle2"/>
    <dgm:cxn modelId="{56818DA8-883B-4CBF-94EE-97A4EFEBEA95}" type="presParOf" srcId="{F13371CF-0304-4945-9BA1-7061C4EBE38B}" destId="{F30C7A66-776D-429D-8D5C-598EB04200D0}" srcOrd="0" destOrd="0" presId="urn:microsoft.com/office/officeart/2005/8/layout/cycle2"/>
    <dgm:cxn modelId="{6CD67DC3-E018-442A-80E7-6567A46CD47C}" type="presParOf" srcId="{F13371CF-0304-4945-9BA1-7061C4EBE38B}" destId="{DAB65C5C-C634-4A81-8B51-E41B2F29B9BA}" srcOrd="1" destOrd="0" presId="urn:microsoft.com/office/officeart/2005/8/layout/cycle2"/>
    <dgm:cxn modelId="{DE87142C-7AC0-4FEA-A89C-B94279959076}" type="presParOf" srcId="{DAB65C5C-C634-4A81-8B51-E41B2F29B9BA}" destId="{65684080-3756-4642-83D9-D81D2C042AA1}" srcOrd="0" destOrd="0" presId="urn:microsoft.com/office/officeart/2005/8/layout/cycle2"/>
    <dgm:cxn modelId="{2872A7BC-FC00-4EA1-9DAB-3AF7ED76B144}" type="presParOf" srcId="{F13371CF-0304-4945-9BA1-7061C4EBE38B}" destId="{4A516795-1656-4652-98DE-524EEA23BDC6}" srcOrd="2" destOrd="0" presId="urn:microsoft.com/office/officeart/2005/8/layout/cycle2"/>
    <dgm:cxn modelId="{939ECEB9-8D5C-4FA9-8D2F-E6BC347A64A5}" type="presParOf" srcId="{F13371CF-0304-4945-9BA1-7061C4EBE38B}" destId="{D7B8016C-B74F-4809-8917-D893C65E6D07}" srcOrd="3" destOrd="0" presId="urn:microsoft.com/office/officeart/2005/8/layout/cycle2"/>
    <dgm:cxn modelId="{C0B8C14B-3B64-44EB-B065-42C17A709CB8}" type="presParOf" srcId="{D7B8016C-B74F-4809-8917-D893C65E6D07}" destId="{FA88EA25-4FC4-419A-93F3-1232DD3CE039}" srcOrd="0" destOrd="0" presId="urn:microsoft.com/office/officeart/2005/8/layout/cycle2"/>
    <dgm:cxn modelId="{FFBDC353-1BB2-400C-87D7-BA3A93DF583E}" type="presParOf" srcId="{F13371CF-0304-4945-9BA1-7061C4EBE38B}" destId="{B0E6617A-1148-4D33-AF1D-E9D91293B6D6}" srcOrd="4" destOrd="0" presId="urn:microsoft.com/office/officeart/2005/8/layout/cycle2"/>
    <dgm:cxn modelId="{2312C477-52E9-4CCB-8A59-2958B55C2253}" type="presParOf" srcId="{F13371CF-0304-4945-9BA1-7061C4EBE38B}" destId="{D91439ED-5E74-4109-A12A-BA4242E93B52}" srcOrd="5" destOrd="0" presId="urn:microsoft.com/office/officeart/2005/8/layout/cycle2"/>
    <dgm:cxn modelId="{E5BD3AB6-4CE0-424C-B1BA-5F1DFDB03114}" type="presParOf" srcId="{D91439ED-5E74-4109-A12A-BA4242E93B52}" destId="{F89C0AC2-683B-4FF5-96EC-975821F01632}" srcOrd="0" destOrd="0" presId="urn:microsoft.com/office/officeart/2005/8/layout/cycle2"/>
    <dgm:cxn modelId="{654127AE-26EA-45DB-A269-F84B3EBA6A96}" type="presParOf" srcId="{F13371CF-0304-4945-9BA1-7061C4EBE38B}" destId="{C507E7A5-BC54-4160-96D6-AF0328539010}" srcOrd="6" destOrd="0" presId="urn:microsoft.com/office/officeart/2005/8/layout/cycle2"/>
    <dgm:cxn modelId="{54CE1A23-426B-4DE7-8262-ADF1A822B98D}" type="presParOf" srcId="{F13371CF-0304-4945-9BA1-7061C4EBE38B}" destId="{373C2191-9BAA-42C0-8992-E07975E9FB40}" srcOrd="7" destOrd="0" presId="urn:microsoft.com/office/officeart/2005/8/layout/cycle2"/>
    <dgm:cxn modelId="{F12C88FD-5AC2-4884-9694-1E18F840227C}" type="presParOf" srcId="{373C2191-9BAA-42C0-8992-E07975E9FB40}" destId="{65040442-C9DA-4266-863F-A23AD72764B4}" srcOrd="0" destOrd="0" presId="urn:microsoft.com/office/officeart/2005/8/layout/cycle2"/>
    <dgm:cxn modelId="{25DF9B0D-C805-4085-AA3B-84E5006F1582}" type="presParOf" srcId="{F13371CF-0304-4945-9BA1-7061C4EBE38B}" destId="{BA34D0DD-DEF4-493D-81E6-A01274A86AB0}" srcOrd="8" destOrd="0" presId="urn:microsoft.com/office/officeart/2005/8/layout/cycle2"/>
    <dgm:cxn modelId="{89EE3EFF-D9F8-4C95-A5C0-CC6F23A4A6D9}" type="presParOf" srcId="{F13371CF-0304-4945-9BA1-7061C4EBE38B}" destId="{20404BFD-E4F4-4DDB-AAB5-67C04449E876}" srcOrd="9" destOrd="0" presId="urn:microsoft.com/office/officeart/2005/8/layout/cycle2"/>
    <dgm:cxn modelId="{B7CBEE4C-59EE-4608-B5E9-694A334B2AC9}" type="presParOf" srcId="{20404BFD-E4F4-4DDB-AAB5-67C04449E876}" destId="{2BD5C4B4-E595-470E-A60A-2EEBB6F4E4BA}"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741076-E827-4D90-89A8-83C813C771FB}">
      <dsp:nvSpPr>
        <dsp:cNvPr id="0" name=""/>
        <dsp:cNvSpPr/>
      </dsp:nvSpPr>
      <dsp:spPr>
        <a:xfrm>
          <a:off x="6422" y="1852263"/>
          <a:ext cx="2808137" cy="1684882"/>
        </a:xfrm>
        <a:prstGeom prst="roundRect">
          <a:avLst>
            <a:gd name="adj" fmla="val 10000"/>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Road Hazards</a:t>
          </a:r>
        </a:p>
      </dsp:txBody>
      <dsp:txXfrm>
        <a:off x="55771" y="1901612"/>
        <a:ext cx="2709439" cy="1586184"/>
      </dsp:txXfrm>
    </dsp:sp>
    <dsp:sp modelId="{C8F58153-AB3D-4274-B9EA-154D6158FB96}">
      <dsp:nvSpPr>
        <dsp:cNvPr id="0" name=""/>
        <dsp:cNvSpPr/>
      </dsp:nvSpPr>
      <dsp:spPr>
        <a:xfrm>
          <a:off x="3095373" y="2346495"/>
          <a:ext cx="595325" cy="69641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3095373" y="2485779"/>
        <a:ext cx="416728" cy="417850"/>
      </dsp:txXfrm>
    </dsp:sp>
    <dsp:sp modelId="{52FCA1D4-A8CB-40C5-9C39-006E69FFA924}">
      <dsp:nvSpPr>
        <dsp:cNvPr id="0" name=""/>
        <dsp:cNvSpPr/>
      </dsp:nvSpPr>
      <dsp:spPr>
        <a:xfrm>
          <a:off x="3937814" y="1852263"/>
          <a:ext cx="2808137" cy="1684882"/>
        </a:xfrm>
        <a:prstGeom prst="roundRect">
          <a:avLst>
            <a:gd name="adj" fmla="val 10000"/>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Pedestrians </a:t>
          </a:r>
          <a:r>
            <a:rPr lang="en-US" sz="2000" b="1" kern="1200" dirty="0" err="1"/>
            <a:t>behaviour</a:t>
          </a:r>
          <a:endParaRPr lang="en-US" sz="2000" b="1" kern="1200" dirty="0"/>
        </a:p>
      </dsp:txBody>
      <dsp:txXfrm>
        <a:off x="3987163" y="1901612"/>
        <a:ext cx="2709439" cy="1586184"/>
      </dsp:txXfrm>
    </dsp:sp>
    <dsp:sp modelId="{B728FB20-5158-4039-8EBA-EAD51805C0D2}">
      <dsp:nvSpPr>
        <dsp:cNvPr id="0" name=""/>
        <dsp:cNvSpPr/>
      </dsp:nvSpPr>
      <dsp:spPr>
        <a:xfrm>
          <a:off x="7026765" y="2346495"/>
          <a:ext cx="595325" cy="69641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7026765" y="2485779"/>
        <a:ext cx="416728" cy="417850"/>
      </dsp:txXfrm>
    </dsp:sp>
    <dsp:sp modelId="{90CA437B-C385-4233-9584-E158DC45D018}">
      <dsp:nvSpPr>
        <dsp:cNvPr id="0" name=""/>
        <dsp:cNvSpPr/>
      </dsp:nvSpPr>
      <dsp:spPr>
        <a:xfrm>
          <a:off x="7869206" y="1852263"/>
          <a:ext cx="2808137" cy="1684882"/>
        </a:xfrm>
        <a:prstGeom prst="roundRect">
          <a:avLst>
            <a:gd name="adj" fmla="val 10000"/>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Overall Scene Understanding</a:t>
          </a:r>
        </a:p>
      </dsp:txBody>
      <dsp:txXfrm>
        <a:off x="7918555" y="1901612"/>
        <a:ext cx="2709439" cy="1586184"/>
      </dsp:txXfrm>
    </dsp:sp>
    <dsp:sp modelId="{CF3E5C06-1719-4115-A051-EEFBC17B3DFE}">
      <dsp:nvSpPr>
        <dsp:cNvPr id="0" name=""/>
        <dsp:cNvSpPr/>
      </dsp:nvSpPr>
      <dsp:spPr>
        <a:xfrm>
          <a:off x="10958157" y="2346495"/>
          <a:ext cx="595325" cy="69641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10958157" y="2485779"/>
        <a:ext cx="416728" cy="417850"/>
      </dsp:txXfrm>
    </dsp:sp>
    <dsp:sp modelId="{BE59F702-79B6-4141-896B-1A4DDB70ECEC}">
      <dsp:nvSpPr>
        <dsp:cNvPr id="0" name=""/>
        <dsp:cNvSpPr/>
      </dsp:nvSpPr>
      <dsp:spPr>
        <a:xfrm>
          <a:off x="11800599" y="1852263"/>
          <a:ext cx="2808137" cy="1684882"/>
        </a:xfrm>
        <a:prstGeom prst="roundRect">
          <a:avLst>
            <a:gd name="adj" fmla="val 10000"/>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Motion detection of the vehicles in front</a:t>
          </a:r>
        </a:p>
      </dsp:txBody>
      <dsp:txXfrm>
        <a:off x="11849948" y="1901612"/>
        <a:ext cx="2709439" cy="15861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0C7A66-776D-429D-8D5C-598EB04200D0}">
      <dsp:nvSpPr>
        <dsp:cNvPr id="0" name=""/>
        <dsp:cNvSpPr/>
      </dsp:nvSpPr>
      <dsp:spPr>
        <a:xfrm>
          <a:off x="4674510" y="815"/>
          <a:ext cx="2595329" cy="2595329"/>
        </a:xfrm>
        <a:prstGeom prst="ellipse">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 </a:t>
          </a:r>
          <a:r>
            <a:rPr lang="en-US" sz="2000" b="1" kern="1200" dirty="0" err="1"/>
            <a:t>Pathole</a:t>
          </a:r>
          <a:r>
            <a:rPr lang="en-US" sz="2000" b="1" kern="1200" dirty="0"/>
            <a:t> detection and manhole cover’s risk analysis</a:t>
          </a:r>
          <a:endParaRPr lang="en-US" sz="2000" kern="1200" dirty="0"/>
        </a:p>
      </dsp:txBody>
      <dsp:txXfrm>
        <a:off x="5054587" y="380892"/>
        <a:ext cx="1835175" cy="1835175"/>
      </dsp:txXfrm>
    </dsp:sp>
    <dsp:sp modelId="{DAB65C5C-C634-4A81-8B51-E41B2F29B9BA}">
      <dsp:nvSpPr>
        <dsp:cNvPr id="0" name=""/>
        <dsp:cNvSpPr/>
      </dsp:nvSpPr>
      <dsp:spPr>
        <a:xfrm rot="2160000">
          <a:off x="7187539" y="1993744"/>
          <a:ext cx="688774" cy="8759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44650">
            <a:lnSpc>
              <a:spcPct val="90000"/>
            </a:lnSpc>
            <a:spcBef>
              <a:spcPct val="0"/>
            </a:spcBef>
            <a:spcAft>
              <a:spcPct val="35000"/>
            </a:spcAft>
            <a:buNone/>
          </a:pPr>
          <a:endParaRPr lang="en-US" sz="3700" kern="1200"/>
        </a:p>
      </dsp:txBody>
      <dsp:txXfrm>
        <a:off x="7207271" y="2108201"/>
        <a:ext cx="482142" cy="525553"/>
      </dsp:txXfrm>
    </dsp:sp>
    <dsp:sp modelId="{4A516795-1656-4652-98DE-524EEA23BDC6}">
      <dsp:nvSpPr>
        <dsp:cNvPr id="0" name=""/>
        <dsp:cNvSpPr/>
      </dsp:nvSpPr>
      <dsp:spPr>
        <a:xfrm>
          <a:off x="7825554" y="2290183"/>
          <a:ext cx="2595329" cy="2595329"/>
        </a:xfrm>
        <a:prstGeom prst="ellipse">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 Pedestrians action prediction</a:t>
          </a:r>
          <a:endParaRPr lang="en-US" sz="2000" kern="1200" dirty="0"/>
        </a:p>
      </dsp:txBody>
      <dsp:txXfrm>
        <a:off x="8205631" y="2670260"/>
        <a:ext cx="1835175" cy="1835175"/>
      </dsp:txXfrm>
    </dsp:sp>
    <dsp:sp modelId="{D7B8016C-B74F-4809-8917-D893C65E6D07}">
      <dsp:nvSpPr>
        <dsp:cNvPr id="0" name=""/>
        <dsp:cNvSpPr/>
      </dsp:nvSpPr>
      <dsp:spPr>
        <a:xfrm rot="6480000">
          <a:off x="8188002" y="4977989"/>
          <a:ext cx="682460" cy="8759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44650">
            <a:lnSpc>
              <a:spcPct val="90000"/>
            </a:lnSpc>
            <a:spcBef>
              <a:spcPct val="0"/>
            </a:spcBef>
            <a:spcAft>
              <a:spcPct val="35000"/>
            </a:spcAft>
            <a:buNone/>
          </a:pPr>
          <a:endParaRPr lang="en-US" sz="3700" kern="1200"/>
        </a:p>
      </dsp:txBody>
      <dsp:txXfrm rot="10800000">
        <a:off x="8322005" y="5055815"/>
        <a:ext cx="477722" cy="525553"/>
      </dsp:txXfrm>
    </dsp:sp>
    <dsp:sp modelId="{B0E6617A-1148-4D33-AF1D-E9D91293B6D6}">
      <dsp:nvSpPr>
        <dsp:cNvPr id="0" name=""/>
        <dsp:cNvSpPr/>
      </dsp:nvSpPr>
      <dsp:spPr>
        <a:xfrm>
          <a:off x="6478077" y="5994458"/>
          <a:ext cx="2883100" cy="2595329"/>
        </a:xfrm>
        <a:prstGeom prst="ellipse">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 overall scene analysis(detecting object, lane,</a:t>
          </a:r>
        </a:p>
        <a:p>
          <a:pPr marL="0" lvl="0" indent="0" algn="ctr" defTabSz="889000">
            <a:lnSpc>
              <a:spcPct val="90000"/>
            </a:lnSpc>
            <a:spcBef>
              <a:spcPct val="0"/>
            </a:spcBef>
            <a:spcAft>
              <a:spcPct val="35000"/>
            </a:spcAft>
            <a:buNone/>
          </a:pPr>
          <a:r>
            <a:rPr lang="en-US" sz="2000" b="1" kern="1200" dirty="0"/>
            <a:t>drivable area)</a:t>
          </a:r>
          <a:endParaRPr lang="en-US" sz="2000" kern="1200" dirty="0"/>
        </a:p>
      </dsp:txBody>
      <dsp:txXfrm>
        <a:off x="6900297" y="6374535"/>
        <a:ext cx="2038660" cy="1835175"/>
      </dsp:txXfrm>
    </dsp:sp>
    <dsp:sp modelId="{D91439ED-5E74-4109-A12A-BA4242E93B52}">
      <dsp:nvSpPr>
        <dsp:cNvPr id="0" name=""/>
        <dsp:cNvSpPr/>
      </dsp:nvSpPr>
      <dsp:spPr>
        <a:xfrm rot="10800000">
          <a:off x="5611310" y="6854161"/>
          <a:ext cx="612515" cy="8759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44650">
            <a:lnSpc>
              <a:spcPct val="90000"/>
            </a:lnSpc>
            <a:spcBef>
              <a:spcPct val="0"/>
            </a:spcBef>
            <a:spcAft>
              <a:spcPct val="35000"/>
            </a:spcAft>
            <a:buNone/>
          </a:pPr>
          <a:endParaRPr lang="en-US" sz="3700" kern="1200"/>
        </a:p>
      </dsp:txBody>
      <dsp:txXfrm rot="10800000">
        <a:off x="5795064" y="7029346"/>
        <a:ext cx="428761" cy="525553"/>
      </dsp:txXfrm>
    </dsp:sp>
    <dsp:sp modelId="{C507E7A5-BC54-4160-96D6-AF0328539010}">
      <dsp:nvSpPr>
        <dsp:cNvPr id="0" name=""/>
        <dsp:cNvSpPr/>
      </dsp:nvSpPr>
      <dsp:spPr>
        <a:xfrm>
          <a:off x="2727057" y="5994458"/>
          <a:ext cx="2595329" cy="2595329"/>
        </a:xfrm>
        <a:prstGeom prst="ellipse">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a:t>
          </a:r>
          <a:r>
            <a:rPr lang="en-US" sz="1700" b="1" kern="1200" dirty="0"/>
            <a:t> </a:t>
          </a:r>
          <a:r>
            <a:rPr lang="en-US" sz="2000" b="1" kern="1200" dirty="0"/>
            <a:t>speed detection of vehicles in front</a:t>
          </a:r>
          <a:endParaRPr lang="en-US" sz="2000" kern="1200" dirty="0"/>
        </a:p>
      </dsp:txBody>
      <dsp:txXfrm>
        <a:off x="3107134" y="6374535"/>
        <a:ext cx="1835175" cy="1835175"/>
      </dsp:txXfrm>
    </dsp:sp>
    <dsp:sp modelId="{373C2191-9BAA-42C0-8992-E07975E9FB40}">
      <dsp:nvSpPr>
        <dsp:cNvPr id="0" name=""/>
        <dsp:cNvSpPr/>
      </dsp:nvSpPr>
      <dsp:spPr>
        <a:xfrm rot="15120000">
          <a:off x="3084563" y="5020563"/>
          <a:ext cx="688774" cy="8759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44650">
            <a:lnSpc>
              <a:spcPct val="90000"/>
            </a:lnSpc>
            <a:spcBef>
              <a:spcPct val="0"/>
            </a:spcBef>
            <a:spcAft>
              <a:spcPct val="35000"/>
            </a:spcAft>
            <a:buNone/>
          </a:pPr>
          <a:endParaRPr lang="en-US" sz="3700" kern="1200"/>
        </a:p>
      </dsp:txBody>
      <dsp:txXfrm rot="10800000">
        <a:off x="3219805" y="5294007"/>
        <a:ext cx="482142" cy="525553"/>
      </dsp:txXfrm>
    </dsp:sp>
    <dsp:sp modelId="{BA34D0DD-DEF4-493D-81E6-A01274A86AB0}">
      <dsp:nvSpPr>
        <dsp:cNvPr id="0" name=""/>
        <dsp:cNvSpPr/>
      </dsp:nvSpPr>
      <dsp:spPr>
        <a:xfrm>
          <a:off x="1523465" y="2290183"/>
          <a:ext cx="2595329" cy="2595329"/>
        </a:xfrm>
        <a:prstGeom prst="ellipse">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 action prediction of the vehicle in front</a:t>
          </a:r>
        </a:p>
      </dsp:txBody>
      <dsp:txXfrm>
        <a:off x="1903542" y="2670260"/>
        <a:ext cx="1835175" cy="1835175"/>
      </dsp:txXfrm>
    </dsp:sp>
    <dsp:sp modelId="{20404BFD-E4F4-4DDB-AAB5-67C04449E876}">
      <dsp:nvSpPr>
        <dsp:cNvPr id="0" name=""/>
        <dsp:cNvSpPr/>
      </dsp:nvSpPr>
      <dsp:spPr>
        <a:xfrm rot="19440000">
          <a:off x="4036494" y="2016660"/>
          <a:ext cx="688774" cy="8759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44650">
            <a:lnSpc>
              <a:spcPct val="90000"/>
            </a:lnSpc>
            <a:spcBef>
              <a:spcPct val="0"/>
            </a:spcBef>
            <a:spcAft>
              <a:spcPct val="35000"/>
            </a:spcAft>
            <a:buNone/>
          </a:pPr>
          <a:endParaRPr lang="en-US" sz="3700" kern="1200"/>
        </a:p>
      </dsp:txBody>
      <dsp:txXfrm>
        <a:off x="4056226" y="2252573"/>
        <a:ext cx="482142" cy="525553"/>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AA7E1"/>
        </a:solidFill>
        <a:effectLst/>
      </p:bgPr>
    </p:bg>
    <p:spTree>
      <p:nvGrpSpPr>
        <p:cNvPr id="1" name=""/>
        <p:cNvGrpSpPr/>
        <p:nvPr/>
      </p:nvGrpSpPr>
      <p:grpSpPr>
        <a:xfrm>
          <a:off x="0" y="0"/>
          <a:ext cx="0" cy="0"/>
          <a:chOff x="0" y="0"/>
          <a:chExt cx="0" cy="0"/>
        </a:xfrm>
      </p:grpSpPr>
      <p:grpSp>
        <p:nvGrpSpPr>
          <p:cNvPr id="2" name="Group 2"/>
          <p:cNvGrpSpPr/>
          <p:nvPr/>
        </p:nvGrpSpPr>
        <p:grpSpPr>
          <a:xfrm>
            <a:off x="82826" y="0"/>
            <a:ext cx="2224257" cy="10287000"/>
            <a:chOff x="0" y="0"/>
            <a:chExt cx="852938" cy="2709333"/>
          </a:xfrm>
        </p:grpSpPr>
        <p:sp>
          <p:nvSpPr>
            <p:cNvPr id="3" name="Freeform 3"/>
            <p:cNvSpPr/>
            <p:nvPr/>
          </p:nvSpPr>
          <p:spPr>
            <a:xfrm>
              <a:off x="0" y="0"/>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A0D9F7"/>
            </a:solidFill>
            <a:ln>
              <a:solidFill>
                <a:srgbClr val="A0D9F7"/>
              </a:solidFill>
            </a:ln>
          </p:spPr>
        </p:sp>
        <p:sp>
          <p:nvSpPr>
            <p:cNvPr id="4" name="TextBox 4"/>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sp>
        <p:nvSpPr>
          <p:cNvPr id="8" name="TextBox 8"/>
          <p:cNvSpPr txBox="1"/>
          <p:nvPr/>
        </p:nvSpPr>
        <p:spPr>
          <a:xfrm>
            <a:off x="4869352" y="0"/>
            <a:ext cx="8324850" cy="6233181"/>
          </a:xfrm>
          <a:prstGeom prst="rect">
            <a:avLst/>
          </a:prstGeom>
        </p:spPr>
        <p:txBody>
          <a:bodyPr lIns="0" tIns="0" rIns="0" bIns="0" rtlCol="0" anchor="t">
            <a:spAutoFit/>
          </a:bodyPr>
          <a:lstStyle/>
          <a:p>
            <a:pPr marL="0" lvl="0" indent="0" algn="l">
              <a:lnSpc>
                <a:spcPts val="9900"/>
              </a:lnSpc>
            </a:pPr>
            <a:r>
              <a:rPr lang="en-US" sz="6000" b="1" spc="-89" dirty="0">
                <a:solidFill>
                  <a:srgbClr val="FFFFFF"/>
                </a:solidFill>
                <a:effectLst>
                  <a:outerShdw blurRad="50800" dist="38100" dir="2700000" algn="tl" rotWithShape="0">
                    <a:prstClr val="black">
                      <a:alpha val="40000"/>
                    </a:prstClr>
                  </a:outerShdw>
                </a:effectLst>
                <a:latin typeface="Arial Black"/>
                <a:ea typeface="Telegraf Bold"/>
                <a:cs typeface="Telegraf Bold"/>
                <a:sym typeface="Telegraf Bold"/>
              </a:rPr>
              <a:t> </a:t>
            </a:r>
            <a:r>
              <a:rPr lang="en-US" sz="6000" b="1" spc="-89" dirty="0">
                <a:solidFill>
                  <a:srgbClr val="FFFFFF"/>
                </a:solidFill>
                <a:effectLst>
                  <a:outerShdw blurRad="50800" dist="50800" dir="1800000" algn="ctr" rotWithShape="0">
                    <a:srgbClr val="000000">
                      <a:alpha val="43137"/>
                    </a:srgbClr>
                  </a:outerShdw>
                </a:effectLst>
                <a:latin typeface="Arial Black"/>
                <a:ea typeface="Telegraf Bold"/>
                <a:cs typeface="Telegraf Bold"/>
                <a:sym typeface="Telegraf Bold"/>
              </a:rPr>
              <a:t>“An Overview of Research Papers Analysis Regarding Road Scene Analysis”</a:t>
            </a:r>
            <a:endParaRPr lang="en-US" sz="6000" dirty="0">
              <a:effectLst>
                <a:outerShdw blurRad="50800" dist="50800" dir="1800000" algn="ctr" rotWithShape="0">
                  <a:srgbClr val="000000">
                    <a:alpha val="43137"/>
                  </a:srgbClr>
                </a:outerShdw>
              </a:effectLst>
              <a:latin typeface="Arial Black"/>
            </a:endParaRPr>
          </a:p>
        </p:txBody>
      </p:sp>
      <p:pic>
        <p:nvPicPr>
          <p:cNvPr id="12" name="Picture 11">
            <a:extLst>
              <a:ext uri="{FF2B5EF4-FFF2-40B4-BE49-F238E27FC236}">
                <a16:creationId xmlns:a16="http://schemas.microsoft.com/office/drawing/2014/main" id="{C3233B07-D651-4A95-8DE1-608F09EFFC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285" y="632229"/>
            <a:ext cx="3736764" cy="3158160"/>
          </a:xfrm>
          <a:prstGeom prst="rect">
            <a:avLst/>
          </a:prstGeom>
        </p:spPr>
      </p:pic>
      <p:sp>
        <p:nvSpPr>
          <p:cNvPr id="5" name="TextBox 4">
            <a:extLst>
              <a:ext uri="{FF2B5EF4-FFF2-40B4-BE49-F238E27FC236}">
                <a16:creationId xmlns:a16="http://schemas.microsoft.com/office/drawing/2014/main" id="{E36A858A-FB01-8042-5622-006D173E1CC2}"/>
              </a:ext>
            </a:extLst>
          </p:cNvPr>
          <p:cNvSpPr txBox="1"/>
          <p:nvPr/>
        </p:nvSpPr>
        <p:spPr>
          <a:xfrm>
            <a:off x="9343562" y="8583864"/>
            <a:ext cx="7445375"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dirty="0">
                <a:solidFill>
                  <a:schemeClr val="bg1"/>
                </a:solidFill>
                <a:latin typeface="Arial Black"/>
                <a:ea typeface="Calibri"/>
                <a:cs typeface="Calibri"/>
              </a:rPr>
              <a:t>Presented By : Samiha Mehjabin</a:t>
            </a:r>
          </a:p>
        </p:txBody>
      </p:sp>
      <p:sp>
        <p:nvSpPr>
          <p:cNvPr id="6" name="TextBox 5">
            <a:extLst>
              <a:ext uri="{FF2B5EF4-FFF2-40B4-BE49-F238E27FC236}">
                <a16:creationId xmlns:a16="http://schemas.microsoft.com/office/drawing/2014/main" id="{7D9B78C4-A645-4D31-CD1E-04B69EF01842}"/>
              </a:ext>
            </a:extLst>
          </p:cNvPr>
          <p:cNvSpPr txBox="1"/>
          <p:nvPr/>
        </p:nvSpPr>
        <p:spPr>
          <a:xfrm>
            <a:off x="9343561" y="7550623"/>
            <a:ext cx="7445375"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dirty="0">
                <a:solidFill>
                  <a:schemeClr val="bg1"/>
                </a:solidFill>
                <a:latin typeface="Arial Black"/>
                <a:ea typeface="Calibri"/>
                <a:cs typeface="Calibri"/>
              </a:rPr>
              <a:t>Supervisor : Md. Tamim Hossain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6C5D2-329F-59EE-53CC-B9CE4204F1E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D38BA6F-B3A8-DB77-6AD1-BED855837DA4}"/>
              </a:ext>
            </a:extLst>
          </p:cNvPr>
          <p:cNvGrpSpPr/>
          <p:nvPr/>
        </p:nvGrpSpPr>
        <p:grpSpPr>
          <a:xfrm>
            <a:off x="0" y="0"/>
            <a:ext cx="718039" cy="10287000"/>
            <a:chOff x="0" y="0"/>
            <a:chExt cx="852938" cy="2709333"/>
          </a:xfrm>
        </p:grpSpPr>
        <p:sp>
          <p:nvSpPr>
            <p:cNvPr id="3" name="Freeform 3">
              <a:extLst>
                <a:ext uri="{FF2B5EF4-FFF2-40B4-BE49-F238E27FC236}">
                  <a16:creationId xmlns:a16="http://schemas.microsoft.com/office/drawing/2014/main" id="{83D76E98-1422-39C7-41CE-5E7F33C67309}"/>
                </a:ext>
              </a:extLst>
            </p:cNvPr>
            <p:cNvSpPr/>
            <p:nvPr/>
          </p:nvSpPr>
          <p:spPr>
            <a:xfrm>
              <a:off x="0" y="0"/>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A0D9F7"/>
            </a:solidFill>
            <a:ln>
              <a:solidFill>
                <a:srgbClr val="A0D9F7"/>
              </a:solidFill>
            </a:ln>
          </p:spPr>
        </p:sp>
        <p:sp>
          <p:nvSpPr>
            <p:cNvPr id="4" name="TextBox 4">
              <a:extLst>
                <a:ext uri="{FF2B5EF4-FFF2-40B4-BE49-F238E27FC236}">
                  <a16:creationId xmlns:a16="http://schemas.microsoft.com/office/drawing/2014/main" id="{239F330C-C601-4360-582F-A46C8B534C0C}"/>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grpSp>
        <p:nvGrpSpPr>
          <p:cNvPr id="7" name="Group 2">
            <a:extLst>
              <a:ext uri="{FF2B5EF4-FFF2-40B4-BE49-F238E27FC236}">
                <a16:creationId xmlns:a16="http://schemas.microsoft.com/office/drawing/2014/main" id="{BDF0BB8A-D2BD-830B-7C85-CF892D90F2F1}"/>
              </a:ext>
            </a:extLst>
          </p:cNvPr>
          <p:cNvGrpSpPr/>
          <p:nvPr/>
        </p:nvGrpSpPr>
        <p:grpSpPr>
          <a:xfrm>
            <a:off x="718039" y="-117231"/>
            <a:ext cx="2300654" cy="10576322"/>
            <a:chOff x="-1879943" y="-76200"/>
            <a:chExt cx="2732881" cy="2785533"/>
          </a:xfrm>
        </p:grpSpPr>
        <p:sp>
          <p:nvSpPr>
            <p:cNvPr id="9" name="Freeform 3">
              <a:extLst>
                <a:ext uri="{FF2B5EF4-FFF2-40B4-BE49-F238E27FC236}">
                  <a16:creationId xmlns:a16="http://schemas.microsoft.com/office/drawing/2014/main" id="{12AAD9C7-8090-183B-4C62-FDB86B6524C4}"/>
                </a:ext>
              </a:extLst>
            </p:cNvPr>
            <p:cNvSpPr/>
            <p:nvPr/>
          </p:nvSpPr>
          <p:spPr>
            <a:xfrm>
              <a:off x="-1879943" y="-46313"/>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2AA7E1"/>
            </a:solidFill>
            <a:ln>
              <a:solidFill>
                <a:srgbClr val="A0D9F7"/>
              </a:solidFill>
            </a:ln>
          </p:spPr>
        </p:sp>
        <p:sp>
          <p:nvSpPr>
            <p:cNvPr id="10" name="TextBox 4">
              <a:extLst>
                <a:ext uri="{FF2B5EF4-FFF2-40B4-BE49-F238E27FC236}">
                  <a16:creationId xmlns:a16="http://schemas.microsoft.com/office/drawing/2014/main" id="{80F482A1-7074-A0DB-AEEE-F8BA686171FD}"/>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sp>
        <p:nvSpPr>
          <p:cNvPr id="29" name="TextBox 11">
            <a:extLst>
              <a:ext uri="{FF2B5EF4-FFF2-40B4-BE49-F238E27FC236}">
                <a16:creationId xmlns:a16="http://schemas.microsoft.com/office/drawing/2014/main" id="{3EC679C3-3583-BF66-9EBC-EF5C058F8693}"/>
              </a:ext>
            </a:extLst>
          </p:cNvPr>
          <p:cNvSpPr txBox="1"/>
          <p:nvPr/>
        </p:nvSpPr>
        <p:spPr>
          <a:xfrm>
            <a:off x="1863728" y="177359"/>
            <a:ext cx="6886575" cy="1931041"/>
          </a:xfrm>
          <a:prstGeom prst="rect">
            <a:avLst/>
          </a:prstGeom>
        </p:spPr>
        <p:txBody>
          <a:bodyPr lIns="0" tIns="0" rIns="0" bIns="0" rtlCol="0" anchor="t">
            <a:spAutoFit/>
          </a:bodyPr>
          <a:lstStyle/>
          <a:p>
            <a:pPr marL="0" lvl="0" indent="0" algn="l">
              <a:lnSpc>
                <a:spcPts val="7699"/>
              </a:lnSpc>
            </a:pPr>
            <a:r>
              <a:rPr lang="en-US" sz="6000" b="1" dirty="0">
                <a:solidFill>
                  <a:srgbClr val="0070C0"/>
                </a:solidFill>
              </a:rPr>
              <a:t>Studied Papers &amp; Identified Categories</a:t>
            </a:r>
            <a:endParaRPr lang="en-US" sz="6000" b="1" dirty="0">
              <a:solidFill>
                <a:srgbClr val="0070C0"/>
              </a:solidFill>
              <a:latin typeface="Arial Black"/>
            </a:endParaRPr>
          </a:p>
        </p:txBody>
      </p:sp>
      <p:sp>
        <p:nvSpPr>
          <p:cNvPr id="31" name="TextBox 14">
            <a:extLst>
              <a:ext uri="{FF2B5EF4-FFF2-40B4-BE49-F238E27FC236}">
                <a16:creationId xmlns:a16="http://schemas.microsoft.com/office/drawing/2014/main" id="{66E4E96E-E685-2927-3285-7333F374EABB}"/>
              </a:ext>
            </a:extLst>
          </p:cNvPr>
          <p:cNvSpPr txBox="1"/>
          <p:nvPr/>
        </p:nvSpPr>
        <p:spPr>
          <a:xfrm>
            <a:off x="18362013" y="9735057"/>
            <a:ext cx="152400" cy="190500"/>
          </a:xfrm>
          <a:prstGeom prst="rect">
            <a:avLst/>
          </a:prstGeom>
        </p:spPr>
        <p:txBody>
          <a:bodyPr wrap="none" lIns="0" tIns="0" rIns="0" bIns="0" rtlCol="0" anchor="t">
            <a:spAutoFit/>
          </a:bodyPr>
          <a:lstStyle/>
          <a:p>
            <a:pPr algn="r">
              <a:lnSpc>
                <a:spcPts val="1679"/>
              </a:lnSpc>
              <a:spcBef>
                <a:spcPct val="0"/>
              </a:spcBef>
            </a:pPr>
            <a:r>
              <a:rPr lang="en-US" sz="1200" b="1">
                <a:solidFill>
                  <a:srgbClr val="004D40"/>
                </a:solidFill>
                <a:latin typeface="Telegraf Bold"/>
                <a:ea typeface="Telegraf Bold"/>
                <a:cs typeface="Telegraf Bold"/>
                <a:sym typeface="Telegraf Bold"/>
              </a:rPr>
              <a:t>2</a:t>
            </a:r>
          </a:p>
        </p:txBody>
      </p:sp>
      <p:sp>
        <p:nvSpPr>
          <p:cNvPr id="8" name="AutoShape 12">
            <a:extLst>
              <a:ext uri="{FF2B5EF4-FFF2-40B4-BE49-F238E27FC236}">
                <a16:creationId xmlns:a16="http://schemas.microsoft.com/office/drawing/2014/main" id="{F554A56A-59A8-929C-0C13-AEE01A854C3F}"/>
              </a:ext>
            </a:extLst>
          </p:cNvPr>
          <p:cNvSpPr/>
          <p:nvPr/>
        </p:nvSpPr>
        <p:spPr>
          <a:xfrm flipV="1">
            <a:off x="1055743" y="9704177"/>
            <a:ext cx="16851923" cy="29307"/>
          </a:xfrm>
          <a:prstGeom prst="line">
            <a:avLst/>
          </a:prstGeom>
          <a:ln w="57150" cap="flat">
            <a:solidFill>
              <a:srgbClr val="13A451"/>
            </a:solidFill>
            <a:prstDash val="sysDot"/>
            <a:headEnd type="none" w="sm" len="sm"/>
            <a:tailEnd type="none" w="sm" len="sm"/>
          </a:ln>
        </p:spPr>
      </p:sp>
      <p:pic>
        <p:nvPicPr>
          <p:cNvPr id="12" name="Picture 11" descr="Premier University | Center of Exellence for Quality Learning">
            <a:extLst>
              <a:ext uri="{FF2B5EF4-FFF2-40B4-BE49-F238E27FC236}">
                <a16:creationId xmlns:a16="http://schemas.microsoft.com/office/drawing/2014/main" id="{1EF7CF9B-3900-C46F-A0B6-83B7F3ED179C}"/>
              </a:ext>
            </a:extLst>
          </p:cNvPr>
          <p:cNvPicPr>
            <a:picLocks noChangeAspect="1"/>
          </p:cNvPicPr>
          <p:nvPr/>
        </p:nvPicPr>
        <p:blipFill>
          <a:blip r:embed="rId2"/>
          <a:srcRect t="-430" r="1575" b="1205"/>
          <a:stretch>
            <a:fillRect/>
          </a:stretch>
        </p:blipFill>
        <p:spPr>
          <a:xfrm>
            <a:off x="0" y="9134392"/>
            <a:ext cx="3279437" cy="1139570"/>
          </a:xfrm>
          <a:prstGeom prst="rect">
            <a:avLst/>
          </a:prstGeom>
        </p:spPr>
      </p:pic>
      <p:graphicFrame>
        <p:nvGraphicFramePr>
          <p:cNvPr id="36" name="Content Placeholder 11">
            <a:extLst>
              <a:ext uri="{FF2B5EF4-FFF2-40B4-BE49-F238E27FC236}">
                <a16:creationId xmlns:a16="http://schemas.microsoft.com/office/drawing/2014/main" id="{A5A69CD9-B1BD-46D2-805B-F34D58C8D0D3}"/>
              </a:ext>
            </a:extLst>
          </p:cNvPr>
          <p:cNvGraphicFramePr>
            <a:graphicFrameLocks/>
          </p:cNvGraphicFramePr>
          <p:nvPr>
            <p:extLst>
              <p:ext uri="{D42A27DB-BD31-4B8C-83A1-F6EECF244321}">
                <p14:modId xmlns:p14="http://schemas.microsoft.com/office/powerpoint/2010/main" val="3749643868"/>
              </p:ext>
            </p:extLst>
          </p:nvPr>
        </p:nvGraphicFramePr>
        <p:xfrm>
          <a:off x="2606040" y="2735858"/>
          <a:ext cx="14615159" cy="53894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3533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6C5D2-329F-59EE-53CC-B9CE4204F1E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D38BA6F-B3A8-DB77-6AD1-BED855837DA4}"/>
              </a:ext>
            </a:extLst>
          </p:cNvPr>
          <p:cNvGrpSpPr/>
          <p:nvPr/>
        </p:nvGrpSpPr>
        <p:grpSpPr>
          <a:xfrm>
            <a:off x="0" y="0"/>
            <a:ext cx="718039" cy="10287000"/>
            <a:chOff x="0" y="0"/>
            <a:chExt cx="852938" cy="2709333"/>
          </a:xfrm>
        </p:grpSpPr>
        <p:sp>
          <p:nvSpPr>
            <p:cNvPr id="3" name="Freeform 3">
              <a:extLst>
                <a:ext uri="{FF2B5EF4-FFF2-40B4-BE49-F238E27FC236}">
                  <a16:creationId xmlns:a16="http://schemas.microsoft.com/office/drawing/2014/main" id="{83D76E98-1422-39C7-41CE-5E7F33C67309}"/>
                </a:ext>
              </a:extLst>
            </p:cNvPr>
            <p:cNvSpPr/>
            <p:nvPr/>
          </p:nvSpPr>
          <p:spPr>
            <a:xfrm>
              <a:off x="0" y="0"/>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A0D9F7"/>
            </a:solidFill>
            <a:ln>
              <a:solidFill>
                <a:srgbClr val="A0D9F7"/>
              </a:solidFill>
            </a:ln>
          </p:spPr>
        </p:sp>
        <p:sp>
          <p:nvSpPr>
            <p:cNvPr id="4" name="TextBox 4">
              <a:extLst>
                <a:ext uri="{FF2B5EF4-FFF2-40B4-BE49-F238E27FC236}">
                  <a16:creationId xmlns:a16="http://schemas.microsoft.com/office/drawing/2014/main" id="{239F330C-C601-4360-582F-A46C8B534C0C}"/>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grpSp>
        <p:nvGrpSpPr>
          <p:cNvPr id="7" name="Group 2">
            <a:extLst>
              <a:ext uri="{FF2B5EF4-FFF2-40B4-BE49-F238E27FC236}">
                <a16:creationId xmlns:a16="http://schemas.microsoft.com/office/drawing/2014/main" id="{BDF0BB8A-D2BD-830B-7C85-CF892D90F2F1}"/>
              </a:ext>
            </a:extLst>
          </p:cNvPr>
          <p:cNvGrpSpPr/>
          <p:nvPr/>
        </p:nvGrpSpPr>
        <p:grpSpPr>
          <a:xfrm>
            <a:off x="718039" y="-117231"/>
            <a:ext cx="2300654" cy="10576322"/>
            <a:chOff x="-1879943" y="-76200"/>
            <a:chExt cx="2732881" cy="2785533"/>
          </a:xfrm>
        </p:grpSpPr>
        <p:sp>
          <p:nvSpPr>
            <p:cNvPr id="9" name="Freeform 3">
              <a:extLst>
                <a:ext uri="{FF2B5EF4-FFF2-40B4-BE49-F238E27FC236}">
                  <a16:creationId xmlns:a16="http://schemas.microsoft.com/office/drawing/2014/main" id="{12AAD9C7-8090-183B-4C62-FDB86B6524C4}"/>
                </a:ext>
              </a:extLst>
            </p:cNvPr>
            <p:cNvSpPr/>
            <p:nvPr/>
          </p:nvSpPr>
          <p:spPr>
            <a:xfrm>
              <a:off x="-1879943" y="-46313"/>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2AA7E1"/>
            </a:solidFill>
            <a:ln>
              <a:solidFill>
                <a:srgbClr val="A0D9F7"/>
              </a:solidFill>
            </a:ln>
          </p:spPr>
        </p:sp>
        <p:sp>
          <p:nvSpPr>
            <p:cNvPr id="10" name="TextBox 4">
              <a:extLst>
                <a:ext uri="{FF2B5EF4-FFF2-40B4-BE49-F238E27FC236}">
                  <a16:creationId xmlns:a16="http://schemas.microsoft.com/office/drawing/2014/main" id="{80F482A1-7074-A0DB-AEEE-F8BA686171FD}"/>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sp>
        <p:nvSpPr>
          <p:cNvPr id="29" name="TextBox 11">
            <a:extLst>
              <a:ext uri="{FF2B5EF4-FFF2-40B4-BE49-F238E27FC236}">
                <a16:creationId xmlns:a16="http://schemas.microsoft.com/office/drawing/2014/main" id="{3EC679C3-3583-BF66-9EBC-EF5C058F8693}"/>
              </a:ext>
            </a:extLst>
          </p:cNvPr>
          <p:cNvSpPr txBox="1"/>
          <p:nvPr/>
        </p:nvSpPr>
        <p:spPr>
          <a:xfrm>
            <a:off x="1863728" y="177359"/>
            <a:ext cx="6886575" cy="943592"/>
          </a:xfrm>
          <a:prstGeom prst="rect">
            <a:avLst/>
          </a:prstGeom>
        </p:spPr>
        <p:txBody>
          <a:bodyPr lIns="0" tIns="0" rIns="0" bIns="0" rtlCol="0" anchor="t">
            <a:spAutoFit/>
          </a:bodyPr>
          <a:lstStyle/>
          <a:p>
            <a:pPr marL="0" lvl="0" indent="0" algn="l">
              <a:lnSpc>
                <a:spcPts val="7699"/>
              </a:lnSpc>
            </a:pPr>
            <a:r>
              <a:rPr lang="en-US" sz="6000" b="1" dirty="0">
                <a:solidFill>
                  <a:srgbClr val="0070C0"/>
                </a:solidFill>
              </a:rPr>
              <a:t> Identified Patterns</a:t>
            </a:r>
            <a:endParaRPr lang="en-US" sz="6000" b="1" dirty="0">
              <a:solidFill>
                <a:srgbClr val="0070C0"/>
              </a:solidFill>
              <a:latin typeface="Arial Black"/>
            </a:endParaRPr>
          </a:p>
        </p:txBody>
      </p:sp>
      <p:sp>
        <p:nvSpPr>
          <p:cNvPr id="31" name="TextBox 14">
            <a:extLst>
              <a:ext uri="{FF2B5EF4-FFF2-40B4-BE49-F238E27FC236}">
                <a16:creationId xmlns:a16="http://schemas.microsoft.com/office/drawing/2014/main" id="{66E4E96E-E685-2927-3285-7333F374EABB}"/>
              </a:ext>
            </a:extLst>
          </p:cNvPr>
          <p:cNvSpPr txBox="1"/>
          <p:nvPr/>
        </p:nvSpPr>
        <p:spPr>
          <a:xfrm>
            <a:off x="18362013" y="9735057"/>
            <a:ext cx="152400" cy="190500"/>
          </a:xfrm>
          <a:prstGeom prst="rect">
            <a:avLst/>
          </a:prstGeom>
        </p:spPr>
        <p:txBody>
          <a:bodyPr wrap="none" lIns="0" tIns="0" rIns="0" bIns="0" rtlCol="0" anchor="t">
            <a:spAutoFit/>
          </a:bodyPr>
          <a:lstStyle/>
          <a:p>
            <a:pPr algn="r">
              <a:lnSpc>
                <a:spcPts val="1679"/>
              </a:lnSpc>
              <a:spcBef>
                <a:spcPct val="0"/>
              </a:spcBef>
            </a:pPr>
            <a:r>
              <a:rPr lang="en-US" sz="1200" b="1">
                <a:solidFill>
                  <a:srgbClr val="004D40"/>
                </a:solidFill>
                <a:latin typeface="Telegraf Bold"/>
                <a:ea typeface="Telegraf Bold"/>
                <a:cs typeface="Telegraf Bold"/>
                <a:sym typeface="Telegraf Bold"/>
              </a:rPr>
              <a:t>2</a:t>
            </a:r>
          </a:p>
        </p:txBody>
      </p:sp>
      <p:sp>
        <p:nvSpPr>
          <p:cNvPr id="8" name="AutoShape 12">
            <a:extLst>
              <a:ext uri="{FF2B5EF4-FFF2-40B4-BE49-F238E27FC236}">
                <a16:creationId xmlns:a16="http://schemas.microsoft.com/office/drawing/2014/main" id="{F554A56A-59A8-929C-0C13-AEE01A854C3F}"/>
              </a:ext>
            </a:extLst>
          </p:cNvPr>
          <p:cNvSpPr/>
          <p:nvPr/>
        </p:nvSpPr>
        <p:spPr>
          <a:xfrm flipV="1">
            <a:off x="1055743" y="9704177"/>
            <a:ext cx="16851923" cy="29307"/>
          </a:xfrm>
          <a:prstGeom prst="line">
            <a:avLst/>
          </a:prstGeom>
          <a:ln w="57150" cap="flat">
            <a:solidFill>
              <a:srgbClr val="13A451"/>
            </a:solidFill>
            <a:prstDash val="sysDot"/>
            <a:headEnd type="none" w="sm" len="sm"/>
            <a:tailEnd type="none" w="sm" len="sm"/>
          </a:ln>
        </p:spPr>
      </p:sp>
      <p:pic>
        <p:nvPicPr>
          <p:cNvPr id="12" name="Picture 11" descr="Premier University | Center of Exellence for Quality Learning">
            <a:extLst>
              <a:ext uri="{FF2B5EF4-FFF2-40B4-BE49-F238E27FC236}">
                <a16:creationId xmlns:a16="http://schemas.microsoft.com/office/drawing/2014/main" id="{1EF7CF9B-3900-C46F-A0B6-83B7F3ED179C}"/>
              </a:ext>
            </a:extLst>
          </p:cNvPr>
          <p:cNvPicPr>
            <a:picLocks noChangeAspect="1"/>
          </p:cNvPicPr>
          <p:nvPr/>
        </p:nvPicPr>
        <p:blipFill>
          <a:blip r:embed="rId2"/>
          <a:srcRect t="-430" r="1575" b="1205"/>
          <a:stretch>
            <a:fillRect/>
          </a:stretch>
        </p:blipFill>
        <p:spPr>
          <a:xfrm>
            <a:off x="0" y="9163699"/>
            <a:ext cx="3279437" cy="1139570"/>
          </a:xfrm>
          <a:prstGeom prst="rect">
            <a:avLst/>
          </a:prstGeom>
        </p:spPr>
      </p:pic>
      <p:graphicFrame>
        <p:nvGraphicFramePr>
          <p:cNvPr id="13" name="Diagram 12">
            <a:extLst>
              <a:ext uri="{FF2B5EF4-FFF2-40B4-BE49-F238E27FC236}">
                <a16:creationId xmlns:a16="http://schemas.microsoft.com/office/drawing/2014/main" id="{848253B2-BD4F-402A-A2A6-A1185287EE8C}"/>
              </a:ext>
            </a:extLst>
          </p:cNvPr>
          <p:cNvGraphicFramePr/>
          <p:nvPr>
            <p:extLst>
              <p:ext uri="{D42A27DB-BD31-4B8C-83A1-F6EECF244321}">
                <p14:modId xmlns:p14="http://schemas.microsoft.com/office/powerpoint/2010/main" val="3459571079"/>
              </p:ext>
            </p:extLst>
          </p:nvPr>
        </p:nvGraphicFramePr>
        <p:xfrm>
          <a:off x="5764530" y="553516"/>
          <a:ext cx="11944350" cy="85906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24713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87475-6410-CF0C-8E19-FB05FF84076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145F91B-82E0-9524-F9AD-2E71B99829FD}"/>
              </a:ext>
            </a:extLst>
          </p:cNvPr>
          <p:cNvGrpSpPr/>
          <p:nvPr/>
        </p:nvGrpSpPr>
        <p:grpSpPr>
          <a:xfrm>
            <a:off x="0" y="0"/>
            <a:ext cx="718039" cy="10287000"/>
            <a:chOff x="0" y="0"/>
            <a:chExt cx="852938" cy="2709333"/>
          </a:xfrm>
        </p:grpSpPr>
        <p:sp>
          <p:nvSpPr>
            <p:cNvPr id="3" name="Freeform 3">
              <a:extLst>
                <a:ext uri="{FF2B5EF4-FFF2-40B4-BE49-F238E27FC236}">
                  <a16:creationId xmlns:a16="http://schemas.microsoft.com/office/drawing/2014/main" id="{97CC6F21-476F-F6C4-1220-D6E239938C64}"/>
                </a:ext>
              </a:extLst>
            </p:cNvPr>
            <p:cNvSpPr/>
            <p:nvPr/>
          </p:nvSpPr>
          <p:spPr>
            <a:xfrm>
              <a:off x="0" y="0"/>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A0D9F7"/>
            </a:solidFill>
            <a:ln>
              <a:solidFill>
                <a:srgbClr val="A0D9F7"/>
              </a:solidFill>
            </a:ln>
          </p:spPr>
        </p:sp>
        <p:sp>
          <p:nvSpPr>
            <p:cNvPr id="4" name="TextBox 4">
              <a:extLst>
                <a:ext uri="{FF2B5EF4-FFF2-40B4-BE49-F238E27FC236}">
                  <a16:creationId xmlns:a16="http://schemas.microsoft.com/office/drawing/2014/main" id="{60A78677-C335-ADAB-3B22-B310479E3978}"/>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grpSp>
        <p:nvGrpSpPr>
          <p:cNvPr id="7" name="Group 2">
            <a:extLst>
              <a:ext uri="{FF2B5EF4-FFF2-40B4-BE49-F238E27FC236}">
                <a16:creationId xmlns:a16="http://schemas.microsoft.com/office/drawing/2014/main" id="{BB7C5304-BDF2-992B-79E0-A983C88100E2}"/>
              </a:ext>
            </a:extLst>
          </p:cNvPr>
          <p:cNvGrpSpPr/>
          <p:nvPr/>
        </p:nvGrpSpPr>
        <p:grpSpPr>
          <a:xfrm>
            <a:off x="666978" y="-144661"/>
            <a:ext cx="2300654" cy="10576322"/>
            <a:chOff x="-1879943" y="-76200"/>
            <a:chExt cx="2732881" cy="2785533"/>
          </a:xfrm>
        </p:grpSpPr>
        <p:sp>
          <p:nvSpPr>
            <p:cNvPr id="9" name="Freeform 3">
              <a:extLst>
                <a:ext uri="{FF2B5EF4-FFF2-40B4-BE49-F238E27FC236}">
                  <a16:creationId xmlns:a16="http://schemas.microsoft.com/office/drawing/2014/main" id="{DBA0272D-4BAB-7670-D1DD-C84C70AD8FA2}"/>
                </a:ext>
              </a:extLst>
            </p:cNvPr>
            <p:cNvSpPr/>
            <p:nvPr/>
          </p:nvSpPr>
          <p:spPr>
            <a:xfrm>
              <a:off x="-1879943" y="-46313"/>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2AA7E1"/>
            </a:solidFill>
            <a:ln>
              <a:solidFill>
                <a:srgbClr val="A0D9F7"/>
              </a:solidFill>
            </a:ln>
          </p:spPr>
        </p:sp>
        <p:sp>
          <p:nvSpPr>
            <p:cNvPr id="10" name="TextBox 4">
              <a:extLst>
                <a:ext uri="{FF2B5EF4-FFF2-40B4-BE49-F238E27FC236}">
                  <a16:creationId xmlns:a16="http://schemas.microsoft.com/office/drawing/2014/main" id="{E629E917-63F7-6CB6-8C04-070C4079ECD8}"/>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sp>
        <p:nvSpPr>
          <p:cNvPr id="14" name="AutoShape 12">
            <a:extLst>
              <a:ext uri="{FF2B5EF4-FFF2-40B4-BE49-F238E27FC236}">
                <a16:creationId xmlns:a16="http://schemas.microsoft.com/office/drawing/2014/main" id="{7DF2B862-FCED-1A3F-7699-A9F1DF3268B6}"/>
              </a:ext>
            </a:extLst>
          </p:cNvPr>
          <p:cNvSpPr/>
          <p:nvPr/>
        </p:nvSpPr>
        <p:spPr>
          <a:xfrm flipV="1">
            <a:off x="1384788" y="9634904"/>
            <a:ext cx="16851923" cy="29307"/>
          </a:xfrm>
          <a:prstGeom prst="line">
            <a:avLst/>
          </a:prstGeom>
          <a:ln w="57150" cap="flat">
            <a:solidFill>
              <a:srgbClr val="13A451"/>
            </a:solidFill>
            <a:prstDash val="sysDot"/>
            <a:headEnd type="none" w="sm" len="sm"/>
            <a:tailEnd type="none" w="sm" len="sm"/>
          </a:ln>
        </p:spPr>
      </p:sp>
      <p:sp>
        <p:nvSpPr>
          <p:cNvPr id="31" name="TextBox 14">
            <a:extLst>
              <a:ext uri="{FF2B5EF4-FFF2-40B4-BE49-F238E27FC236}">
                <a16:creationId xmlns:a16="http://schemas.microsoft.com/office/drawing/2014/main" id="{F2CD3060-15FC-0A50-2A42-6CE4FC65CB86}"/>
              </a:ext>
            </a:extLst>
          </p:cNvPr>
          <p:cNvSpPr txBox="1"/>
          <p:nvPr/>
        </p:nvSpPr>
        <p:spPr>
          <a:xfrm>
            <a:off x="18362013" y="9735057"/>
            <a:ext cx="152400" cy="190500"/>
          </a:xfrm>
          <a:prstGeom prst="rect">
            <a:avLst/>
          </a:prstGeom>
        </p:spPr>
        <p:txBody>
          <a:bodyPr wrap="none" lIns="0" tIns="0" rIns="0" bIns="0" rtlCol="0" anchor="t">
            <a:spAutoFit/>
          </a:bodyPr>
          <a:lstStyle/>
          <a:p>
            <a:pPr algn="r">
              <a:lnSpc>
                <a:spcPts val="1679"/>
              </a:lnSpc>
              <a:spcBef>
                <a:spcPct val="0"/>
              </a:spcBef>
            </a:pPr>
            <a:r>
              <a:rPr lang="en-US" sz="1200" b="1">
                <a:solidFill>
                  <a:srgbClr val="004D40"/>
                </a:solidFill>
                <a:latin typeface="Telegraf Bold"/>
                <a:ea typeface="Telegraf Bold"/>
                <a:cs typeface="Telegraf Bold"/>
                <a:sym typeface="Telegraf Bold"/>
              </a:rPr>
              <a:t>2</a:t>
            </a:r>
          </a:p>
        </p:txBody>
      </p:sp>
      <p:grpSp>
        <p:nvGrpSpPr>
          <p:cNvPr id="12" name="Group 2">
            <a:extLst>
              <a:ext uri="{FF2B5EF4-FFF2-40B4-BE49-F238E27FC236}">
                <a16:creationId xmlns:a16="http://schemas.microsoft.com/office/drawing/2014/main" id="{C34B11E4-14ED-8F65-9400-0A61A83AD631}"/>
              </a:ext>
            </a:extLst>
          </p:cNvPr>
          <p:cNvGrpSpPr/>
          <p:nvPr/>
        </p:nvGrpSpPr>
        <p:grpSpPr>
          <a:xfrm>
            <a:off x="1855182" y="231965"/>
            <a:ext cx="14637723" cy="1931041"/>
            <a:chOff x="452318" y="-693817"/>
            <a:chExt cx="19516967" cy="2574721"/>
          </a:xfrm>
        </p:grpSpPr>
        <p:sp>
          <p:nvSpPr>
            <p:cNvPr id="6" name="TextBox 3">
              <a:extLst>
                <a:ext uri="{FF2B5EF4-FFF2-40B4-BE49-F238E27FC236}">
                  <a16:creationId xmlns:a16="http://schemas.microsoft.com/office/drawing/2014/main" id="{D8F6D9E4-7C09-4A13-3A49-FD0E420A152F}"/>
                </a:ext>
              </a:extLst>
            </p:cNvPr>
            <p:cNvSpPr txBox="1"/>
            <p:nvPr/>
          </p:nvSpPr>
          <p:spPr>
            <a:xfrm>
              <a:off x="452318" y="-693817"/>
              <a:ext cx="9182099" cy="2574721"/>
            </a:xfrm>
            <a:prstGeom prst="rect">
              <a:avLst/>
            </a:prstGeom>
          </p:spPr>
          <p:txBody>
            <a:bodyPr lIns="0" tIns="0" rIns="0" bIns="0" rtlCol="0" anchor="t">
              <a:spAutoFit/>
            </a:bodyPr>
            <a:lstStyle/>
            <a:p>
              <a:pPr marL="0" lvl="0" indent="0" algn="l">
                <a:lnSpc>
                  <a:spcPts val="7699"/>
                </a:lnSpc>
              </a:pPr>
              <a:r>
                <a:rPr lang="en-US" sz="6000" b="1" dirty="0">
                  <a:solidFill>
                    <a:srgbClr val="0070C0"/>
                  </a:solidFill>
                </a:rPr>
                <a:t>Category 1: Road Hazards-</a:t>
              </a:r>
              <a:endParaRPr lang="en-US" sz="6000" b="1" spc="-69" dirty="0">
                <a:solidFill>
                  <a:srgbClr val="0070C0"/>
                </a:solidFill>
                <a:latin typeface="Arial Black"/>
                <a:ea typeface="Telegraf Bold"/>
                <a:cs typeface="Telegraf Bold"/>
              </a:endParaRPr>
            </a:p>
          </p:txBody>
        </p:sp>
        <p:sp>
          <p:nvSpPr>
            <p:cNvPr id="8" name="TextBox 4">
              <a:extLst>
                <a:ext uri="{FF2B5EF4-FFF2-40B4-BE49-F238E27FC236}">
                  <a16:creationId xmlns:a16="http://schemas.microsoft.com/office/drawing/2014/main" id="{1131FF81-A442-CA29-7A8E-2A370A0059E5}"/>
                </a:ext>
              </a:extLst>
            </p:cNvPr>
            <p:cNvSpPr txBox="1"/>
            <p:nvPr/>
          </p:nvSpPr>
          <p:spPr>
            <a:xfrm>
              <a:off x="10787185" y="927570"/>
              <a:ext cx="9182100" cy="564257"/>
            </a:xfrm>
            <a:prstGeom prst="rect">
              <a:avLst/>
            </a:prstGeom>
          </p:spPr>
          <p:txBody>
            <a:bodyPr lIns="0" tIns="0" rIns="0" bIns="0" rtlCol="0" anchor="t">
              <a:spAutoFit/>
            </a:bodyPr>
            <a:lstStyle/>
            <a:p>
              <a:pPr marL="0" lvl="0" indent="0" algn="l">
                <a:lnSpc>
                  <a:spcPts val="3300"/>
                </a:lnSpc>
              </a:pPr>
              <a:r>
                <a:rPr lang="en-US" sz="3000" b="1" u="sng" spc="-30" dirty="0">
                  <a:latin typeface="Telegraf Bold"/>
                  <a:ea typeface="Telegraf Bold"/>
                  <a:cs typeface="Telegraf Bold"/>
                  <a:sym typeface="Telegraf Bold"/>
                </a:rPr>
                <a:t>Key Insights and Findings</a:t>
              </a:r>
              <a:r>
                <a:rPr lang="en-US" sz="3000" b="1" spc="-30" dirty="0">
                  <a:latin typeface="Telegraf Bold"/>
                  <a:ea typeface="Telegraf Bold"/>
                  <a:cs typeface="Telegraf Bold"/>
                  <a:sym typeface="Telegraf Bold"/>
                </a:rPr>
                <a:t>:</a:t>
              </a:r>
            </a:p>
          </p:txBody>
        </p:sp>
      </p:grpSp>
      <p:sp>
        <p:nvSpPr>
          <p:cNvPr id="24" name="TextBox 8">
            <a:extLst>
              <a:ext uri="{FF2B5EF4-FFF2-40B4-BE49-F238E27FC236}">
                <a16:creationId xmlns:a16="http://schemas.microsoft.com/office/drawing/2014/main" id="{32920595-302A-0DD8-FA84-6D12146450C0}"/>
              </a:ext>
            </a:extLst>
          </p:cNvPr>
          <p:cNvSpPr txBox="1"/>
          <p:nvPr/>
        </p:nvSpPr>
        <p:spPr>
          <a:xfrm>
            <a:off x="18324136" y="9822980"/>
            <a:ext cx="152400" cy="190500"/>
          </a:xfrm>
          <a:prstGeom prst="rect">
            <a:avLst/>
          </a:prstGeom>
        </p:spPr>
        <p:txBody>
          <a:bodyPr wrap="none" lIns="0" tIns="0" rIns="0" bIns="0" rtlCol="0" anchor="t">
            <a:spAutoFit/>
          </a:bodyPr>
          <a:lstStyle/>
          <a:p>
            <a:pPr algn="r">
              <a:lnSpc>
                <a:spcPts val="1679"/>
              </a:lnSpc>
              <a:spcBef>
                <a:spcPct val="0"/>
              </a:spcBef>
            </a:pPr>
            <a:r>
              <a:rPr lang="en-US" sz="1200" b="1">
                <a:solidFill>
                  <a:srgbClr val="004D40"/>
                </a:solidFill>
                <a:latin typeface="Telegraf Bold"/>
                <a:ea typeface="Telegraf Bold"/>
                <a:cs typeface="Telegraf Bold"/>
                <a:sym typeface="Telegraf Bold"/>
              </a:rPr>
              <a:t>3</a:t>
            </a:r>
          </a:p>
        </p:txBody>
      </p:sp>
      <p:pic>
        <p:nvPicPr>
          <p:cNvPr id="13" name="Picture 12" descr="Premier University | Center of Exellence for Quality Learning">
            <a:extLst>
              <a:ext uri="{FF2B5EF4-FFF2-40B4-BE49-F238E27FC236}">
                <a16:creationId xmlns:a16="http://schemas.microsoft.com/office/drawing/2014/main" id="{A4D8A288-068A-BAE9-389D-C07D85BC32D7}"/>
              </a:ext>
            </a:extLst>
          </p:cNvPr>
          <p:cNvPicPr>
            <a:picLocks noChangeAspect="1"/>
          </p:cNvPicPr>
          <p:nvPr/>
        </p:nvPicPr>
        <p:blipFill>
          <a:blip r:embed="rId2"/>
          <a:srcRect t="-430" r="1575" b="1205"/>
          <a:stretch>
            <a:fillRect/>
          </a:stretch>
        </p:blipFill>
        <p:spPr>
          <a:xfrm>
            <a:off x="0" y="9147430"/>
            <a:ext cx="3279437" cy="1139570"/>
          </a:xfrm>
          <a:prstGeom prst="rect">
            <a:avLst/>
          </a:prstGeom>
        </p:spPr>
      </p:pic>
      <p:sp>
        <p:nvSpPr>
          <p:cNvPr id="5" name="Rectangle 1">
            <a:extLst>
              <a:ext uri="{FF2B5EF4-FFF2-40B4-BE49-F238E27FC236}">
                <a16:creationId xmlns:a16="http://schemas.microsoft.com/office/drawing/2014/main" id="{12F1E28F-C86D-4813-AA42-A05B0ACC0B5F}"/>
              </a:ext>
            </a:extLst>
          </p:cNvPr>
          <p:cNvSpPr>
            <a:spLocks noChangeArrowheads="1"/>
          </p:cNvSpPr>
          <p:nvPr/>
        </p:nvSpPr>
        <p:spPr bwMode="auto">
          <a:xfrm>
            <a:off x="9601200" y="1997653"/>
            <a:ext cx="82804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3000" b="1" i="0" u="none" strike="noStrike" cap="none" normalizeH="0" baseline="0" dirty="0">
                <a:ln>
                  <a:noFill/>
                </a:ln>
                <a:effectLst/>
              </a:rPr>
              <a:t>The YO</a:t>
            </a:r>
            <a:r>
              <a:rPr lang="en-US" altLang="en-US" sz="3000" b="1" dirty="0"/>
              <a:t>LOX-ECA model achieves high accuracy in manhole-cover condition detection.</a:t>
            </a:r>
            <a:endParaRPr kumimoji="0" lang="en-US" altLang="en-US" sz="3000" b="1" i="0" u="none" strike="noStrike" cap="none" normalizeH="0" baseline="0" dirty="0">
              <a:ln>
                <a:noFill/>
              </a:ln>
              <a:effectLs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3000" b="1" i="0" u="none" strike="noStrike" cap="none" normalizeH="0" baseline="0" dirty="0">
                <a:ln>
                  <a:noFill/>
                </a:ln>
                <a:effectLst/>
              </a:rPr>
              <a:t>ECA attention helps network focus on key manhole-cover features.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3000" b="1" i="0" u="none" strike="noStrike" cap="none" normalizeH="0" baseline="0" dirty="0">
                <a:ln>
                  <a:noFill/>
                </a:ln>
                <a:effectLst/>
              </a:rPr>
              <a:t>The improved YOLOv8 model enhances pothole</a:t>
            </a:r>
            <a:r>
              <a:rPr lang="en-US" altLang="en-US" sz="3000" b="1" dirty="0"/>
              <a:t> detection in complex scenes.</a:t>
            </a:r>
            <a:endParaRPr kumimoji="0" lang="en-US" altLang="en-US" sz="3000" b="1" i="0" u="none" strike="noStrike" cap="none" normalizeH="0" baseline="0" dirty="0">
              <a:ln>
                <a:noFill/>
              </a:ln>
              <a:effectLs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3000" b="1" i="0" u="none" strike="noStrike" cap="none" normalizeH="0" baseline="0" dirty="0">
                <a:ln>
                  <a:noFill/>
                </a:ln>
                <a:effectLst/>
              </a:rPr>
              <a:t>Multi-scale feature extraction improves robustness in varied road environments.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lang="en-US" altLang="en-US" sz="3000" b="1" dirty="0"/>
              <a:t>Both models work effectively using dash-cam/vehicle mounted images</a:t>
            </a:r>
            <a:endParaRPr kumimoji="0" lang="en-US" altLang="en-US" sz="3000" b="1" i="0" u="none" strike="noStrike" cap="none" normalizeH="0" baseline="0" dirty="0">
              <a:ln>
                <a:noFill/>
              </a:ln>
              <a:effectLst/>
            </a:endParaRPr>
          </a:p>
          <a:p>
            <a:pPr marR="0" lvl="0" algn="l" defTabSz="914400" rtl="0" eaLnBrk="0" fontAlgn="base" latinLnBrk="0" hangingPunct="0">
              <a:lnSpc>
                <a:spcPct val="100000"/>
              </a:lnSpc>
              <a:spcBef>
                <a:spcPct val="0"/>
              </a:spcBef>
              <a:spcAft>
                <a:spcPct val="0"/>
              </a:spcAft>
              <a:buClrTx/>
              <a:buSzTx/>
              <a:tabLst/>
            </a:pPr>
            <a:endParaRPr kumimoji="0" lang="en-US" altLang="en-US" sz="3000" b="1" i="0" u="none" strike="noStrike" cap="none" normalizeH="0" baseline="0" dirty="0">
              <a:ln>
                <a:noFill/>
              </a:ln>
              <a:effectLs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3000" b="1" i="0" u="none" strike="noStrike" cap="none" normalizeH="0" baseline="0" dirty="0">
              <a:ln>
                <a:noFill/>
              </a:ln>
              <a:solidFill>
                <a:srgbClr val="246E44"/>
              </a:solidFill>
              <a:effectLst/>
            </a:endParaRPr>
          </a:p>
        </p:txBody>
      </p:sp>
    </p:spTree>
    <p:extLst>
      <p:ext uri="{BB962C8B-B14F-4D97-AF65-F5344CB8AC3E}">
        <p14:creationId xmlns:p14="http://schemas.microsoft.com/office/powerpoint/2010/main" val="1750706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AA7E1"/>
        </a:solidFill>
        <a:effectLst/>
      </p:bgPr>
    </p:bg>
    <p:spTree>
      <p:nvGrpSpPr>
        <p:cNvPr id="1" name="">
          <a:extLst>
            <a:ext uri="{FF2B5EF4-FFF2-40B4-BE49-F238E27FC236}">
              <a16:creationId xmlns:a16="http://schemas.microsoft.com/office/drawing/2014/main" id="{12B315EF-481C-342F-D45F-FB76657A48F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C2C946D-A8AB-6105-1445-BF3BF4C07037}"/>
              </a:ext>
            </a:extLst>
          </p:cNvPr>
          <p:cNvGrpSpPr/>
          <p:nvPr/>
        </p:nvGrpSpPr>
        <p:grpSpPr>
          <a:xfrm>
            <a:off x="0" y="0"/>
            <a:ext cx="1005839" cy="10287000"/>
            <a:chOff x="0" y="0"/>
            <a:chExt cx="852938" cy="2709333"/>
          </a:xfrm>
        </p:grpSpPr>
        <p:sp>
          <p:nvSpPr>
            <p:cNvPr id="3" name="Freeform 3">
              <a:extLst>
                <a:ext uri="{FF2B5EF4-FFF2-40B4-BE49-F238E27FC236}">
                  <a16:creationId xmlns:a16="http://schemas.microsoft.com/office/drawing/2014/main" id="{C45D3A24-B1E2-DA35-B078-D4069A488320}"/>
                </a:ext>
              </a:extLst>
            </p:cNvPr>
            <p:cNvSpPr/>
            <p:nvPr/>
          </p:nvSpPr>
          <p:spPr>
            <a:xfrm>
              <a:off x="0" y="0"/>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A0D9F7"/>
            </a:solidFill>
            <a:ln>
              <a:solidFill>
                <a:srgbClr val="A0D9F7"/>
              </a:solidFill>
            </a:ln>
          </p:spPr>
        </p:sp>
        <p:sp>
          <p:nvSpPr>
            <p:cNvPr id="4" name="TextBox 4">
              <a:extLst>
                <a:ext uri="{FF2B5EF4-FFF2-40B4-BE49-F238E27FC236}">
                  <a16:creationId xmlns:a16="http://schemas.microsoft.com/office/drawing/2014/main" id="{4622C7CB-8721-B785-F725-D2A017B97AFD}"/>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sp>
        <p:nvSpPr>
          <p:cNvPr id="18" name="TextBox 4">
            <a:extLst>
              <a:ext uri="{FF2B5EF4-FFF2-40B4-BE49-F238E27FC236}">
                <a16:creationId xmlns:a16="http://schemas.microsoft.com/office/drawing/2014/main" id="{7D76C5C5-8B20-48E7-A3A2-2BF5EF2E4E6A}"/>
              </a:ext>
            </a:extLst>
          </p:cNvPr>
          <p:cNvSpPr txBox="1"/>
          <p:nvPr/>
        </p:nvSpPr>
        <p:spPr>
          <a:xfrm>
            <a:off x="1229897" y="4881447"/>
            <a:ext cx="7018605" cy="27611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800"/>
              </a:lnSpc>
            </a:pPr>
            <a:r>
              <a:rPr lang="en-US" sz="3000" b="1" dirty="0">
                <a:solidFill>
                  <a:schemeClr val="bg1"/>
                </a:solidFill>
              </a:rPr>
              <a:t>System Output Examples:</a:t>
            </a:r>
          </a:p>
          <a:p>
            <a:pPr marL="342900" indent="-342900">
              <a:lnSpc>
                <a:spcPts val="2800"/>
              </a:lnSpc>
              <a:buFont typeface="Wingdings" panose="05000000000000000000" pitchFamily="2" charset="2"/>
              <a:buChar char="Ø"/>
            </a:pPr>
            <a:r>
              <a:rPr lang="it-IT" sz="3000" b="1" dirty="0">
                <a:solidFill>
                  <a:schemeClr val="bg1"/>
                </a:solidFill>
              </a:rPr>
              <a:t>Pothole dataset in complex scenarios.</a:t>
            </a:r>
          </a:p>
          <a:p>
            <a:pPr marL="342900" indent="-342900">
              <a:lnSpc>
                <a:spcPts val="2800"/>
              </a:lnSpc>
              <a:buFont typeface="Wingdings" panose="05000000000000000000" pitchFamily="2" charset="2"/>
              <a:buChar char="Ø"/>
            </a:pPr>
            <a:r>
              <a:rPr lang="en-US" sz="3000" b="1" dirty="0">
                <a:solidFill>
                  <a:schemeClr val="bg1"/>
                </a:solidFill>
              </a:rPr>
              <a:t>Manhole Condition Alert.</a:t>
            </a:r>
            <a:endParaRPr lang="it-IT" sz="3000" b="1" dirty="0">
              <a:solidFill>
                <a:schemeClr val="bg1"/>
              </a:solidFill>
            </a:endParaRPr>
          </a:p>
          <a:p>
            <a:pPr marL="342900" indent="-342900">
              <a:lnSpc>
                <a:spcPts val="2800"/>
              </a:lnSpc>
              <a:buFont typeface="Wingdings" panose="05000000000000000000" pitchFamily="2" charset="2"/>
              <a:buChar char="Ø"/>
            </a:pPr>
            <a:r>
              <a:rPr lang="en-US" sz="3000" b="1" dirty="0">
                <a:solidFill>
                  <a:schemeClr val="bg1"/>
                </a:solidFill>
              </a:rPr>
              <a:t>Pothole Hazard Warning.</a:t>
            </a:r>
            <a:endParaRPr lang="it-IT" sz="3000" b="1" dirty="0">
              <a:solidFill>
                <a:schemeClr val="bg1"/>
              </a:solidFill>
            </a:endParaRPr>
          </a:p>
          <a:p>
            <a:pPr marL="342900" indent="-342900">
              <a:lnSpc>
                <a:spcPts val="2800"/>
              </a:lnSpc>
              <a:buFont typeface="Wingdings" panose="05000000000000000000" pitchFamily="2" charset="2"/>
              <a:buChar char="Ø"/>
            </a:pPr>
            <a:r>
              <a:rPr lang="en-US" sz="3000" b="1" dirty="0">
                <a:solidFill>
                  <a:schemeClr val="bg1"/>
                </a:solidFill>
              </a:rPr>
              <a:t>Road Surface Health Report.</a:t>
            </a:r>
            <a:endParaRPr sz="3000" b="1" dirty="0">
              <a:solidFill>
                <a:schemeClr val="bg1"/>
              </a:solidFill>
            </a:endParaRPr>
          </a:p>
        </p:txBody>
      </p:sp>
      <p:sp>
        <p:nvSpPr>
          <p:cNvPr id="21" name="TextBox 4">
            <a:extLst>
              <a:ext uri="{FF2B5EF4-FFF2-40B4-BE49-F238E27FC236}">
                <a16:creationId xmlns:a16="http://schemas.microsoft.com/office/drawing/2014/main" id="{5E80C229-E174-5AB3-FAB3-6351B5A7160E}"/>
              </a:ext>
            </a:extLst>
          </p:cNvPr>
          <p:cNvSpPr txBox="1"/>
          <p:nvPr/>
        </p:nvSpPr>
        <p:spPr>
          <a:xfrm>
            <a:off x="3692772" y="2377677"/>
            <a:ext cx="13041921" cy="58240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800"/>
              </a:lnSpc>
            </a:pPr>
            <a:endParaRPr/>
          </a:p>
        </p:txBody>
      </p:sp>
      <p:sp>
        <p:nvSpPr>
          <p:cNvPr id="22" name="TextBox 21">
            <a:extLst>
              <a:ext uri="{FF2B5EF4-FFF2-40B4-BE49-F238E27FC236}">
                <a16:creationId xmlns:a16="http://schemas.microsoft.com/office/drawing/2014/main" id="{80BAD6D6-20A2-14F1-B878-C0C0EF002153}"/>
              </a:ext>
            </a:extLst>
          </p:cNvPr>
          <p:cNvSpPr txBox="1"/>
          <p:nvPr/>
        </p:nvSpPr>
        <p:spPr>
          <a:xfrm>
            <a:off x="1229897" y="328974"/>
            <a:ext cx="8223249"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0" b="1" dirty="0">
                <a:solidFill>
                  <a:schemeClr val="bg1"/>
                </a:solidFill>
              </a:rPr>
              <a:t>Example &amp; Findings (Category 1)</a:t>
            </a:r>
            <a:r>
              <a:rPr lang="en-US" sz="6000" b="1" dirty="0">
                <a:solidFill>
                  <a:schemeClr val="bg1"/>
                </a:solidFill>
                <a:ea typeface="Calibri"/>
                <a:cs typeface="Calibri"/>
              </a:rPr>
              <a:t> :</a:t>
            </a:r>
          </a:p>
        </p:txBody>
      </p:sp>
      <p:sp>
        <p:nvSpPr>
          <p:cNvPr id="28" name="Arrow" descr="Dashed Arrow">
            <a:extLst>
              <a:ext uri="{FF2B5EF4-FFF2-40B4-BE49-F238E27FC236}">
                <a16:creationId xmlns:a16="http://schemas.microsoft.com/office/drawing/2014/main" id="{E4E363DF-78BF-7047-827C-B91CD97363E6}"/>
              </a:ext>
            </a:extLst>
          </p:cNvPr>
          <p:cNvSpPr/>
          <p:nvPr/>
        </p:nvSpPr>
        <p:spPr>
          <a:xfrm rot="5400000" flipV="1">
            <a:off x="9034350" y="6243663"/>
            <a:ext cx="3060251" cy="3667789"/>
          </a:xfrm>
          <a:prstGeom prst="arc">
            <a:avLst>
              <a:gd name="adj1" fmla="val 12549592"/>
              <a:gd name="adj2" fmla="val 4002257"/>
            </a:avLst>
          </a:prstGeom>
          <a:ln w="20320">
            <a:solidFill>
              <a:schemeClr val="bg1"/>
            </a:solidFill>
            <a:prstDash val="dash"/>
            <a:headEnd type="arrow" w="lg"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dirty="0">
              <a:latin typeface="Arial" charset="0"/>
            </a:endParaRPr>
          </a:p>
        </p:txBody>
      </p:sp>
      <p:sp>
        <p:nvSpPr>
          <p:cNvPr id="29" name="TextBox 28">
            <a:extLst>
              <a:ext uri="{FF2B5EF4-FFF2-40B4-BE49-F238E27FC236}">
                <a16:creationId xmlns:a16="http://schemas.microsoft.com/office/drawing/2014/main" id="{22020E2B-EB57-4FC5-9640-EF7ED0D3460B}"/>
              </a:ext>
            </a:extLst>
          </p:cNvPr>
          <p:cNvSpPr txBox="1"/>
          <p:nvPr/>
        </p:nvSpPr>
        <p:spPr>
          <a:xfrm>
            <a:off x="1196265" y="2214323"/>
            <a:ext cx="7496066" cy="3323987"/>
          </a:xfrm>
          <a:prstGeom prst="rect">
            <a:avLst/>
          </a:prstGeom>
          <a:noFill/>
        </p:spPr>
        <p:txBody>
          <a:bodyPr wrap="square">
            <a:spAutoFit/>
          </a:bodyPr>
          <a:lstStyle/>
          <a:p>
            <a:r>
              <a:rPr lang="en-US" sz="3000" b="1" dirty="0">
                <a:solidFill>
                  <a:schemeClr val="bg1"/>
                </a:solidFill>
              </a:rPr>
              <a:t>Example Outputs:</a:t>
            </a:r>
          </a:p>
          <a:p>
            <a:pPr marL="457200" indent="-457200">
              <a:buFont typeface="Wingdings" panose="05000000000000000000" pitchFamily="2" charset="2"/>
              <a:buChar char="§"/>
            </a:pPr>
            <a:r>
              <a:rPr lang="en-US" sz="3000" b="1" dirty="0">
                <a:solidFill>
                  <a:schemeClr val="bg1"/>
                </a:solidFill>
              </a:rPr>
              <a:t>Road cracks</a:t>
            </a:r>
          </a:p>
          <a:p>
            <a:pPr marL="457200" indent="-457200">
              <a:buFont typeface="Wingdings" panose="05000000000000000000" pitchFamily="2" charset="2"/>
              <a:buChar char="§"/>
            </a:pPr>
            <a:r>
              <a:rPr lang="en-US" sz="3000" b="1" dirty="0">
                <a:solidFill>
                  <a:schemeClr val="bg1"/>
                </a:solidFill>
              </a:rPr>
              <a:t>Lane-marking degradation</a:t>
            </a:r>
          </a:p>
          <a:p>
            <a:pPr marL="457200" indent="-457200">
              <a:buFont typeface="Wingdings" panose="05000000000000000000" pitchFamily="2" charset="2"/>
              <a:buChar char="§"/>
            </a:pPr>
            <a:r>
              <a:rPr lang="en-US" sz="3000" b="1" dirty="0">
                <a:solidFill>
                  <a:schemeClr val="bg1"/>
                </a:solidFill>
              </a:rPr>
              <a:t>Waterlogging</a:t>
            </a:r>
          </a:p>
          <a:p>
            <a:pPr marL="457200" indent="-457200">
              <a:buFont typeface="Wingdings" panose="05000000000000000000" pitchFamily="2" charset="2"/>
              <a:buChar char="§"/>
            </a:pPr>
            <a:r>
              <a:rPr lang="en-US" sz="3000" b="1" dirty="0">
                <a:solidFill>
                  <a:schemeClr val="bg1"/>
                </a:solidFill>
              </a:rPr>
              <a:t>Road debris</a:t>
            </a:r>
          </a:p>
          <a:p>
            <a:pPr marL="457200" indent="-457200">
              <a:buFont typeface="Wingdings" panose="05000000000000000000" pitchFamily="2" charset="2"/>
              <a:buChar char="§"/>
            </a:pPr>
            <a:r>
              <a:rPr lang="en-US" sz="3000" b="1" dirty="0">
                <a:solidFill>
                  <a:schemeClr val="bg1"/>
                </a:solidFill>
              </a:rPr>
              <a:t>General road-surface damage</a:t>
            </a:r>
          </a:p>
          <a:p>
            <a:endParaRPr lang="en-US" sz="3000" b="1" dirty="0">
              <a:solidFill>
                <a:schemeClr val="bg1"/>
              </a:solidFill>
            </a:endParaRPr>
          </a:p>
        </p:txBody>
      </p:sp>
      <p:pic>
        <p:nvPicPr>
          <p:cNvPr id="12" name="Picture 11" descr="A collage of potholes and puddles&#10;&#10;AI-generated content may be incorrect.">
            <a:extLst>
              <a:ext uri="{FF2B5EF4-FFF2-40B4-BE49-F238E27FC236}">
                <a16:creationId xmlns:a16="http://schemas.microsoft.com/office/drawing/2014/main" id="{8F142F12-23CA-D040-4300-348A0A5A98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72002" y="1333423"/>
            <a:ext cx="7320911" cy="7230006"/>
          </a:xfrm>
          <a:prstGeom prst="rect">
            <a:avLst/>
          </a:prstGeom>
        </p:spPr>
      </p:pic>
    </p:spTree>
    <p:extLst>
      <p:ext uri="{BB962C8B-B14F-4D97-AF65-F5344CB8AC3E}">
        <p14:creationId xmlns:p14="http://schemas.microsoft.com/office/powerpoint/2010/main" val="2681513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87475-6410-CF0C-8E19-FB05FF84076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145F91B-82E0-9524-F9AD-2E71B99829FD}"/>
              </a:ext>
            </a:extLst>
          </p:cNvPr>
          <p:cNvGrpSpPr/>
          <p:nvPr/>
        </p:nvGrpSpPr>
        <p:grpSpPr>
          <a:xfrm>
            <a:off x="0" y="0"/>
            <a:ext cx="718039" cy="10287000"/>
            <a:chOff x="0" y="0"/>
            <a:chExt cx="852938" cy="2709333"/>
          </a:xfrm>
        </p:grpSpPr>
        <p:sp>
          <p:nvSpPr>
            <p:cNvPr id="3" name="Freeform 3">
              <a:extLst>
                <a:ext uri="{FF2B5EF4-FFF2-40B4-BE49-F238E27FC236}">
                  <a16:creationId xmlns:a16="http://schemas.microsoft.com/office/drawing/2014/main" id="{97CC6F21-476F-F6C4-1220-D6E239938C64}"/>
                </a:ext>
              </a:extLst>
            </p:cNvPr>
            <p:cNvSpPr/>
            <p:nvPr/>
          </p:nvSpPr>
          <p:spPr>
            <a:xfrm>
              <a:off x="0" y="0"/>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A0D9F7"/>
            </a:solidFill>
            <a:ln>
              <a:solidFill>
                <a:srgbClr val="A0D9F7"/>
              </a:solidFill>
            </a:ln>
          </p:spPr>
        </p:sp>
        <p:sp>
          <p:nvSpPr>
            <p:cNvPr id="4" name="TextBox 4">
              <a:extLst>
                <a:ext uri="{FF2B5EF4-FFF2-40B4-BE49-F238E27FC236}">
                  <a16:creationId xmlns:a16="http://schemas.microsoft.com/office/drawing/2014/main" id="{60A78677-C335-ADAB-3B22-B310479E3978}"/>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grpSp>
        <p:nvGrpSpPr>
          <p:cNvPr id="7" name="Group 2">
            <a:extLst>
              <a:ext uri="{FF2B5EF4-FFF2-40B4-BE49-F238E27FC236}">
                <a16:creationId xmlns:a16="http://schemas.microsoft.com/office/drawing/2014/main" id="{BB7C5304-BDF2-992B-79E0-A983C88100E2}"/>
              </a:ext>
            </a:extLst>
          </p:cNvPr>
          <p:cNvGrpSpPr/>
          <p:nvPr/>
        </p:nvGrpSpPr>
        <p:grpSpPr>
          <a:xfrm>
            <a:off x="666978" y="-144661"/>
            <a:ext cx="2300654" cy="10576322"/>
            <a:chOff x="-1879943" y="-76200"/>
            <a:chExt cx="2732881" cy="2785533"/>
          </a:xfrm>
        </p:grpSpPr>
        <p:sp>
          <p:nvSpPr>
            <p:cNvPr id="9" name="Freeform 3">
              <a:extLst>
                <a:ext uri="{FF2B5EF4-FFF2-40B4-BE49-F238E27FC236}">
                  <a16:creationId xmlns:a16="http://schemas.microsoft.com/office/drawing/2014/main" id="{DBA0272D-4BAB-7670-D1DD-C84C70AD8FA2}"/>
                </a:ext>
              </a:extLst>
            </p:cNvPr>
            <p:cNvSpPr/>
            <p:nvPr/>
          </p:nvSpPr>
          <p:spPr>
            <a:xfrm>
              <a:off x="-1879943" y="-46313"/>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2AA7E1"/>
            </a:solidFill>
            <a:ln>
              <a:solidFill>
                <a:srgbClr val="A0D9F7"/>
              </a:solidFill>
            </a:ln>
          </p:spPr>
        </p:sp>
        <p:sp>
          <p:nvSpPr>
            <p:cNvPr id="10" name="TextBox 4">
              <a:extLst>
                <a:ext uri="{FF2B5EF4-FFF2-40B4-BE49-F238E27FC236}">
                  <a16:creationId xmlns:a16="http://schemas.microsoft.com/office/drawing/2014/main" id="{E629E917-63F7-6CB6-8C04-070C4079ECD8}"/>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sp>
        <p:nvSpPr>
          <p:cNvPr id="14" name="AutoShape 12">
            <a:extLst>
              <a:ext uri="{FF2B5EF4-FFF2-40B4-BE49-F238E27FC236}">
                <a16:creationId xmlns:a16="http://schemas.microsoft.com/office/drawing/2014/main" id="{7DF2B862-FCED-1A3F-7699-A9F1DF3268B6}"/>
              </a:ext>
            </a:extLst>
          </p:cNvPr>
          <p:cNvSpPr/>
          <p:nvPr/>
        </p:nvSpPr>
        <p:spPr>
          <a:xfrm flipV="1">
            <a:off x="1384788" y="9634904"/>
            <a:ext cx="16851923" cy="29307"/>
          </a:xfrm>
          <a:prstGeom prst="line">
            <a:avLst/>
          </a:prstGeom>
          <a:ln w="57150" cap="flat">
            <a:solidFill>
              <a:srgbClr val="13A451"/>
            </a:solidFill>
            <a:prstDash val="sysDot"/>
            <a:headEnd type="none" w="sm" len="sm"/>
            <a:tailEnd type="none" w="sm" len="sm"/>
          </a:ln>
        </p:spPr>
      </p:sp>
      <p:sp>
        <p:nvSpPr>
          <p:cNvPr id="31" name="TextBox 14">
            <a:extLst>
              <a:ext uri="{FF2B5EF4-FFF2-40B4-BE49-F238E27FC236}">
                <a16:creationId xmlns:a16="http://schemas.microsoft.com/office/drawing/2014/main" id="{F2CD3060-15FC-0A50-2A42-6CE4FC65CB86}"/>
              </a:ext>
            </a:extLst>
          </p:cNvPr>
          <p:cNvSpPr txBox="1"/>
          <p:nvPr/>
        </p:nvSpPr>
        <p:spPr>
          <a:xfrm>
            <a:off x="18362013" y="9735057"/>
            <a:ext cx="152400" cy="190500"/>
          </a:xfrm>
          <a:prstGeom prst="rect">
            <a:avLst/>
          </a:prstGeom>
        </p:spPr>
        <p:txBody>
          <a:bodyPr wrap="none" lIns="0" tIns="0" rIns="0" bIns="0" rtlCol="0" anchor="t">
            <a:spAutoFit/>
          </a:bodyPr>
          <a:lstStyle/>
          <a:p>
            <a:pPr algn="r">
              <a:lnSpc>
                <a:spcPts val="1679"/>
              </a:lnSpc>
              <a:spcBef>
                <a:spcPct val="0"/>
              </a:spcBef>
            </a:pPr>
            <a:r>
              <a:rPr lang="en-US" sz="1200" b="1">
                <a:solidFill>
                  <a:srgbClr val="004D40"/>
                </a:solidFill>
                <a:latin typeface="Telegraf Bold"/>
                <a:ea typeface="Telegraf Bold"/>
                <a:cs typeface="Telegraf Bold"/>
                <a:sym typeface="Telegraf Bold"/>
              </a:rPr>
              <a:t>2</a:t>
            </a:r>
          </a:p>
        </p:txBody>
      </p:sp>
      <p:sp>
        <p:nvSpPr>
          <p:cNvPr id="6" name="TextBox 3">
            <a:extLst>
              <a:ext uri="{FF2B5EF4-FFF2-40B4-BE49-F238E27FC236}">
                <a16:creationId xmlns:a16="http://schemas.microsoft.com/office/drawing/2014/main" id="{D8F6D9E4-7C09-4A13-3A49-FD0E420A152F}"/>
              </a:ext>
            </a:extLst>
          </p:cNvPr>
          <p:cNvSpPr txBox="1"/>
          <p:nvPr/>
        </p:nvSpPr>
        <p:spPr>
          <a:xfrm>
            <a:off x="1855182" y="231965"/>
            <a:ext cx="6886573" cy="1931041"/>
          </a:xfrm>
          <a:prstGeom prst="rect">
            <a:avLst/>
          </a:prstGeom>
        </p:spPr>
        <p:txBody>
          <a:bodyPr lIns="0" tIns="0" rIns="0" bIns="0" rtlCol="0" anchor="t">
            <a:spAutoFit/>
          </a:bodyPr>
          <a:lstStyle/>
          <a:p>
            <a:pPr marL="0" lvl="0" indent="0" algn="l">
              <a:lnSpc>
                <a:spcPts val="7699"/>
              </a:lnSpc>
            </a:pPr>
            <a:r>
              <a:rPr lang="en-US" sz="6000" b="1" dirty="0">
                <a:solidFill>
                  <a:srgbClr val="0070C0"/>
                </a:solidFill>
              </a:rPr>
              <a:t>Conclusion &amp; Implementation:</a:t>
            </a:r>
            <a:endParaRPr lang="en-US" sz="6000" b="1" spc="-69" dirty="0">
              <a:solidFill>
                <a:srgbClr val="0070C0"/>
              </a:solidFill>
              <a:latin typeface="Arial Black"/>
              <a:ea typeface="Telegraf Bold"/>
              <a:cs typeface="Telegraf Bold"/>
            </a:endParaRPr>
          </a:p>
        </p:txBody>
      </p:sp>
      <p:sp>
        <p:nvSpPr>
          <p:cNvPr id="24" name="TextBox 8">
            <a:extLst>
              <a:ext uri="{FF2B5EF4-FFF2-40B4-BE49-F238E27FC236}">
                <a16:creationId xmlns:a16="http://schemas.microsoft.com/office/drawing/2014/main" id="{32920595-302A-0DD8-FA84-6D12146450C0}"/>
              </a:ext>
            </a:extLst>
          </p:cNvPr>
          <p:cNvSpPr txBox="1"/>
          <p:nvPr/>
        </p:nvSpPr>
        <p:spPr>
          <a:xfrm>
            <a:off x="18324136" y="9822980"/>
            <a:ext cx="152400" cy="190500"/>
          </a:xfrm>
          <a:prstGeom prst="rect">
            <a:avLst/>
          </a:prstGeom>
        </p:spPr>
        <p:txBody>
          <a:bodyPr wrap="none" lIns="0" tIns="0" rIns="0" bIns="0" rtlCol="0" anchor="t">
            <a:spAutoFit/>
          </a:bodyPr>
          <a:lstStyle/>
          <a:p>
            <a:pPr algn="r">
              <a:lnSpc>
                <a:spcPts val="1679"/>
              </a:lnSpc>
              <a:spcBef>
                <a:spcPct val="0"/>
              </a:spcBef>
            </a:pPr>
            <a:r>
              <a:rPr lang="en-US" sz="1200" b="1">
                <a:solidFill>
                  <a:srgbClr val="004D40"/>
                </a:solidFill>
                <a:latin typeface="Telegraf Bold"/>
                <a:ea typeface="Telegraf Bold"/>
                <a:cs typeface="Telegraf Bold"/>
                <a:sym typeface="Telegraf Bold"/>
              </a:rPr>
              <a:t>3</a:t>
            </a:r>
          </a:p>
        </p:txBody>
      </p:sp>
      <p:pic>
        <p:nvPicPr>
          <p:cNvPr id="13" name="Picture 12" descr="Premier University | Center of Exellence for Quality Learning">
            <a:extLst>
              <a:ext uri="{FF2B5EF4-FFF2-40B4-BE49-F238E27FC236}">
                <a16:creationId xmlns:a16="http://schemas.microsoft.com/office/drawing/2014/main" id="{A4D8A288-068A-BAE9-389D-C07D85BC32D7}"/>
              </a:ext>
            </a:extLst>
          </p:cNvPr>
          <p:cNvPicPr>
            <a:picLocks noChangeAspect="1"/>
          </p:cNvPicPr>
          <p:nvPr/>
        </p:nvPicPr>
        <p:blipFill>
          <a:blip r:embed="rId2"/>
          <a:srcRect t="-430" r="1575" b="1205"/>
          <a:stretch>
            <a:fillRect/>
          </a:stretch>
        </p:blipFill>
        <p:spPr>
          <a:xfrm>
            <a:off x="0" y="9131838"/>
            <a:ext cx="3279437" cy="1139570"/>
          </a:xfrm>
          <a:prstGeom prst="rect">
            <a:avLst/>
          </a:prstGeom>
        </p:spPr>
      </p:pic>
      <p:sp>
        <p:nvSpPr>
          <p:cNvPr id="11" name="Rectangle 1">
            <a:extLst>
              <a:ext uri="{FF2B5EF4-FFF2-40B4-BE49-F238E27FC236}">
                <a16:creationId xmlns:a16="http://schemas.microsoft.com/office/drawing/2014/main" id="{A9064054-045F-495A-9204-8F729BCD27A7}"/>
              </a:ext>
            </a:extLst>
          </p:cNvPr>
          <p:cNvSpPr>
            <a:spLocks noChangeArrowheads="1"/>
          </p:cNvSpPr>
          <p:nvPr/>
        </p:nvSpPr>
        <p:spPr bwMode="auto">
          <a:xfrm>
            <a:off x="1578960" y="5112316"/>
            <a:ext cx="6553782"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lvl="0" indent="-457200" eaLnBrk="0" fontAlgn="base" hangingPunct="0">
              <a:spcBef>
                <a:spcPct val="0"/>
              </a:spcBef>
              <a:spcAft>
                <a:spcPct val="0"/>
              </a:spcAft>
              <a:buFont typeface="Wingdings" panose="05000000000000000000" pitchFamily="2" charset="2"/>
              <a:buChar char="v"/>
            </a:pPr>
            <a:r>
              <a:rPr lang="en-US" altLang="en-US" sz="3000" b="1" dirty="0"/>
              <a:t>To detect road defects</a:t>
            </a:r>
            <a:r>
              <a:rPr kumimoji="0" lang="en-US" altLang="en-US" sz="3000" b="1" i="0" u="none" strike="noStrike" cap="none" normalizeH="0" baseline="0" dirty="0">
                <a:ln>
                  <a:noFill/>
                </a:ln>
                <a:effectLst/>
              </a:rPr>
              <a:t>.</a:t>
            </a:r>
          </a:p>
          <a:p>
            <a:pPr marR="0" lvl="0" algn="l" defTabSz="914400" rtl="0" eaLnBrk="0" fontAlgn="base" latinLnBrk="0" hangingPunct="0">
              <a:lnSpc>
                <a:spcPct val="100000"/>
              </a:lnSpc>
              <a:spcBef>
                <a:spcPct val="0"/>
              </a:spcBef>
              <a:spcAft>
                <a:spcPct val="0"/>
              </a:spcAft>
              <a:buClrTx/>
              <a:buSzTx/>
              <a:tabLst/>
            </a:pPr>
            <a:endParaRPr kumimoji="0" lang="en-US" altLang="en-US" sz="3000" b="1" i="0" u="none" strike="noStrike" cap="none" normalizeH="0" baseline="0" dirty="0">
              <a:ln>
                <a:noFill/>
              </a:ln>
              <a:effectLst/>
            </a:endParaRPr>
          </a:p>
          <a:p>
            <a:pPr marL="457200" lvl="0" indent="-457200" eaLnBrk="0" fontAlgn="base" hangingPunct="0">
              <a:spcBef>
                <a:spcPct val="0"/>
              </a:spcBef>
              <a:spcAft>
                <a:spcPct val="0"/>
              </a:spcAft>
              <a:buFont typeface="Wingdings" panose="05000000000000000000" pitchFamily="2" charset="2"/>
              <a:buChar char="v"/>
            </a:pPr>
            <a:r>
              <a:rPr lang="en-US" altLang="en-US" sz="3000" b="1" dirty="0"/>
              <a:t>To identify hazard patterns in scenes.</a:t>
            </a:r>
            <a:endParaRPr kumimoji="0" lang="en-US" altLang="en-US" sz="3000" b="1" i="0" u="none" strike="noStrike" cap="none" normalizeH="0" baseline="0" dirty="0">
              <a:ln>
                <a:noFill/>
              </a:ln>
              <a:effectLst/>
            </a:endParaRPr>
          </a:p>
          <a:p>
            <a:pPr marR="0" lvl="0" algn="l" defTabSz="914400" rtl="0" eaLnBrk="0" fontAlgn="base" latinLnBrk="0" hangingPunct="0">
              <a:lnSpc>
                <a:spcPct val="100000"/>
              </a:lnSpc>
              <a:spcBef>
                <a:spcPct val="0"/>
              </a:spcBef>
              <a:spcAft>
                <a:spcPct val="0"/>
              </a:spcAft>
              <a:buClrTx/>
              <a:buSzTx/>
              <a:tabLst/>
            </a:pPr>
            <a:endParaRPr kumimoji="0" lang="en-US" altLang="en-US" sz="3000" b="1" i="0" u="none" strike="noStrike" cap="none" normalizeH="0" baseline="0" dirty="0">
              <a:ln>
                <a:noFill/>
              </a:ln>
              <a:effectLst/>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lang="en-US" altLang="en-US" sz="3000" b="1" dirty="0"/>
              <a:t>To track recurring hazard locations.</a:t>
            </a:r>
            <a:endParaRPr kumimoji="0" lang="en-US" altLang="en-US" sz="3000" b="1" i="0" u="none" strike="noStrike" cap="none" normalizeH="0" baseline="0" dirty="0">
              <a:ln>
                <a:noFill/>
              </a:ln>
              <a:effectLst/>
            </a:endParaRPr>
          </a:p>
        </p:txBody>
      </p:sp>
      <p:sp>
        <p:nvSpPr>
          <p:cNvPr id="18" name="TextBox 17">
            <a:extLst>
              <a:ext uri="{FF2B5EF4-FFF2-40B4-BE49-F238E27FC236}">
                <a16:creationId xmlns:a16="http://schemas.microsoft.com/office/drawing/2014/main" id="{CC060F8D-6659-4BEC-B31E-93AE480F9AF2}"/>
              </a:ext>
            </a:extLst>
          </p:cNvPr>
          <p:cNvSpPr txBox="1"/>
          <p:nvPr/>
        </p:nvSpPr>
        <p:spPr>
          <a:xfrm>
            <a:off x="1384788" y="2554556"/>
            <a:ext cx="9334500" cy="2400657"/>
          </a:xfrm>
          <a:prstGeom prst="rect">
            <a:avLst/>
          </a:prstGeom>
          <a:noFill/>
        </p:spPr>
        <p:txBody>
          <a:bodyPr wrap="square">
            <a:spAutoFit/>
          </a:bodyPr>
          <a:lstStyle/>
          <a:p>
            <a:pPr marL="457200" indent="-457200">
              <a:buFont typeface="Wingdings" panose="05000000000000000000" pitchFamily="2" charset="2"/>
              <a:buChar char="ü"/>
            </a:pPr>
            <a:r>
              <a:rPr lang="en-US" sz="3000" b="1" dirty="0"/>
              <a:t>The YOLOX-ECA and YOLOv8 models accurately detect manhole-cover defects and potholes using attention and multi-scale features. These techniques enable reliable, real-time road-hazard monitoring from simple camera inputs.</a:t>
            </a:r>
          </a:p>
        </p:txBody>
      </p:sp>
    </p:spTree>
    <p:extLst>
      <p:ext uri="{BB962C8B-B14F-4D97-AF65-F5344CB8AC3E}">
        <p14:creationId xmlns:p14="http://schemas.microsoft.com/office/powerpoint/2010/main" val="4199246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87475-6410-CF0C-8E19-FB05FF84076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145F91B-82E0-9524-F9AD-2E71B99829FD}"/>
              </a:ext>
            </a:extLst>
          </p:cNvPr>
          <p:cNvGrpSpPr/>
          <p:nvPr/>
        </p:nvGrpSpPr>
        <p:grpSpPr>
          <a:xfrm>
            <a:off x="0" y="0"/>
            <a:ext cx="718039" cy="10287000"/>
            <a:chOff x="0" y="0"/>
            <a:chExt cx="852938" cy="2709333"/>
          </a:xfrm>
        </p:grpSpPr>
        <p:sp>
          <p:nvSpPr>
            <p:cNvPr id="3" name="Freeform 3">
              <a:extLst>
                <a:ext uri="{FF2B5EF4-FFF2-40B4-BE49-F238E27FC236}">
                  <a16:creationId xmlns:a16="http://schemas.microsoft.com/office/drawing/2014/main" id="{97CC6F21-476F-F6C4-1220-D6E239938C64}"/>
                </a:ext>
              </a:extLst>
            </p:cNvPr>
            <p:cNvSpPr/>
            <p:nvPr/>
          </p:nvSpPr>
          <p:spPr>
            <a:xfrm>
              <a:off x="0" y="0"/>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A0D9F7"/>
            </a:solidFill>
            <a:ln>
              <a:solidFill>
                <a:srgbClr val="A0D9F7"/>
              </a:solidFill>
            </a:ln>
          </p:spPr>
        </p:sp>
        <p:sp>
          <p:nvSpPr>
            <p:cNvPr id="4" name="TextBox 4">
              <a:extLst>
                <a:ext uri="{FF2B5EF4-FFF2-40B4-BE49-F238E27FC236}">
                  <a16:creationId xmlns:a16="http://schemas.microsoft.com/office/drawing/2014/main" id="{60A78677-C335-ADAB-3B22-B310479E3978}"/>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grpSp>
        <p:nvGrpSpPr>
          <p:cNvPr id="7" name="Group 2">
            <a:extLst>
              <a:ext uri="{FF2B5EF4-FFF2-40B4-BE49-F238E27FC236}">
                <a16:creationId xmlns:a16="http://schemas.microsoft.com/office/drawing/2014/main" id="{BB7C5304-BDF2-992B-79E0-A983C88100E2}"/>
              </a:ext>
            </a:extLst>
          </p:cNvPr>
          <p:cNvGrpSpPr/>
          <p:nvPr/>
        </p:nvGrpSpPr>
        <p:grpSpPr>
          <a:xfrm>
            <a:off x="666978" y="-144661"/>
            <a:ext cx="2300654" cy="10576322"/>
            <a:chOff x="-1879943" y="-76200"/>
            <a:chExt cx="2732881" cy="2785533"/>
          </a:xfrm>
        </p:grpSpPr>
        <p:sp>
          <p:nvSpPr>
            <p:cNvPr id="9" name="Freeform 3">
              <a:extLst>
                <a:ext uri="{FF2B5EF4-FFF2-40B4-BE49-F238E27FC236}">
                  <a16:creationId xmlns:a16="http://schemas.microsoft.com/office/drawing/2014/main" id="{DBA0272D-4BAB-7670-D1DD-C84C70AD8FA2}"/>
                </a:ext>
              </a:extLst>
            </p:cNvPr>
            <p:cNvSpPr/>
            <p:nvPr/>
          </p:nvSpPr>
          <p:spPr>
            <a:xfrm>
              <a:off x="-1879943" y="-46313"/>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2AA7E1"/>
            </a:solidFill>
            <a:ln>
              <a:solidFill>
                <a:srgbClr val="A0D9F7"/>
              </a:solidFill>
            </a:ln>
          </p:spPr>
        </p:sp>
        <p:sp>
          <p:nvSpPr>
            <p:cNvPr id="10" name="TextBox 4">
              <a:extLst>
                <a:ext uri="{FF2B5EF4-FFF2-40B4-BE49-F238E27FC236}">
                  <a16:creationId xmlns:a16="http://schemas.microsoft.com/office/drawing/2014/main" id="{E629E917-63F7-6CB6-8C04-070C4079ECD8}"/>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sp>
        <p:nvSpPr>
          <p:cNvPr id="14" name="AutoShape 12">
            <a:extLst>
              <a:ext uri="{FF2B5EF4-FFF2-40B4-BE49-F238E27FC236}">
                <a16:creationId xmlns:a16="http://schemas.microsoft.com/office/drawing/2014/main" id="{7DF2B862-FCED-1A3F-7699-A9F1DF3268B6}"/>
              </a:ext>
            </a:extLst>
          </p:cNvPr>
          <p:cNvSpPr/>
          <p:nvPr/>
        </p:nvSpPr>
        <p:spPr>
          <a:xfrm flipV="1">
            <a:off x="1384788" y="9634904"/>
            <a:ext cx="16851923" cy="29307"/>
          </a:xfrm>
          <a:prstGeom prst="line">
            <a:avLst/>
          </a:prstGeom>
          <a:ln w="57150" cap="flat">
            <a:solidFill>
              <a:srgbClr val="13A451"/>
            </a:solidFill>
            <a:prstDash val="sysDot"/>
            <a:headEnd type="none" w="sm" len="sm"/>
            <a:tailEnd type="none" w="sm" len="sm"/>
          </a:ln>
        </p:spPr>
      </p:sp>
      <p:sp>
        <p:nvSpPr>
          <p:cNvPr id="31" name="TextBox 14">
            <a:extLst>
              <a:ext uri="{FF2B5EF4-FFF2-40B4-BE49-F238E27FC236}">
                <a16:creationId xmlns:a16="http://schemas.microsoft.com/office/drawing/2014/main" id="{F2CD3060-15FC-0A50-2A42-6CE4FC65CB86}"/>
              </a:ext>
            </a:extLst>
          </p:cNvPr>
          <p:cNvSpPr txBox="1"/>
          <p:nvPr/>
        </p:nvSpPr>
        <p:spPr>
          <a:xfrm>
            <a:off x="18362013" y="9735057"/>
            <a:ext cx="152400" cy="190500"/>
          </a:xfrm>
          <a:prstGeom prst="rect">
            <a:avLst/>
          </a:prstGeom>
        </p:spPr>
        <p:txBody>
          <a:bodyPr wrap="none" lIns="0" tIns="0" rIns="0" bIns="0" rtlCol="0" anchor="t">
            <a:spAutoFit/>
          </a:bodyPr>
          <a:lstStyle/>
          <a:p>
            <a:pPr algn="r">
              <a:lnSpc>
                <a:spcPts val="1679"/>
              </a:lnSpc>
              <a:spcBef>
                <a:spcPct val="0"/>
              </a:spcBef>
            </a:pPr>
            <a:r>
              <a:rPr lang="en-US" sz="1200" b="1">
                <a:solidFill>
                  <a:srgbClr val="004D40"/>
                </a:solidFill>
                <a:latin typeface="Telegraf Bold"/>
                <a:ea typeface="Telegraf Bold"/>
                <a:cs typeface="Telegraf Bold"/>
                <a:sym typeface="Telegraf Bold"/>
              </a:rPr>
              <a:t>2</a:t>
            </a:r>
          </a:p>
        </p:txBody>
      </p:sp>
      <p:grpSp>
        <p:nvGrpSpPr>
          <p:cNvPr id="12" name="Group 2">
            <a:extLst>
              <a:ext uri="{FF2B5EF4-FFF2-40B4-BE49-F238E27FC236}">
                <a16:creationId xmlns:a16="http://schemas.microsoft.com/office/drawing/2014/main" id="{C34B11E4-14ED-8F65-9400-0A61A83AD631}"/>
              </a:ext>
            </a:extLst>
          </p:cNvPr>
          <p:cNvGrpSpPr/>
          <p:nvPr/>
        </p:nvGrpSpPr>
        <p:grpSpPr>
          <a:xfrm>
            <a:off x="1855182" y="231965"/>
            <a:ext cx="14637723" cy="1931041"/>
            <a:chOff x="452318" y="-693817"/>
            <a:chExt cx="19516967" cy="2574721"/>
          </a:xfrm>
        </p:grpSpPr>
        <p:sp>
          <p:nvSpPr>
            <p:cNvPr id="6" name="TextBox 3">
              <a:extLst>
                <a:ext uri="{FF2B5EF4-FFF2-40B4-BE49-F238E27FC236}">
                  <a16:creationId xmlns:a16="http://schemas.microsoft.com/office/drawing/2014/main" id="{D8F6D9E4-7C09-4A13-3A49-FD0E420A152F}"/>
                </a:ext>
              </a:extLst>
            </p:cNvPr>
            <p:cNvSpPr txBox="1"/>
            <p:nvPr/>
          </p:nvSpPr>
          <p:spPr>
            <a:xfrm>
              <a:off x="452318" y="-693817"/>
              <a:ext cx="13452226" cy="2574721"/>
            </a:xfrm>
            <a:prstGeom prst="rect">
              <a:avLst/>
            </a:prstGeom>
          </p:spPr>
          <p:txBody>
            <a:bodyPr wrap="square" lIns="0" tIns="0" rIns="0" bIns="0" rtlCol="0" anchor="t">
              <a:spAutoFit/>
            </a:bodyPr>
            <a:lstStyle/>
            <a:p>
              <a:pPr>
                <a:lnSpc>
                  <a:spcPts val="7699"/>
                </a:lnSpc>
              </a:pPr>
              <a:r>
                <a:rPr lang="en-US" sz="6000" b="1" dirty="0">
                  <a:solidFill>
                    <a:srgbClr val="0070C0"/>
                  </a:solidFill>
                </a:rPr>
                <a:t>Category 2: </a:t>
              </a:r>
              <a:r>
                <a:rPr lang="en-US" sz="5400" b="1" dirty="0">
                  <a:solidFill>
                    <a:srgbClr val="0070C0"/>
                  </a:solidFill>
                </a:rPr>
                <a:t>Pedestrians </a:t>
              </a:r>
              <a:r>
                <a:rPr lang="en-US" sz="6000" b="1" dirty="0" err="1">
                  <a:solidFill>
                    <a:srgbClr val="0070C0"/>
                  </a:solidFill>
                </a:rPr>
                <a:t>Behaviour</a:t>
              </a:r>
              <a:r>
                <a:rPr lang="en-US" sz="6000" b="1" dirty="0">
                  <a:solidFill>
                    <a:srgbClr val="0070C0"/>
                  </a:solidFill>
                </a:rPr>
                <a:t>-</a:t>
              </a:r>
              <a:endParaRPr lang="en-US" sz="6000" b="1" spc="-69" dirty="0">
                <a:solidFill>
                  <a:srgbClr val="0070C0"/>
                </a:solidFill>
                <a:latin typeface="Arial Black"/>
                <a:ea typeface="Telegraf Bold"/>
                <a:cs typeface="Telegraf Bold"/>
              </a:endParaRPr>
            </a:p>
          </p:txBody>
        </p:sp>
        <p:sp>
          <p:nvSpPr>
            <p:cNvPr id="8" name="TextBox 4">
              <a:extLst>
                <a:ext uri="{FF2B5EF4-FFF2-40B4-BE49-F238E27FC236}">
                  <a16:creationId xmlns:a16="http://schemas.microsoft.com/office/drawing/2014/main" id="{1131FF81-A442-CA29-7A8E-2A370A0059E5}"/>
                </a:ext>
              </a:extLst>
            </p:cNvPr>
            <p:cNvSpPr txBox="1"/>
            <p:nvPr/>
          </p:nvSpPr>
          <p:spPr>
            <a:xfrm>
              <a:off x="10787185" y="927570"/>
              <a:ext cx="9182100" cy="564257"/>
            </a:xfrm>
            <a:prstGeom prst="rect">
              <a:avLst/>
            </a:prstGeom>
          </p:spPr>
          <p:txBody>
            <a:bodyPr lIns="0" tIns="0" rIns="0" bIns="0" rtlCol="0" anchor="t">
              <a:spAutoFit/>
            </a:bodyPr>
            <a:lstStyle/>
            <a:p>
              <a:pPr marL="0" lvl="0" indent="0" algn="l">
                <a:lnSpc>
                  <a:spcPts val="3300"/>
                </a:lnSpc>
              </a:pPr>
              <a:r>
                <a:rPr lang="en-US" sz="3000" b="1" u="sng" spc="-30" dirty="0">
                  <a:latin typeface="Telegraf Bold"/>
                  <a:ea typeface="Telegraf Bold"/>
                  <a:cs typeface="Telegraf Bold"/>
                  <a:sym typeface="Telegraf Bold"/>
                </a:rPr>
                <a:t>Key Insights and Findings</a:t>
              </a:r>
              <a:r>
                <a:rPr lang="en-US" sz="3000" b="1" spc="-30" dirty="0">
                  <a:latin typeface="Telegraf Bold"/>
                  <a:ea typeface="Telegraf Bold"/>
                  <a:cs typeface="Telegraf Bold"/>
                  <a:sym typeface="Telegraf Bold"/>
                </a:rPr>
                <a:t>:</a:t>
              </a:r>
            </a:p>
          </p:txBody>
        </p:sp>
      </p:grpSp>
      <p:sp>
        <p:nvSpPr>
          <p:cNvPr id="24" name="TextBox 8">
            <a:extLst>
              <a:ext uri="{FF2B5EF4-FFF2-40B4-BE49-F238E27FC236}">
                <a16:creationId xmlns:a16="http://schemas.microsoft.com/office/drawing/2014/main" id="{32920595-302A-0DD8-FA84-6D12146450C0}"/>
              </a:ext>
            </a:extLst>
          </p:cNvPr>
          <p:cNvSpPr txBox="1"/>
          <p:nvPr/>
        </p:nvSpPr>
        <p:spPr>
          <a:xfrm>
            <a:off x="18324136" y="9822980"/>
            <a:ext cx="152400" cy="190500"/>
          </a:xfrm>
          <a:prstGeom prst="rect">
            <a:avLst/>
          </a:prstGeom>
        </p:spPr>
        <p:txBody>
          <a:bodyPr wrap="none" lIns="0" tIns="0" rIns="0" bIns="0" rtlCol="0" anchor="t">
            <a:spAutoFit/>
          </a:bodyPr>
          <a:lstStyle/>
          <a:p>
            <a:pPr algn="r">
              <a:lnSpc>
                <a:spcPts val="1679"/>
              </a:lnSpc>
              <a:spcBef>
                <a:spcPct val="0"/>
              </a:spcBef>
            </a:pPr>
            <a:r>
              <a:rPr lang="en-US" sz="1200" b="1">
                <a:solidFill>
                  <a:srgbClr val="004D40"/>
                </a:solidFill>
                <a:latin typeface="Telegraf Bold"/>
                <a:ea typeface="Telegraf Bold"/>
                <a:cs typeface="Telegraf Bold"/>
                <a:sym typeface="Telegraf Bold"/>
              </a:rPr>
              <a:t>3</a:t>
            </a:r>
          </a:p>
        </p:txBody>
      </p:sp>
      <p:pic>
        <p:nvPicPr>
          <p:cNvPr id="13" name="Picture 12" descr="Premier University | Center of Exellence for Quality Learning">
            <a:extLst>
              <a:ext uri="{FF2B5EF4-FFF2-40B4-BE49-F238E27FC236}">
                <a16:creationId xmlns:a16="http://schemas.microsoft.com/office/drawing/2014/main" id="{A4D8A288-068A-BAE9-389D-C07D85BC32D7}"/>
              </a:ext>
            </a:extLst>
          </p:cNvPr>
          <p:cNvPicPr>
            <a:picLocks noChangeAspect="1"/>
          </p:cNvPicPr>
          <p:nvPr/>
        </p:nvPicPr>
        <p:blipFill>
          <a:blip r:embed="rId2"/>
          <a:srcRect t="-430" r="1575" b="1205"/>
          <a:stretch>
            <a:fillRect/>
          </a:stretch>
        </p:blipFill>
        <p:spPr>
          <a:xfrm>
            <a:off x="0" y="9178614"/>
            <a:ext cx="3279437" cy="1139570"/>
          </a:xfrm>
          <a:prstGeom prst="rect">
            <a:avLst/>
          </a:prstGeom>
        </p:spPr>
      </p:pic>
      <p:sp>
        <p:nvSpPr>
          <p:cNvPr id="5" name="Rectangle 1">
            <a:extLst>
              <a:ext uri="{FF2B5EF4-FFF2-40B4-BE49-F238E27FC236}">
                <a16:creationId xmlns:a16="http://schemas.microsoft.com/office/drawing/2014/main" id="{12F1E28F-C86D-4813-AA42-A05B0ACC0B5F}"/>
              </a:ext>
            </a:extLst>
          </p:cNvPr>
          <p:cNvSpPr>
            <a:spLocks noChangeArrowheads="1"/>
          </p:cNvSpPr>
          <p:nvPr/>
        </p:nvSpPr>
        <p:spPr bwMode="auto">
          <a:xfrm>
            <a:off x="9601200" y="2459317"/>
            <a:ext cx="7815943"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Wingdings" panose="05000000000000000000" pitchFamily="2" charset="2"/>
              <a:buChar char="q"/>
            </a:pPr>
            <a:r>
              <a:rPr lang="en-US" altLang="en-US" sz="3000" b="1" dirty="0"/>
              <a:t>Uses body and head orientation for action understanding</a:t>
            </a:r>
            <a:endParaRPr kumimoji="0" lang="en-US" altLang="en-US" sz="3000" b="1" i="0" u="none" strike="noStrike" cap="none" normalizeH="0" baseline="0" dirty="0">
              <a:ln>
                <a:noFill/>
              </a:ln>
              <a:effectLst/>
            </a:endParaRPr>
          </a:p>
          <a:p>
            <a:pPr marL="342900" lvl="0" indent="-342900" eaLnBrk="0" fontAlgn="base" hangingPunct="0">
              <a:spcBef>
                <a:spcPct val="0"/>
              </a:spcBef>
              <a:spcAft>
                <a:spcPct val="0"/>
              </a:spcAft>
              <a:buFont typeface="Wingdings" panose="05000000000000000000" pitchFamily="2" charset="2"/>
              <a:buChar char="q"/>
            </a:pPr>
            <a:r>
              <a:rPr lang="en-US" altLang="en-US" sz="3000" b="1" dirty="0"/>
              <a:t>Relies on </a:t>
            </a:r>
            <a:r>
              <a:rPr lang="en-US" altLang="en-US" sz="3000" b="1" dirty="0" err="1"/>
              <a:t>spatio</a:t>
            </a:r>
            <a:r>
              <a:rPr lang="en-US" altLang="en-US" sz="3000" b="1" dirty="0"/>
              <a:t>-temporal ego-motion for trajectory prediction</a:t>
            </a:r>
            <a:endParaRPr kumimoji="0" lang="en-US" altLang="en-US" sz="3000" b="1" i="0" u="none" strike="noStrike" cap="none" normalizeH="0" baseline="0" dirty="0">
              <a:ln>
                <a:noFill/>
              </a:ln>
              <a:effectLst/>
            </a:endParaRPr>
          </a:p>
          <a:p>
            <a:pPr marL="342900" lvl="0" indent="-342900" eaLnBrk="0" fontAlgn="base" hangingPunct="0">
              <a:spcBef>
                <a:spcPct val="0"/>
              </a:spcBef>
              <a:spcAft>
                <a:spcPct val="0"/>
              </a:spcAft>
              <a:buFont typeface="Wingdings" panose="05000000000000000000" pitchFamily="2" charset="2"/>
              <a:buChar char="q"/>
            </a:pPr>
            <a:r>
              <a:rPr lang="en-US" altLang="en-US" sz="3000" b="1" dirty="0"/>
              <a:t>Applies Hop Interaction for long-range relations.</a:t>
            </a:r>
            <a:endParaRPr kumimoji="0" lang="en-US" altLang="en-US" sz="3000" b="1" i="0" u="none" strike="noStrike" cap="none" normalizeH="0" baseline="0" dirty="0">
              <a:ln>
                <a:noFill/>
              </a:ln>
              <a:effectLst/>
            </a:endParaRPr>
          </a:p>
          <a:p>
            <a:pPr marL="342900" lvl="0" indent="-342900" eaLnBrk="0" fontAlgn="base" hangingPunct="0">
              <a:spcBef>
                <a:spcPct val="0"/>
              </a:spcBef>
              <a:spcAft>
                <a:spcPct val="0"/>
              </a:spcAft>
              <a:buFont typeface="Wingdings" panose="05000000000000000000" pitchFamily="2" charset="2"/>
              <a:buChar char="q"/>
            </a:pPr>
            <a:r>
              <a:rPr lang="en-US" altLang="en-US" sz="3000" b="1" dirty="0"/>
              <a:t>Uses a Self-Supervised Module to reduce errors.</a:t>
            </a:r>
            <a:endParaRPr kumimoji="0" lang="en-US" altLang="en-US" sz="3000" b="1" i="0" u="none" strike="noStrike" cap="none" normalizeH="0" baseline="0" dirty="0">
              <a:ln>
                <a:noFill/>
              </a:ln>
              <a:effectLst/>
            </a:endParaRPr>
          </a:p>
          <a:p>
            <a:pPr marL="342900" lvl="0" indent="-342900" eaLnBrk="0" fontAlgn="base" hangingPunct="0">
              <a:spcBef>
                <a:spcPct val="0"/>
              </a:spcBef>
              <a:spcAft>
                <a:spcPct val="0"/>
              </a:spcAft>
              <a:buFont typeface="Wingdings" panose="05000000000000000000" pitchFamily="2" charset="2"/>
              <a:buChar char="q"/>
            </a:pPr>
            <a:r>
              <a:rPr lang="en-US" altLang="en-US" sz="3000" b="1" dirty="0"/>
              <a:t>Employs goal-driven dynamics for realistic paths.</a:t>
            </a:r>
            <a:endParaRPr kumimoji="0" lang="en-US" altLang="en-US" sz="3000" b="1" i="0" u="none" strike="noStrike" cap="none" normalizeH="0" baseline="0" dirty="0">
              <a:ln>
                <a:noFill/>
              </a:ln>
              <a:effectLst/>
            </a:endParaRPr>
          </a:p>
        </p:txBody>
      </p:sp>
    </p:spTree>
    <p:extLst>
      <p:ext uri="{BB962C8B-B14F-4D97-AF65-F5344CB8AC3E}">
        <p14:creationId xmlns:p14="http://schemas.microsoft.com/office/powerpoint/2010/main" val="2223234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AA7E1"/>
        </a:solidFill>
        <a:effectLst/>
      </p:bgPr>
    </p:bg>
    <p:spTree>
      <p:nvGrpSpPr>
        <p:cNvPr id="1" name="">
          <a:extLst>
            <a:ext uri="{FF2B5EF4-FFF2-40B4-BE49-F238E27FC236}">
              <a16:creationId xmlns:a16="http://schemas.microsoft.com/office/drawing/2014/main" id="{9787222F-C6A5-9C48-E38D-D43EA763096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BC56BCF-1EC6-FC29-147A-8721F95927DE}"/>
              </a:ext>
            </a:extLst>
          </p:cNvPr>
          <p:cNvGrpSpPr/>
          <p:nvPr/>
        </p:nvGrpSpPr>
        <p:grpSpPr>
          <a:xfrm>
            <a:off x="0" y="0"/>
            <a:ext cx="1005839" cy="10287000"/>
            <a:chOff x="0" y="0"/>
            <a:chExt cx="852938" cy="2709333"/>
          </a:xfrm>
        </p:grpSpPr>
        <p:sp>
          <p:nvSpPr>
            <p:cNvPr id="3" name="Freeform 3">
              <a:extLst>
                <a:ext uri="{FF2B5EF4-FFF2-40B4-BE49-F238E27FC236}">
                  <a16:creationId xmlns:a16="http://schemas.microsoft.com/office/drawing/2014/main" id="{E5C42BA4-9DDC-CBC4-EC13-849C9D976483}"/>
                </a:ext>
              </a:extLst>
            </p:cNvPr>
            <p:cNvSpPr/>
            <p:nvPr/>
          </p:nvSpPr>
          <p:spPr>
            <a:xfrm>
              <a:off x="0" y="0"/>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A0D9F7"/>
            </a:solidFill>
            <a:ln>
              <a:solidFill>
                <a:srgbClr val="A0D9F7"/>
              </a:solidFill>
            </a:ln>
          </p:spPr>
        </p:sp>
        <p:sp>
          <p:nvSpPr>
            <p:cNvPr id="4" name="TextBox 4">
              <a:extLst>
                <a:ext uri="{FF2B5EF4-FFF2-40B4-BE49-F238E27FC236}">
                  <a16:creationId xmlns:a16="http://schemas.microsoft.com/office/drawing/2014/main" id="{96C1AF41-157D-1938-70F4-807D77CCB21E}"/>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grpSp>
        <p:nvGrpSpPr>
          <p:cNvPr id="9" name="Group 2">
            <a:extLst>
              <a:ext uri="{FF2B5EF4-FFF2-40B4-BE49-F238E27FC236}">
                <a16:creationId xmlns:a16="http://schemas.microsoft.com/office/drawing/2014/main" id="{770102BC-98A7-9EC3-D6A3-B14DCCB58A22}"/>
              </a:ext>
            </a:extLst>
          </p:cNvPr>
          <p:cNvGrpSpPr/>
          <p:nvPr/>
        </p:nvGrpSpPr>
        <p:grpSpPr>
          <a:xfrm>
            <a:off x="-859302" y="-144661"/>
            <a:ext cx="18141463" cy="10576322"/>
            <a:chOff x="0" y="-76200"/>
            <a:chExt cx="4777997" cy="2785533"/>
          </a:xfrm>
        </p:grpSpPr>
        <p:sp>
          <p:nvSpPr>
            <p:cNvPr id="10" name="Freeform 3">
              <a:extLst>
                <a:ext uri="{FF2B5EF4-FFF2-40B4-BE49-F238E27FC236}">
                  <a16:creationId xmlns:a16="http://schemas.microsoft.com/office/drawing/2014/main" id="{B194A0BE-1336-F8B0-8E42-A555464C0337}"/>
                </a:ext>
              </a:extLst>
            </p:cNvPr>
            <p:cNvSpPr/>
            <p:nvPr/>
          </p:nvSpPr>
          <p:spPr>
            <a:xfrm>
              <a:off x="3925059" y="-38594"/>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A0D9F7"/>
            </a:solidFill>
            <a:ln>
              <a:solidFill>
                <a:srgbClr val="A0D9F7"/>
              </a:solidFill>
            </a:ln>
          </p:spPr>
        </p:sp>
        <p:sp>
          <p:nvSpPr>
            <p:cNvPr id="11" name="TextBox 4">
              <a:extLst>
                <a:ext uri="{FF2B5EF4-FFF2-40B4-BE49-F238E27FC236}">
                  <a16:creationId xmlns:a16="http://schemas.microsoft.com/office/drawing/2014/main" id="{9B2EDB09-8CDE-007A-DDA4-1AE55B6B38B9}"/>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sp>
        <p:nvSpPr>
          <p:cNvPr id="18" name="TextBox 4">
            <a:extLst>
              <a:ext uri="{FF2B5EF4-FFF2-40B4-BE49-F238E27FC236}">
                <a16:creationId xmlns:a16="http://schemas.microsoft.com/office/drawing/2014/main" id="{DA3060F8-D8FA-B592-F2D6-95E41379AF77}"/>
              </a:ext>
            </a:extLst>
          </p:cNvPr>
          <p:cNvSpPr txBox="1"/>
          <p:nvPr/>
        </p:nvSpPr>
        <p:spPr>
          <a:xfrm>
            <a:off x="1229897" y="5485380"/>
            <a:ext cx="6874241" cy="3900498"/>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ts val="2800"/>
              </a:lnSpc>
            </a:pPr>
            <a:r>
              <a:rPr lang="en-US" sz="3000" b="1" dirty="0">
                <a:solidFill>
                  <a:schemeClr val="bg1"/>
                </a:solidFill>
              </a:rPr>
              <a:t>System Output Examples: </a:t>
            </a:r>
          </a:p>
          <a:p>
            <a:pPr>
              <a:lnSpc>
                <a:spcPts val="2800"/>
              </a:lnSpc>
            </a:pPr>
            <a:r>
              <a:rPr lang="en-US" sz="3000" b="1" dirty="0">
                <a:solidFill>
                  <a:schemeClr val="bg1"/>
                </a:solidFill>
              </a:rPr>
              <a:t>Pedestrian trajectory prediction method (BA-PTP) utilizes behavioral features such as body and head orientation as well as pose in addition to body and head bounding boxes. These features are combined with ego-vehicle information to predict the future bounding boxes of a pedestrian in the image.</a:t>
            </a:r>
          </a:p>
        </p:txBody>
      </p:sp>
      <p:sp>
        <p:nvSpPr>
          <p:cNvPr id="21" name="TextBox 4">
            <a:extLst>
              <a:ext uri="{FF2B5EF4-FFF2-40B4-BE49-F238E27FC236}">
                <a16:creationId xmlns:a16="http://schemas.microsoft.com/office/drawing/2014/main" id="{AFFEA601-0341-137B-9B44-A4D9A8FF9070}"/>
              </a:ext>
            </a:extLst>
          </p:cNvPr>
          <p:cNvSpPr txBox="1"/>
          <p:nvPr/>
        </p:nvSpPr>
        <p:spPr>
          <a:xfrm>
            <a:off x="3692772" y="2377677"/>
            <a:ext cx="13041921" cy="58240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800"/>
              </a:lnSpc>
            </a:pPr>
            <a:endParaRPr/>
          </a:p>
        </p:txBody>
      </p:sp>
      <p:sp>
        <p:nvSpPr>
          <p:cNvPr id="22" name="TextBox 21">
            <a:extLst>
              <a:ext uri="{FF2B5EF4-FFF2-40B4-BE49-F238E27FC236}">
                <a16:creationId xmlns:a16="http://schemas.microsoft.com/office/drawing/2014/main" id="{76A044B3-9539-B9A5-6C31-38D1A5E51A9C}"/>
              </a:ext>
            </a:extLst>
          </p:cNvPr>
          <p:cNvSpPr txBox="1"/>
          <p:nvPr/>
        </p:nvSpPr>
        <p:spPr>
          <a:xfrm>
            <a:off x="1229897" y="328974"/>
            <a:ext cx="8223249"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0" b="1" dirty="0">
                <a:solidFill>
                  <a:schemeClr val="bg1"/>
                </a:solidFill>
              </a:rPr>
              <a:t>Example &amp; Findings (Category 2)</a:t>
            </a:r>
            <a:r>
              <a:rPr lang="en-US" sz="6000" b="1" dirty="0">
                <a:solidFill>
                  <a:schemeClr val="bg1"/>
                </a:solidFill>
                <a:ea typeface="Calibri"/>
                <a:cs typeface="Calibri"/>
              </a:rPr>
              <a:t> :</a:t>
            </a:r>
          </a:p>
        </p:txBody>
      </p:sp>
      <p:sp>
        <p:nvSpPr>
          <p:cNvPr id="28" name="Arrow" descr="Dashed Arrow">
            <a:extLst>
              <a:ext uri="{FF2B5EF4-FFF2-40B4-BE49-F238E27FC236}">
                <a16:creationId xmlns:a16="http://schemas.microsoft.com/office/drawing/2014/main" id="{5ECF9E43-240C-6B79-B73C-665EE52CE3A9}"/>
              </a:ext>
            </a:extLst>
          </p:cNvPr>
          <p:cNvSpPr/>
          <p:nvPr/>
        </p:nvSpPr>
        <p:spPr>
          <a:xfrm rot="5400000" flipV="1">
            <a:off x="8599027" y="6062897"/>
            <a:ext cx="3060251" cy="3238501"/>
          </a:xfrm>
          <a:prstGeom prst="arc">
            <a:avLst>
              <a:gd name="adj1" fmla="val 12549592"/>
              <a:gd name="adj2" fmla="val 4002257"/>
            </a:avLst>
          </a:prstGeom>
          <a:ln w="20320">
            <a:solidFill>
              <a:schemeClr val="bg1"/>
            </a:solidFill>
            <a:prstDash val="dash"/>
            <a:headEnd type="arrow" w="lg"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dirty="0">
              <a:latin typeface="Arial" charset="0"/>
            </a:endParaRPr>
          </a:p>
        </p:txBody>
      </p:sp>
      <p:sp>
        <p:nvSpPr>
          <p:cNvPr id="29" name="TextBox 28">
            <a:extLst>
              <a:ext uri="{FF2B5EF4-FFF2-40B4-BE49-F238E27FC236}">
                <a16:creationId xmlns:a16="http://schemas.microsoft.com/office/drawing/2014/main" id="{07481E02-477C-47A0-D22D-73DAC5F9896F}"/>
              </a:ext>
            </a:extLst>
          </p:cNvPr>
          <p:cNvSpPr txBox="1"/>
          <p:nvPr/>
        </p:nvSpPr>
        <p:spPr>
          <a:xfrm>
            <a:off x="1196265" y="2214323"/>
            <a:ext cx="7496066" cy="2862322"/>
          </a:xfrm>
          <a:prstGeom prst="rect">
            <a:avLst/>
          </a:prstGeom>
          <a:noFill/>
        </p:spPr>
        <p:txBody>
          <a:bodyPr wrap="square">
            <a:spAutoFit/>
          </a:bodyPr>
          <a:lstStyle/>
          <a:p>
            <a:r>
              <a:rPr lang="en-US" sz="3000" b="1" dirty="0">
                <a:solidFill>
                  <a:schemeClr val="bg1"/>
                </a:solidFill>
              </a:rPr>
              <a:t>Example Outputs:</a:t>
            </a:r>
          </a:p>
          <a:p>
            <a:pPr>
              <a:buFont typeface="Arial" panose="020B0604020202020204" pitchFamily="34" charset="0"/>
              <a:buChar char="•"/>
            </a:pPr>
            <a:r>
              <a:rPr lang="en-US" sz="3000" b="1" dirty="0">
                <a:solidFill>
                  <a:schemeClr val="bg1"/>
                </a:solidFill>
              </a:rPr>
              <a:t> Uses behavior cues + past positions.</a:t>
            </a:r>
          </a:p>
          <a:p>
            <a:pPr>
              <a:buFont typeface="Arial" panose="020B0604020202020204" pitchFamily="34" charset="0"/>
              <a:buChar char="•"/>
            </a:pPr>
            <a:r>
              <a:rPr lang="en-US" sz="3000" b="1" dirty="0">
                <a:solidFill>
                  <a:schemeClr val="bg1"/>
                </a:solidFill>
              </a:rPr>
              <a:t> Considers ego-vehicle motion.</a:t>
            </a:r>
          </a:p>
          <a:p>
            <a:pPr>
              <a:buFont typeface="Arial" panose="020B0604020202020204" pitchFamily="34" charset="0"/>
              <a:buChar char="•"/>
            </a:pPr>
            <a:r>
              <a:rPr lang="en-US" sz="3000" b="1" dirty="0">
                <a:solidFill>
                  <a:schemeClr val="bg1"/>
                </a:solidFill>
              </a:rPr>
              <a:t> Models social interactions.</a:t>
            </a:r>
          </a:p>
          <a:p>
            <a:pPr>
              <a:buFont typeface="Arial" panose="020B0604020202020204" pitchFamily="34" charset="0"/>
              <a:buChar char="•"/>
            </a:pPr>
            <a:r>
              <a:rPr lang="en-US" sz="3000" b="1" dirty="0">
                <a:solidFill>
                  <a:schemeClr val="bg1"/>
                </a:solidFill>
              </a:rPr>
              <a:t> Uses goal-driven/self-supervised paths.</a:t>
            </a:r>
          </a:p>
          <a:p>
            <a:pPr>
              <a:buFont typeface="Arial" panose="020B0604020202020204" pitchFamily="34" charset="0"/>
              <a:buChar char="•"/>
            </a:pPr>
            <a:r>
              <a:rPr lang="en-US" sz="3000" b="1" dirty="0">
                <a:solidFill>
                  <a:schemeClr val="bg1"/>
                </a:solidFill>
              </a:rPr>
              <a:t> Recent motion history guides prediction.</a:t>
            </a:r>
          </a:p>
        </p:txBody>
      </p:sp>
      <p:pic>
        <p:nvPicPr>
          <p:cNvPr id="7" name="Picture 6" descr="A screenshot of a computer generated image&#10;&#10;AI-generated content may be incorrect.">
            <a:extLst>
              <a:ext uri="{FF2B5EF4-FFF2-40B4-BE49-F238E27FC236}">
                <a16:creationId xmlns:a16="http://schemas.microsoft.com/office/drawing/2014/main" id="{602320B1-A3C2-F43B-471E-559A101EF7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77204" y="638629"/>
            <a:ext cx="7604957" cy="6688295"/>
          </a:xfrm>
          <a:prstGeom prst="rect">
            <a:avLst/>
          </a:prstGeom>
        </p:spPr>
      </p:pic>
    </p:spTree>
    <p:extLst>
      <p:ext uri="{BB962C8B-B14F-4D97-AF65-F5344CB8AC3E}">
        <p14:creationId xmlns:p14="http://schemas.microsoft.com/office/powerpoint/2010/main" val="2694136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2485-C2ED-2BFF-8AC1-056926D0373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11E20AA-25DF-475C-9367-65C2C7B55922}"/>
              </a:ext>
            </a:extLst>
          </p:cNvPr>
          <p:cNvGrpSpPr/>
          <p:nvPr/>
        </p:nvGrpSpPr>
        <p:grpSpPr>
          <a:xfrm>
            <a:off x="0" y="0"/>
            <a:ext cx="718039" cy="10287000"/>
            <a:chOff x="0" y="0"/>
            <a:chExt cx="852938" cy="2709333"/>
          </a:xfrm>
        </p:grpSpPr>
        <p:sp>
          <p:nvSpPr>
            <p:cNvPr id="3" name="Freeform 3">
              <a:extLst>
                <a:ext uri="{FF2B5EF4-FFF2-40B4-BE49-F238E27FC236}">
                  <a16:creationId xmlns:a16="http://schemas.microsoft.com/office/drawing/2014/main" id="{38149FF5-DB2E-B72E-C9E8-C5AAF9B5B58B}"/>
                </a:ext>
              </a:extLst>
            </p:cNvPr>
            <p:cNvSpPr/>
            <p:nvPr/>
          </p:nvSpPr>
          <p:spPr>
            <a:xfrm>
              <a:off x="0" y="0"/>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A0D9F7"/>
            </a:solidFill>
            <a:ln>
              <a:solidFill>
                <a:srgbClr val="A0D9F7"/>
              </a:solidFill>
            </a:ln>
          </p:spPr>
        </p:sp>
        <p:sp>
          <p:nvSpPr>
            <p:cNvPr id="4" name="TextBox 4">
              <a:extLst>
                <a:ext uri="{FF2B5EF4-FFF2-40B4-BE49-F238E27FC236}">
                  <a16:creationId xmlns:a16="http://schemas.microsoft.com/office/drawing/2014/main" id="{C717C29F-D64B-1368-CD23-567010863D7C}"/>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grpSp>
        <p:nvGrpSpPr>
          <p:cNvPr id="7" name="Group 2">
            <a:extLst>
              <a:ext uri="{FF2B5EF4-FFF2-40B4-BE49-F238E27FC236}">
                <a16:creationId xmlns:a16="http://schemas.microsoft.com/office/drawing/2014/main" id="{C5872801-3BD2-77BA-E350-4451385D2543}"/>
              </a:ext>
            </a:extLst>
          </p:cNvPr>
          <p:cNvGrpSpPr/>
          <p:nvPr/>
        </p:nvGrpSpPr>
        <p:grpSpPr>
          <a:xfrm>
            <a:off x="666978" y="-144661"/>
            <a:ext cx="2300654" cy="10576322"/>
            <a:chOff x="-1879943" y="-76200"/>
            <a:chExt cx="2732881" cy="2785533"/>
          </a:xfrm>
        </p:grpSpPr>
        <p:sp>
          <p:nvSpPr>
            <p:cNvPr id="9" name="Freeform 3">
              <a:extLst>
                <a:ext uri="{FF2B5EF4-FFF2-40B4-BE49-F238E27FC236}">
                  <a16:creationId xmlns:a16="http://schemas.microsoft.com/office/drawing/2014/main" id="{12972E3A-1C79-E3C4-658C-63098A635C08}"/>
                </a:ext>
              </a:extLst>
            </p:cNvPr>
            <p:cNvSpPr/>
            <p:nvPr/>
          </p:nvSpPr>
          <p:spPr>
            <a:xfrm>
              <a:off x="-1879943" y="-46313"/>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2AA7E1"/>
            </a:solidFill>
            <a:ln>
              <a:solidFill>
                <a:srgbClr val="A0D9F7"/>
              </a:solidFill>
            </a:ln>
          </p:spPr>
        </p:sp>
        <p:sp>
          <p:nvSpPr>
            <p:cNvPr id="10" name="TextBox 4">
              <a:extLst>
                <a:ext uri="{FF2B5EF4-FFF2-40B4-BE49-F238E27FC236}">
                  <a16:creationId xmlns:a16="http://schemas.microsoft.com/office/drawing/2014/main" id="{CFEC36CF-B189-DFE4-A2B6-B2B5B3B2A3F4}"/>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sp>
        <p:nvSpPr>
          <p:cNvPr id="14" name="AutoShape 12">
            <a:extLst>
              <a:ext uri="{FF2B5EF4-FFF2-40B4-BE49-F238E27FC236}">
                <a16:creationId xmlns:a16="http://schemas.microsoft.com/office/drawing/2014/main" id="{9FDB9F78-7E9D-8F1D-0D1E-954388BE1EDC}"/>
              </a:ext>
            </a:extLst>
          </p:cNvPr>
          <p:cNvSpPr/>
          <p:nvPr/>
        </p:nvSpPr>
        <p:spPr>
          <a:xfrm flipV="1">
            <a:off x="1384788" y="9634904"/>
            <a:ext cx="16851923" cy="29307"/>
          </a:xfrm>
          <a:prstGeom prst="line">
            <a:avLst/>
          </a:prstGeom>
          <a:ln w="57150" cap="flat">
            <a:solidFill>
              <a:srgbClr val="13A451"/>
            </a:solidFill>
            <a:prstDash val="sysDot"/>
            <a:headEnd type="none" w="sm" len="sm"/>
            <a:tailEnd type="none" w="sm" len="sm"/>
          </a:ln>
        </p:spPr>
      </p:sp>
      <p:sp>
        <p:nvSpPr>
          <p:cNvPr id="31" name="TextBox 14">
            <a:extLst>
              <a:ext uri="{FF2B5EF4-FFF2-40B4-BE49-F238E27FC236}">
                <a16:creationId xmlns:a16="http://schemas.microsoft.com/office/drawing/2014/main" id="{16B41C8E-4269-30AE-668C-A76974D34A3E}"/>
              </a:ext>
            </a:extLst>
          </p:cNvPr>
          <p:cNvSpPr txBox="1"/>
          <p:nvPr/>
        </p:nvSpPr>
        <p:spPr>
          <a:xfrm>
            <a:off x="18362013" y="9735057"/>
            <a:ext cx="152400" cy="190500"/>
          </a:xfrm>
          <a:prstGeom prst="rect">
            <a:avLst/>
          </a:prstGeom>
        </p:spPr>
        <p:txBody>
          <a:bodyPr wrap="none" lIns="0" tIns="0" rIns="0" bIns="0" rtlCol="0" anchor="t">
            <a:spAutoFit/>
          </a:bodyPr>
          <a:lstStyle/>
          <a:p>
            <a:pPr algn="r">
              <a:lnSpc>
                <a:spcPts val="1679"/>
              </a:lnSpc>
              <a:spcBef>
                <a:spcPct val="0"/>
              </a:spcBef>
            </a:pPr>
            <a:r>
              <a:rPr lang="en-US" sz="1200" b="1">
                <a:solidFill>
                  <a:srgbClr val="004D40"/>
                </a:solidFill>
                <a:latin typeface="Telegraf Bold"/>
                <a:ea typeface="Telegraf Bold"/>
                <a:cs typeface="Telegraf Bold"/>
                <a:sym typeface="Telegraf Bold"/>
              </a:rPr>
              <a:t>2</a:t>
            </a:r>
          </a:p>
        </p:txBody>
      </p:sp>
      <p:sp>
        <p:nvSpPr>
          <p:cNvPr id="6" name="TextBox 3">
            <a:extLst>
              <a:ext uri="{FF2B5EF4-FFF2-40B4-BE49-F238E27FC236}">
                <a16:creationId xmlns:a16="http://schemas.microsoft.com/office/drawing/2014/main" id="{C2E7E5D8-7EBD-87CB-7836-A7C2BC9138F2}"/>
              </a:ext>
            </a:extLst>
          </p:cNvPr>
          <p:cNvSpPr txBox="1"/>
          <p:nvPr/>
        </p:nvSpPr>
        <p:spPr>
          <a:xfrm>
            <a:off x="1855182" y="231965"/>
            <a:ext cx="6886573" cy="1931041"/>
          </a:xfrm>
          <a:prstGeom prst="rect">
            <a:avLst/>
          </a:prstGeom>
        </p:spPr>
        <p:txBody>
          <a:bodyPr lIns="0" tIns="0" rIns="0" bIns="0" rtlCol="0" anchor="t">
            <a:spAutoFit/>
          </a:bodyPr>
          <a:lstStyle/>
          <a:p>
            <a:pPr marL="0" lvl="0" indent="0" algn="l">
              <a:lnSpc>
                <a:spcPts val="7699"/>
              </a:lnSpc>
            </a:pPr>
            <a:r>
              <a:rPr lang="en-US" sz="6000" b="1" dirty="0">
                <a:solidFill>
                  <a:srgbClr val="0070C0"/>
                </a:solidFill>
              </a:rPr>
              <a:t>Conclusion &amp; Implementation:</a:t>
            </a:r>
            <a:endParaRPr lang="en-US" sz="6000" b="1" spc="-69" dirty="0">
              <a:solidFill>
                <a:srgbClr val="0070C0"/>
              </a:solidFill>
              <a:latin typeface="Arial Black"/>
              <a:ea typeface="Telegraf Bold"/>
              <a:cs typeface="Telegraf Bold"/>
            </a:endParaRPr>
          </a:p>
        </p:txBody>
      </p:sp>
      <p:sp>
        <p:nvSpPr>
          <p:cNvPr id="24" name="TextBox 8">
            <a:extLst>
              <a:ext uri="{FF2B5EF4-FFF2-40B4-BE49-F238E27FC236}">
                <a16:creationId xmlns:a16="http://schemas.microsoft.com/office/drawing/2014/main" id="{33238CD6-23C9-B2EC-37E8-71B695F1693A}"/>
              </a:ext>
            </a:extLst>
          </p:cNvPr>
          <p:cNvSpPr txBox="1"/>
          <p:nvPr/>
        </p:nvSpPr>
        <p:spPr>
          <a:xfrm>
            <a:off x="18324136" y="9822980"/>
            <a:ext cx="152400" cy="190500"/>
          </a:xfrm>
          <a:prstGeom prst="rect">
            <a:avLst/>
          </a:prstGeom>
        </p:spPr>
        <p:txBody>
          <a:bodyPr wrap="none" lIns="0" tIns="0" rIns="0" bIns="0" rtlCol="0" anchor="t">
            <a:spAutoFit/>
          </a:bodyPr>
          <a:lstStyle/>
          <a:p>
            <a:pPr algn="r">
              <a:lnSpc>
                <a:spcPts val="1679"/>
              </a:lnSpc>
              <a:spcBef>
                <a:spcPct val="0"/>
              </a:spcBef>
            </a:pPr>
            <a:r>
              <a:rPr lang="en-US" sz="1200" b="1">
                <a:solidFill>
                  <a:srgbClr val="004D40"/>
                </a:solidFill>
                <a:latin typeface="Telegraf Bold"/>
                <a:ea typeface="Telegraf Bold"/>
                <a:cs typeface="Telegraf Bold"/>
                <a:sym typeface="Telegraf Bold"/>
              </a:rPr>
              <a:t>3</a:t>
            </a:r>
          </a:p>
        </p:txBody>
      </p:sp>
      <p:pic>
        <p:nvPicPr>
          <p:cNvPr id="13" name="Picture 12" descr="Premier University | Center of Exellence for Quality Learning">
            <a:extLst>
              <a:ext uri="{FF2B5EF4-FFF2-40B4-BE49-F238E27FC236}">
                <a16:creationId xmlns:a16="http://schemas.microsoft.com/office/drawing/2014/main" id="{F092AF68-4D8B-F6F8-C643-051B4D727EC4}"/>
              </a:ext>
            </a:extLst>
          </p:cNvPr>
          <p:cNvPicPr>
            <a:picLocks noChangeAspect="1"/>
          </p:cNvPicPr>
          <p:nvPr/>
        </p:nvPicPr>
        <p:blipFill>
          <a:blip r:embed="rId2"/>
          <a:srcRect t="-430" r="1575" b="1205"/>
          <a:stretch>
            <a:fillRect/>
          </a:stretch>
        </p:blipFill>
        <p:spPr>
          <a:xfrm>
            <a:off x="0" y="9178614"/>
            <a:ext cx="3279437" cy="1139570"/>
          </a:xfrm>
          <a:prstGeom prst="rect">
            <a:avLst/>
          </a:prstGeom>
        </p:spPr>
      </p:pic>
      <p:sp>
        <p:nvSpPr>
          <p:cNvPr id="11" name="Rectangle 1">
            <a:extLst>
              <a:ext uri="{FF2B5EF4-FFF2-40B4-BE49-F238E27FC236}">
                <a16:creationId xmlns:a16="http://schemas.microsoft.com/office/drawing/2014/main" id="{688C2F3A-8963-5219-C37D-75E5B46AC61F}"/>
              </a:ext>
            </a:extLst>
          </p:cNvPr>
          <p:cNvSpPr>
            <a:spLocks noChangeArrowheads="1"/>
          </p:cNvSpPr>
          <p:nvPr/>
        </p:nvSpPr>
        <p:spPr bwMode="auto">
          <a:xfrm>
            <a:off x="1578960" y="5112316"/>
            <a:ext cx="12429941"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lvl="0" indent="-457200" eaLnBrk="0" fontAlgn="base" hangingPunct="0">
              <a:spcBef>
                <a:spcPct val="0"/>
              </a:spcBef>
              <a:spcAft>
                <a:spcPct val="0"/>
              </a:spcAft>
              <a:buFont typeface="Wingdings" panose="05000000000000000000" pitchFamily="2" charset="2"/>
              <a:buChar char="v"/>
            </a:pPr>
            <a:r>
              <a:rPr lang="en-US" altLang="en-US" sz="3000" b="1" dirty="0"/>
              <a:t>Use behavioral cues to detect risky pedestrian–vehicle interactions</a:t>
            </a:r>
          </a:p>
          <a:p>
            <a:pPr marL="457200" lvl="0" indent="-457200" eaLnBrk="0" fontAlgn="base" hangingPunct="0">
              <a:spcBef>
                <a:spcPct val="0"/>
              </a:spcBef>
              <a:spcAft>
                <a:spcPct val="0"/>
              </a:spcAft>
              <a:buFont typeface="Wingdings" panose="05000000000000000000" pitchFamily="2" charset="2"/>
              <a:buChar char="v"/>
            </a:pPr>
            <a:endParaRPr kumimoji="0" lang="en-US" altLang="en-US" sz="3000" b="1" i="0" u="none" strike="noStrike" cap="none" normalizeH="0" baseline="0" dirty="0">
              <a:ln>
                <a:noFill/>
              </a:ln>
              <a:effectLst/>
            </a:endParaRPr>
          </a:p>
          <a:p>
            <a:pPr marL="457200" lvl="0" indent="-457200" eaLnBrk="0" fontAlgn="base" hangingPunct="0">
              <a:spcBef>
                <a:spcPct val="0"/>
              </a:spcBef>
              <a:spcAft>
                <a:spcPct val="0"/>
              </a:spcAft>
              <a:buFont typeface="Wingdings" panose="05000000000000000000" pitchFamily="2" charset="2"/>
              <a:buChar char="v"/>
            </a:pPr>
            <a:r>
              <a:rPr lang="en-US" altLang="en-US" sz="3000" b="1" dirty="0"/>
              <a:t>Apply </a:t>
            </a:r>
            <a:r>
              <a:rPr lang="en-US" altLang="en-US" sz="3000" b="1" dirty="0" err="1"/>
              <a:t>spatio</a:t>
            </a:r>
            <a:r>
              <a:rPr lang="en-US" altLang="en-US" sz="3000" b="1" dirty="0"/>
              <a:t>-temporal features for analyzing crowded intersections.</a:t>
            </a:r>
          </a:p>
          <a:p>
            <a:pPr marL="457200" lvl="0" indent="-457200" eaLnBrk="0" fontAlgn="base" hangingPunct="0">
              <a:spcBef>
                <a:spcPct val="0"/>
              </a:spcBef>
              <a:spcAft>
                <a:spcPct val="0"/>
              </a:spcAft>
              <a:buFont typeface="Wingdings" panose="05000000000000000000" pitchFamily="2" charset="2"/>
              <a:buChar char="v"/>
            </a:pPr>
            <a:endParaRPr kumimoji="0" lang="en-US" altLang="en-US" sz="3000" b="1" i="0" u="none" strike="noStrike" cap="none" normalizeH="0" baseline="0" dirty="0">
              <a:ln>
                <a:noFill/>
              </a:ln>
              <a:effectLst/>
            </a:endParaRPr>
          </a:p>
          <a:p>
            <a:pPr marL="457200" lvl="0" indent="-457200" eaLnBrk="0" fontAlgn="base" hangingPunct="0">
              <a:spcBef>
                <a:spcPct val="0"/>
              </a:spcBef>
              <a:spcAft>
                <a:spcPct val="0"/>
              </a:spcAft>
              <a:buFont typeface="Wingdings" panose="05000000000000000000" pitchFamily="2" charset="2"/>
              <a:buChar char="v"/>
            </a:pPr>
            <a:r>
              <a:rPr lang="en-US" altLang="en-US" sz="3000" b="1" dirty="0"/>
              <a:t>Integrate goal-driven motion patterns to identify potential collision zones.</a:t>
            </a:r>
            <a:endParaRPr kumimoji="0" lang="en-US" altLang="en-US" sz="3000" b="1" i="0" u="none" strike="noStrike" cap="none" normalizeH="0" baseline="0" dirty="0">
              <a:ln>
                <a:noFill/>
              </a:ln>
              <a:effectLst/>
            </a:endParaRPr>
          </a:p>
        </p:txBody>
      </p:sp>
      <p:sp>
        <p:nvSpPr>
          <p:cNvPr id="18" name="TextBox 17">
            <a:extLst>
              <a:ext uri="{FF2B5EF4-FFF2-40B4-BE49-F238E27FC236}">
                <a16:creationId xmlns:a16="http://schemas.microsoft.com/office/drawing/2014/main" id="{ED5B54D8-39B8-505B-16EF-381BA2312450}"/>
              </a:ext>
            </a:extLst>
          </p:cNvPr>
          <p:cNvSpPr txBox="1"/>
          <p:nvPr/>
        </p:nvSpPr>
        <p:spPr>
          <a:xfrm>
            <a:off x="1384788" y="2554557"/>
            <a:ext cx="9007441" cy="1938992"/>
          </a:xfrm>
          <a:prstGeom prst="rect">
            <a:avLst/>
          </a:prstGeom>
          <a:noFill/>
        </p:spPr>
        <p:txBody>
          <a:bodyPr wrap="square">
            <a:spAutoFit/>
          </a:bodyPr>
          <a:lstStyle/>
          <a:p>
            <a:pPr marL="457200" indent="-457200">
              <a:buFont typeface="Wingdings" panose="05000000000000000000" pitchFamily="2" charset="2"/>
              <a:buChar char="ü"/>
            </a:pPr>
            <a:r>
              <a:rPr lang="en-US" sz="3000" b="1" dirty="0"/>
              <a:t>Behavioral cues, ego-motion, and graph interactions improve pedestrian-trajectory accuracy. These methods enable more realistic and reliable road-scene understanding.</a:t>
            </a:r>
          </a:p>
        </p:txBody>
      </p:sp>
    </p:spTree>
    <p:extLst>
      <p:ext uri="{BB962C8B-B14F-4D97-AF65-F5344CB8AC3E}">
        <p14:creationId xmlns:p14="http://schemas.microsoft.com/office/powerpoint/2010/main" val="3633377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87475-6410-CF0C-8E19-FB05FF84076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145F91B-82E0-9524-F9AD-2E71B99829FD}"/>
              </a:ext>
            </a:extLst>
          </p:cNvPr>
          <p:cNvGrpSpPr/>
          <p:nvPr/>
        </p:nvGrpSpPr>
        <p:grpSpPr>
          <a:xfrm>
            <a:off x="0" y="0"/>
            <a:ext cx="718039" cy="10287000"/>
            <a:chOff x="0" y="0"/>
            <a:chExt cx="852938" cy="2709333"/>
          </a:xfrm>
        </p:grpSpPr>
        <p:sp>
          <p:nvSpPr>
            <p:cNvPr id="3" name="Freeform 3">
              <a:extLst>
                <a:ext uri="{FF2B5EF4-FFF2-40B4-BE49-F238E27FC236}">
                  <a16:creationId xmlns:a16="http://schemas.microsoft.com/office/drawing/2014/main" id="{97CC6F21-476F-F6C4-1220-D6E239938C64}"/>
                </a:ext>
              </a:extLst>
            </p:cNvPr>
            <p:cNvSpPr/>
            <p:nvPr/>
          </p:nvSpPr>
          <p:spPr>
            <a:xfrm>
              <a:off x="0" y="0"/>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A0D9F7"/>
            </a:solidFill>
            <a:ln>
              <a:solidFill>
                <a:srgbClr val="A0D9F7"/>
              </a:solidFill>
            </a:ln>
          </p:spPr>
        </p:sp>
        <p:sp>
          <p:nvSpPr>
            <p:cNvPr id="4" name="TextBox 4">
              <a:extLst>
                <a:ext uri="{FF2B5EF4-FFF2-40B4-BE49-F238E27FC236}">
                  <a16:creationId xmlns:a16="http://schemas.microsoft.com/office/drawing/2014/main" id="{60A78677-C335-ADAB-3B22-B310479E3978}"/>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grpSp>
        <p:nvGrpSpPr>
          <p:cNvPr id="7" name="Group 2">
            <a:extLst>
              <a:ext uri="{FF2B5EF4-FFF2-40B4-BE49-F238E27FC236}">
                <a16:creationId xmlns:a16="http://schemas.microsoft.com/office/drawing/2014/main" id="{BB7C5304-BDF2-992B-79E0-A983C88100E2}"/>
              </a:ext>
            </a:extLst>
          </p:cNvPr>
          <p:cNvGrpSpPr/>
          <p:nvPr/>
        </p:nvGrpSpPr>
        <p:grpSpPr>
          <a:xfrm>
            <a:off x="666978" y="-144661"/>
            <a:ext cx="2300654" cy="10576322"/>
            <a:chOff x="-1879943" y="-76200"/>
            <a:chExt cx="2732881" cy="2785533"/>
          </a:xfrm>
        </p:grpSpPr>
        <p:sp>
          <p:nvSpPr>
            <p:cNvPr id="9" name="Freeform 3">
              <a:extLst>
                <a:ext uri="{FF2B5EF4-FFF2-40B4-BE49-F238E27FC236}">
                  <a16:creationId xmlns:a16="http://schemas.microsoft.com/office/drawing/2014/main" id="{DBA0272D-4BAB-7670-D1DD-C84C70AD8FA2}"/>
                </a:ext>
              </a:extLst>
            </p:cNvPr>
            <p:cNvSpPr/>
            <p:nvPr/>
          </p:nvSpPr>
          <p:spPr>
            <a:xfrm>
              <a:off x="-1879943" y="-46313"/>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2AA7E1"/>
            </a:solidFill>
            <a:ln>
              <a:solidFill>
                <a:srgbClr val="A0D9F7"/>
              </a:solidFill>
            </a:ln>
          </p:spPr>
        </p:sp>
        <p:sp>
          <p:nvSpPr>
            <p:cNvPr id="10" name="TextBox 4">
              <a:extLst>
                <a:ext uri="{FF2B5EF4-FFF2-40B4-BE49-F238E27FC236}">
                  <a16:creationId xmlns:a16="http://schemas.microsoft.com/office/drawing/2014/main" id="{E629E917-63F7-6CB6-8C04-070C4079ECD8}"/>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sp>
        <p:nvSpPr>
          <p:cNvPr id="14" name="AutoShape 12">
            <a:extLst>
              <a:ext uri="{FF2B5EF4-FFF2-40B4-BE49-F238E27FC236}">
                <a16:creationId xmlns:a16="http://schemas.microsoft.com/office/drawing/2014/main" id="{7DF2B862-FCED-1A3F-7699-A9F1DF3268B6}"/>
              </a:ext>
            </a:extLst>
          </p:cNvPr>
          <p:cNvSpPr/>
          <p:nvPr/>
        </p:nvSpPr>
        <p:spPr>
          <a:xfrm flipV="1">
            <a:off x="1384788" y="9634904"/>
            <a:ext cx="16851923" cy="29307"/>
          </a:xfrm>
          <a:prstGeom prst="line">
            <a:avLst/>
          </a:prstGeom>
          <a:ln w="57150" cap="flat">
            <a:solidFill>
              <a:srgbClr val="13A451"/>
            </a:solidFill>
            <a:prstDash val="sysDot"/>
            <a:headEnd type="none" w="sm" len="sm"/>
            <a:tailEnd type="none" w="sm" len="sm"/>
          </a:ln>
        </p:spPr>
      </p:sp>
      <p:sp>
        <p:nvSpPr>
          <p:cNvPr id="31" name="TextBox 14">
            <a:extLst>
              <a:ext uri="{FF2B5EF4-FFF2-40B4-BE49-F238E27FC236}">
                <a16:creationId xmlns:a16="http://schemas.microsoft.com/office/drawing/2014/main" id="{F2CD3060-15FC-0A50-2A42-6CE4FC65CB86}"/>
              </a:ext>
            </a:extLst>
          </p:cNvPr>
          <p:cNvSpPr txBox="1"/>
          <p:nvPr/>
        </p:nvSpPr>
        <p:spPr>
          <a:xfrm>
            <a:off x="18362013" y="9735057"/>
            <a:ext cx="152400" cy="190500"/>
          </a:xfrm>
          <a:prstGeom prst="rect">
            <a:avLst/>
          </a:prstGeom>
        </p:spPr>
        <p:txBody>
          <a:bodyPr wrap="none" lIns="0" tIns="0" rIns="0" bIns="0" rtlCol="0" anchor="t">
            <a:spAutoFit/>
          </a:bodyPr>
          <a:lstStyle/>
          <a:p>
            <a:pPr algn="r">
              <a:lnSpc>
                <a:spcPts val="1679"/>
              </a:lnSpc>
              <a:spcBef>
                <a:spcPct val="0"/>
              </a:spcBef>
            </a:pPr>
            <a:r>
              <a:rPr lang="en-US" sz="1200" b="1">
                <a:solidFill>
                  <a:srgbClr val="004D40"/>
                </a:solidFill>
                <a:latin typeface="Telegraf Bold"/>
                <a:ea typeface="Telegraf Bold"/>
                <a:cs typeface="Telegraf Bold"/>
                <a:sym typeface="Telegraf Bold"/>
              </a:rPr>
              <a:t>2</a:t>
            </a:r>
          </a:p>
        </p:txBody>
      </p:sp>
      <p:grpSp>
        <p:nvGrpSpPr>
          <p:cNvPr id="12" name="Group 2">
            <a:extLst>
              <a:ext uri="{FF2B5EF4-FFF2-40B4-BE49-F238E27FC236}">
                <a16:creationId xmlns:a16="http://schemas.microsoft.com/office/drawing/2014/main" id="{C34B11E4-14ED-8F65-9400-0A61A83AD631}"/>
              </a:ext>
            </a:extLst>
          </p:cNvPr>
          <p:cNvGrpSpPr/>
          <p:nvPr/>
        </p:nvGrpSpPr>
        <p:grpSpPr>
          <a:xfrm>
            <a:off x="1855182" y="231965"/>
            <a:ext cx="14637723" cy="3905621"/>
            <a:chOff x="452318" y="-693817"/>
            <a:chExt cx="19516967" cy="5207495"/>
          </a:xfrm>
        </p:grpSpPr>
        <p:sp>
          <p:nvSpPr>
            <p:cNvPr id="6" name="TextBox 3">
              <a:extLst>
                <a:ext uri="{FF2B5EF4-FFF2-40B4-BE49-F238E27FC236}">
                  <a16:creationId xmlns:a16="http://schemas.microsoft.com/office/drawing/2014/main" id="{D8F6D9E4-7C09-4A13-3A49-FD0E420A152F}"/>
                </a:ext>
              </a:extLst>
            </p:cNvPr>
            <p:cNvSpPr txBox="1"/>
            <p:nvPr/>
          </p:nvSpPr>
          <p:spPr>
            <a:xfrm>
              <a:off x="452318" y="-693817"/>
              <a:ext cx="9182099" cy="5207495"/>
            </a:xfrm>
            <a:prstGeom prst="rect">
              <a:avLst/>
            </a:prstGeom>
          </p:spPr>
          <p:txBody>
            <a:bodyPr lIns="0" tIns="0" rIns="0" bIns="0" rtlCol="0" anchor="t">
              <a:spAutoFit/>
            </a:bodyPr>
            <a:lstStyle/>
            <a:p>
              <a:pPr>
                <a:lnSpc>
                  <a:spcPts val="7699"/>
                </a:lnSpc>
              </a:pPr>
              <a:r>
                <a:rPr lang="en-US" sz="6000" b="1" dirty="0">
                  <a:solidFill>
                    <a:srgbClr val="0070C0"/>
                  </a:solidFill>
                </a:rPr>
                <a:t>Category 3:Overall Scene Understanding-</a:t>
              </a:r>
            </a:p>
            <a:p>
              <a:pPr marL="0" lvl="0" indent="0" algn="l">
                <a:lnSpc>
                  <a:spcPts val="7699"/>
                </a:lnSpc>
              </a:pPr>
              <a:endParaRPr lang="en-US" sz="6000" b="1" spc="-69" dirty="0">
                <a:solidFill>
                  <a:srgbClr val="0070C0"/>
                </a:solidFill>
                <a:latin typeface="Arial Black"/>
                <a:ea typeface="Telegraf Bold"/>
                <a:cs typeface="Telegraf Bold"/>
              </a:endParaRPr>
            </a:p>
          </p:txBody>
        </p:sp>
        <p:sp>
          <p:nvSpPr>
            <p:cNvPr id="8" name="TextBox 4">
              <a:extLst>
                <a:ext uri="{FF2B5EF4-FFF2-40B4-BE49-F238E27FC236}">
                  <a16:creationId xmlns:a16="http://schemas.microsoft.com/office/drawing/2014/main" id="{1131FF81-A442-CA29-7A8E-2A370A0059E5}"/>
                </a:ext>
              </a:extLst>
            </p:cNvPr>
            <p:cNvSpPr txBox="1"/>
            <p:nvPr/>
          </p:nvSpPr>
          <p:spPr>
            <a:xfrm>
              <a:off x="10787185" y="927570"/>
              <a:ext cx="9182100" cy="564257"/>
            </a:xfrm>
            <a:prstGeom prst="rect">
              <a:avLst/>
            </a:prstGeom>
          </p:spPr>
          <p:txBody>
            <a:bodyPr lIns="0" tIns="0" rIns="0" bIns="0" rtlCol="0" anchor="t">
              <a:spAutoFit/>
            </a:bodyPr>
            <a:lstStyle/>
            <a:p>
              <a:pPr marL="0" lvl="0" indent="0" algn="l">
                <a:lnSpc>
                  <a:spcPts val="3300"/>
                </a:lnSpc>
              </a:pPr>
              <a:r>
                <a:rPr lang="en-US" sz="3000" b="1" u="sng" spc="-30" dirty="0">
                  <a:latin typeface="Telegraf Bold"/>
                  <a:ea typeface="Telegraf Bold"/>
                  <a:cs typeface="Telegraf Bold"/>
                  <a:sym typeface="Telegraf Bold"/>
                </a:rPr>
                <a:t>Key Insights and Findings</a:t>
              </a:r>
              <a:r>
                <a:rPr lang="en-US" sz="3000" b="1" spc="-30" dirty="0">
                  <a:latin typeface="Telegraf Bold"/>
                  <a:ea typeface="Telegraf Bold"/>
                  <a:cs typeface="Telegraf Bold"/>
                  <a:sym typeface="Telegraf Bold"/>
                </a:rPr>
                <a:t>:</a:t>
              </a:r>
            </a:p>
          </p:txBody>
        </p:sp>
      </p:grpSp>
      <p:sp>
        <p:nvSpPr>
          <p:cNvPr id="24" name="TextBox 8">
            <a:extLst>
              <a:ext uri="{FF2B5EF4-FFF2-40B4-BE49-F238E27FC236}">
                <a16:creationId xmlns:a16="http://schemas.microsoft.com/office/drawing/2014/main" id="{32920595-302A-0DD8-FA84-6D12146450C0}"/>
              </a:ext>
            </a:extLst>
          </p:cNvPr>
          <p:cNvSpPr txBox="1"/>
          <p:nvPr/>
        </p:nvSpPr>
        <p:spPr>
          <a:xfrm>
            <a:off x="18324136" y="9822980"/>
            <a:ext cx="152400" cy="190500"/>
          </a:xfrm>
          <a:prstGeom prst="rect">
            <a:avLst/>
          </a:prstGeom>
        </p:spPr>
        <p:txBody>
          <a:bodyPr wrap="none" lIns="0" tIns="0" rIns="0" bIns="0" rtlCol="0" anchor="t">
            <a:spAutoFit/>
          </a:bodyPr>
          <a:lstStyle/>
          <a:p>
            <a:pPr algn="r">
              <a:lnSpc>
                <a:spcPts val="1679"/>
              </a:lnSpc>
              <a:spcBef>
                <a:spcPct val="0"/>
              </a:spcBef>
            </a:pPr>
            <a:r>
              <a:rPr lang="en-US" sz="1200" b="1">
                <a:solidFill>
                  <a:srgbClr val="004D40"/>
                </a:solidFill>
                <a:latin typeface="Telegraf Bold"/>
                <a:ea typeface="Telegraf Bold"/>
                <a:cs typeface="Telegraf Bold"/>
                <a:sym typeface="Telegraf Bold"/>
              </a:rPr>
              <a:t>3</a:t>
            </a:r>
          </a:p>
        </p:txBody>
      </p:sp>
      <p:pic>
        <p:nvPicPr>
          <p:cNvPr id="13" name="Picture 12" descr="Premier University | Center of Exellence for Quality Learning">
            <a:extLst>
              <a:ext uri="{FF2B5EF4-FFF2-40B4-BE49-F238E27FC236}">
                <a16:creationId xmlns:a16="http://schemas.microsoft.com/office/drawing/2014/main" id="{A4D8A288-068A-BAE9-389D-C07D85BC32D7}"/>
              </a:ext>
            </a:extLst>
          </p:cNvPr>
          <p:cNvPicPr>
            <a:picLocks noChangeAspect="1"/>
          </p:cNvPicPr>
          <p:nvPr/>
        </p:nvPicPr>
        <p:blipFill>
          <a:blip r:embed="rId2"/>
          <a:srcRect t="-430" r="1575" b="1205"/>
          <a:stretch>
            <a:fillRect/>
          </a:stretch>
        </p:blipFill>
        <p:spPr>
          <a:xfrm>
            <a:off x="0" y="9147430"/>
            <a:ext cx="3279437" cy="1139570"/>
          </a:xfrm>
          <a:prstGeom prst="rect">
            <a:avLst/>
          </a:prstGeom>
        </p:spPr>
      </p:pic>
      <p:sp>
        <p:nvSpPr>
          <p:cNvPr id="5" name="Rectangle 1">
            <a:extLst>
              <a:ext uri="{FF2B5EF4-FFF2-40B4-BE49-F238E27FC236}">
                <a16:creationId xmlns:a16="http://schemas.microsoft.com/office/drawing/2014/main" id="{12F1E28F-C86D-4813-AA42-A05B0ACC0B5F}"/>
              </a:ext>
            </a:extLst>
          </p:cNvPr>
          <p:cNvSpPr>
            <a:spLocks noChangeArrowheads="1"/>
          </p:cNvSpPr>
          <p:nvPr/>
        </p:nvSpPr>
        <p:spPr bwMode="auto">
          <a:xfrm>
            <a:off x="9601200" y="2459317"/>
            <a:ext cx="8527143"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Wingdings" panose="05000000000000000000" pitchFamily="2" charset="2"/>
              <a:buChar char="q"/>
            </a:pPr>
            <a:r>
              <a:rPr lang="en-US" altLang="en-US" sz="3000" b="1" dirty="0"/>
              <a:t>Multi-task learning improves shared feature representation in road scenes</a:t>
            </a:r>
            <a:endParaRPr kumimoji="0" lang="en-US" altLang="en-US" sz="3000" b="1" i="0" u="none" strike="noStrike" cap="none" normalizeH="0" baseline="0" dirty="0">
              <a:ln>
                <a:noFill/>
              </a:ln>
              <a:effectLst/>
            </a:endParaRPr>
          </a:p>
          <a:p>
            <a:pPr marL="342900" lvl="0" indent="-342900" eaLnBrk="0" fontAlgn="base" hangingPunct="0">
              <a:spcBef>
                <a:spcPct val="0"/>
              </a:spcBef>
              <a:spcAft>
                <a:spcPct val="0"/>
              </a:spcAft>
              <a:buFont typeface="Wingdings" panose="05000000000000000000" pitchFamily="2" charset="2"/>
              <a:buChar char="q"/>
            </a:pPr>
            <a:r>
              <a:rPr lang="en-US" altLang="en-US" sz="3000" b="1" dirty="0"/>
              <a:t>A single network enhances lane, object, and drivable-area understanding</a:t>
            </a:r>
            <a:endParaRPr kumimoji="0" lang="en-US" altLang="en-US" sz="3000" b="1" i="0" u="none" strike="noStrike" cap="none" normalizeH="0" baseline="0" dirty="0">
              <a:ln>
                <a:noFill/>
              </a:ln>
              <a:effectLst/>
            </a:endParaRPr>
          </a:p>
          <a:p>
            <a:pPr marL="342900" lvl="0" indent="-342900" eaLnBrk="0" fontAlgn="base" hangingPunct="0">
              <a:spcBef>
                <a:spcPct val="0"/>
              </a:spcBef>
              <a:spcAft>
                <a:spcPct val="0"/>
              </a:spcAft>
              <a:buFont typeface="Wingdings" panose="05000000000000000000" pitchFamily="2" charset="2"/>
              <a:buChar char="q"/>
            </a:pPr>
            <a:r>
              <a:rPr lang="en-US" altLang="en-US" sz="3000" b="1" dirty="0"/>
              <a:t>Bi-Mapper fuses front-view features with geometric priors.</a:t>
            </a:r>
            <a:endParaRPr kumimoji="0" lang="en-US" altLang="en-US" sz="3000" b="1" i="0" u="none" strike="noStrike" cap="none" normalizeH="0" baseline="0" dirty="0">
              <a:ln>
                <a:noFill/>
              </a:ln>
              <a:effectLst/>
            </a:endParaRPr>
          </a:p>
          <a:p>
            <a:pPr marL="342900" lvl="0" indent="-342900" eaLnBrk="0" fontAlgn="base" hangingPunct="0">
              <a:spcBef>
                <a:spcPct val="0"/>
              </a:spcBef>
              <a:spcAft>
                <a:spcPct val="0"/>
              </a:spcAft>
              <a:buFont typeface="Wingdings" panose="05000000000000000000" pitchFamily="2" charset="2"/>
              <a:buChar char="q"/>
            </a:pPr>
            <a:r>
              <a:rPr lang="en-US" altLang="en-US" sz="3000" b="1" dirty="0"/>
              <a:t>Dual-stream design reduces perspective distortion in BEV mapping.</a:t>
            </a:r>
          </a:p>
          <a:p>
            <a:pPr marL="342900" lvl="0" indent="-342900" eaLnBrk="0" fontAlgn="base" hangingPunct="0">
              <a:spcBef>
                <a:spcPct val="0"/>
              </a:spcBef>
              <a:spcAft>
                <a:spcPct val="0"/>
              </a:spcAft>
              <a:buFont typeface="Wingdings" panose="05000000000000000000" pitchFamily="2" charset="2"/>
              <a:buChar char="q"/>
            </a:pPr>
            <a:r>
              <a:rPr lang="en-US" altLang="en-US" sz="3000" b="1" dirty="0"/>
              <a:t>Asynchronous mutual learning boosts cross-view consistency.</a:t>
            </a:r>
            <a:endParaRPr kumimoji="0" lang="en-US" altLang="en-US" sz="3000" b="1" i="0" u="none" strike="noStrike" cap="none" normalizeH="0" baseline="0" dirty="0">
              <a:ln>
                <a:noFill/>
              </a:ln>
              <a:effectLst/>
            </a:endParaRPr>
          </a:p>
        </p:txBody>
      </p:sp>
    </p:spTree>
    <p:extLst>
      <p:ext uri="{BB962C8B-B14F-4D97-AF65-F5344CB8AC3E}">
        <p14:creationId xmlns:p14="http://schemas.microsoft.com/office/powerpoint/2010/main" val="30590605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AA7E1"/>
        </a:solidFill>
        <a:effectLst/>
      </p:bgPr>
    </p:bg>
    <p:spTree>
      <p:nvGrpSpPr>
        <p:cNvPr id="1" name="">
          <a:extLst>
            <a:ext uri="{FF2B5EF4-FFF2-40B4-BE49-F238E27FC236}">
              <a16:creationId xmlns:a16="http://schemas.microsoft.com/office/drawing/2014/main" id="{3E74C6B2-90DD-14BE-0189-90B7EFCEC18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6AA01CC-3C03-9FA1-91DD-366BFEA12EFB}"/>
              </a:ext>
            </a:extLst>
          </p:cNvPr>
          <p:cNvGrpSpPr/>
          <p:nvPr/>
        </p:nvGrpSpPr>
        <p:grpSpPr>
          <a:xfrm>
            <a:off x="0" y="0"/>
            <a:ext cx="1005839" cy="10287000"/>
            <a:chOff x="0" y="0"/>
            <a:chExt cx="852938" cy="2709333"/>
          </a:xfrm>
        </p:grpSpPr>
        <p:sp>
          <p:nvSpPr>
            <p:cNvPr id="3" name="Freeform 3">
              <a:extLst>
                <a:ext uri="{FF2B5EF4-FFF2-40B4-BE49-F238E27FC236}">
                  <a16:creationId xmlns:a16="http://schemas.microsoft.com/office/drawing/2014/main" id="{83EDE52D-EE0C-6E2C-7F41-CDB1A4E9B4A7}"/>
                </a:ext>
              </a:extLst>
            </p:cNvPr>
            <p:cNvSpPr/>
            <p:nvPr/>
          </p:nvSpPr>
          <p:spPr>
            <a:xfrm>
              <a:off x="0" y="0"/>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A0D9F7"/>
            </a:solidFill>
            <a:ln>
              <a:solidFill>
                <a:srgbClr val="A0D9F7"/>
              </a:solidFill>
            </a:ln>
          </p:spPr>
        </p:sp>
        <p:sp>
          <p:nvSpPr>
            <p:cNvPr id="4" name="TextBox 4">
              <a:extLst>
                <a:ext uri="{FF2B5EF4-FFF2-40B4-BE49-F238E27FC236}">
                  <a16:creationId xmlns:a16="http://schemas.microsoft.com/office/drawing/2014/main" id="{78648602-2001-FEAA-14F5-C17D384ED350}"/>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grpSp>
        <p:nvGrpSpPr>
          <p:cNvPr id="9" name="Group 2">
            <a:extLst>
              <a:ext uri="{FF2B5EF4-FFF2-40B4-BE49-F238E27FC236}">
                <a16:creationId xmlns:a16="http://schemas.microsoft.com/office/drawing/2014/main" id="{118ACB90-C081-DB41-FED5-7F3DE98CA551}"/>
              </a:ext>
            </a:extLst>
          </p:cNvPr>
          <p:cNvGrpSpPr/>
          <p:nvPr/>
        </p:nvGrpSpPr>
        <p:grpSpPr>
          <a:xfrm>
            <a:off x="-859302" y="-144661"/>
            <a:ext cx="18141463" cy="10576322"/>
            <a:chOff x="0" y="-76200"/>
            <a:chExt cx="4777997" cy="2785533"/>
          </a:xfrm>
        </p:grpSpPr>
        <p:sp>
          <p:nvSpPr>
            <p:cNvPr id="10" name="Freeform 3">
              <a:extLst>
                <a:ext uri="{FF2B5EF4-FFF2-40B4-BE49-F238E27FC236}">
                  <a16:creationId xmlns:a16="http://schemas.microsoft.com/office/drawing/2014/main" id="{35758181-0006-7D10-FB43-465AAB2F105F}"/>
                </a:ext>
              </a:extLst>
            </p:cNvPr>
            <p:cNvSpPr/>
            <p:nvPr/>
          </p:nvSpPr>
          <p:spPr>
            <a:xfrm>
              <a:off x="3925059" y="-38594"/>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A0D9F7"/>
            </a:solidFill>
            <a:ln>
              <a:solidFill>
                <a:srgbClr val="A0D9F7"/>
              </a:solidFill>
            </a:ln>
          </p:spPr>
        </p:sp>
        <p:sp>
          <p:nvSpPr>
            <p:cNvPr id="11" name="TextBox 4">
              <a:extLst>
                <a:ext uri="{FF2B5EF4-FFF2-40B4-BE49-F238E27FC236}">
                  <a16:creationId xmlns:a16="http://schemas.microsoft.com/office/drawing/2014/main" id="{5203695B-80D9-3394-947A-54B8B0AE4978}"/>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sp>
        <p:nvSpPr>
          <p:cNvPr id="18" name="TextBox 4">
            <a:extLst>
              <a:ext uri="{FF2B5EF4-FFF2-40B4-BE49-F238E27FC236}">
                <a16:creationId xmlns:a16="http://schemas.microsoft.com/office/drawing/2014/main" id="{2BAC93CF-1105-D2D2-94B7-DF50E3CC62EE}"/>
              </a:ext>
            </a:extLst>
          </p:cNvPr>
          <p:cNvSpPr txBox="1"/>
          <p:nvPr/>
        </p:nvSpPr>
        <p:spPr>
          <a:xfrm>
            <a:off x="1207977" y="5141624"/>
            <a:ext cx="7018605" cy="3900498"/>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800"/>
              </a:lnSpc>
            </a:pPr>
            <a:r>
              <a:rPr lang="en-US" sz="3000" b="1" dirty="0">
                <a:solidFill>
                  <a:schemeClr val="bg1"/>
                </a:solidFill>
              </a:rPr>
              <a:t>System Output Examples: </a:t>
            </a:r>
          </a:p>
          <a:p>
            <a:pPr>
              <a:lnSpc>
                <a:spcPts val="2800"/>
              </a:lnSpc>
            </a:pPr>
            <a:r>
              <a:rPr lang="en-US" sz="3000" b="1" dirty="0">
                <a:solidFill>
                  <a:schemeClr val="bg1"/>
                </a:solidFill>
              </a:rPr>
              <a:t>(a) </a:t>
            </a:r>
            <a:r>
              <a:rPr lang="en-US" sz="3000" b="1" i="0" dirty="0">
                <a:solidFill>
                  <a:srgbClr val="E3E3E3"/>
                </a:solidFill>
                <a:effectLst/>
              </a:rPr>
              <a:t>Detection results of the Multi-Task Learning network in multi-weather road conditions.</a:t>
            </a:r>
            <a:r>
              <a:rPr lang="en-US" sz="3000" b="1" dirty="0">
                <a:solidFill>
                  <a:schemeClr val="bg1"/>
                </a:solidFill>
              </a:rPr>
              <a:t> </a:t>
            </a:r>
          </a:p>
          <a:p>
            <a:pPr>
              <a:lnSpc>
                <a:spcPts val="2800"/>
              </a:lnSpc>
            </a:pPr>
            <a:r>
              <a:rPr lang="en-US" sz="3000" b="1" dirty="0">
                <a:solidFill>
                  <a:schemeClr val="bg1"/>
                </a:solidFill>
              </a:rPr>
              <a:t>(b) </a:t>
            </a:r>
            <a:r>
              <a:rPr lang="en-US" sz="3000" b="1" i="0" dirty="0">
                <a:solidFill>
                  <a:srgbClr val="E3E3E3"/>
                </a:solidFill>
                <a:effectLst/>
              </a:rPr>
              <a:t>Detection results of BEV Mapping in multi-scenario road conditions.</a:t>
            </a:r>
            <a:endParaRPr sz="3000" b="1" dirty="0">
              <a:solidFill>
                <a:schemeClr val="bg1"/>
              </a:solidFill>
            </a:endParaRPr>
          </a:p>
        </p:txBody>
      </p:sp>
      <p:sp>
        <p:nvSpPr>
          <p:cNvPr id="21" name="TextBox 4">
            <a:extLst>
              <a:ext uri="{FF2B5EF4-FFF2-40B4-BE49-F238E27FC236}">
                <a16:creationId xmlns:a16="http://schemas.microsoft.com/office/drawing/2014/main" id="{8AA06D3C-9402-7395-398D-C18DC33BC767}"/>
              </a:ext>
            </a:extLst>
          </p:cNvPr>
          <p:cNvSpPr txBox="1"/>
          <p:nvPr/>
        </p:nvSpPr>
        <p:spPr>
          <a:xfrm>
            <a:off x="3692772" y="2377677"/>
            <a:ext cx="13041921" cy="58240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800"/>
              </a:lnSpc>
            </a:pPr>
            <a:endParaRPr/>
          </a:p>
        </p:txBody>
      </p:sp>
      <p:sp>
        <p:nvSpPr>
          <p:cNvPr id="22" name="TextBox 21">
            <a:extLst>
              <a:ext uri="{FF2B5EF4-FFF2-40B4-BE49-F238E27FC236}">
                <a16:creationId xmlns:a16="http://schemas.microsoft.com/office/drawing/2014/main" id="{C83E42C6-4DB3-9569-E9A0-EA39B95E8467}"/>
              </a:ext>
            </a:extLst>
          </p:cNvPr>
          <p:cNvSpPr txBox="1"/>
          <p:nvPr/>
        </p:nvSpPr>
        <p:spPr>
          <a:xfrm>
            <a:off x="1229897" y="328974"/>
            <a:ext cx="8223249"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0" b="1" dirty="0">
                <a:solidFill>
                  <a:schemeClr val="bg1"/>
                </a:solidFill>
              </a:rPr>
              <a:t>Example &amp; Findings (Category 3)</a:t>
            </a:r>
            <a:r>
              <a:rPr lang="en-US" sz="6000" b="1" dirty="0">
                <a:solidFill>
                  <a:schemeClr val="bg1"/>
                </a:solidFill>
                <a:ea typeface="Calibri"/>
                <a:cs typeface="Calibri"/>
              </a:rPr>
              <a:t> :</a:t>
            </a:r>
          </a:p>
        </p:txBody>
      </p:sp>
      <p:sp>
        <p:nvSpPr>
          <p:cNvPr id="28" name="Arrow" descr="Dashed Arrow">
            <a:extLst>
              <a:ext uri="{FF2B5EF4-FFF2-40B4-BE49-F238E27FC236}">
                <a16:creationId xmlns:a16="http://schemas.microsoft.com/office/drawing/2014/main" id="{91E0C321-824F-D8E2-4942-6798BA8027CD}"/>
              </a:ext>
            </a:extLst>
          </p:cNvPr>
          <p:cNvSpPr/>
          <p:nvPr/>
        </p:nvSpPr>
        <p:spPr>
          <a:xfrm rot="5400000" flipV="1">
            <a:off x="8291441" y="7027585"/>
            <a:ext cx="3060251" cy="3238501"/>
          </a:xfrm>
          <a:prstGeom prst="arc">
            <a:avLst>
              <a:gd name="adj1" fmla="val 12549592"/>
              <a:gd name="adj2" fmla="val 4002257"/>
            </a:avLst>
          </a:prstGeom>
          <a:ln w="20320">
            <a:solidFill>
              <a:schemeClr val="bg1"/>
            </a:solidFill>
            <a:prstDash val="dash"/>
            <a:headEnd type="arrow" w="lg"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dirty="0">
              <a:latin typeface="Arial" charset="0"/>
            </a:endParaRPr>
          </a:p>
        </p:txBody>
      </p:sp>
      <p:sp>
        <p:nvSpPr>
          <p:cNvPr id="29" name="TextBox 28">
            <a:extLst>
              <a:ext uri="{FF2B5EF4-FFF2-40B4-BE49-F238E27FC236}">
                <a16:creationId xmlns:a16="http://schemas.microsoft.com/office/drawing/2014/main" id="{F0E0BEDD-28DA-28DC-4553-BEDB2133FB04}"/>
              </a:ext>
            </a:extLst>
          </p:cNvPr>
          <p:cNvSpPr txBox="1"/>
          <p:nvPr/>
        </p:nvSpPr>
        <p:spPr>
          <a:xfrm>
            <a:off x="1196265" y="2214323"/>
            <a:ext cx="7496066" cy="3323987"/>
          </a:xfrm>
          <a:prstGeom prst="rect">
            <a:avLst/>
          </a:prstGeom>
          <a:noFill/>
        </p:spPr>
        <p:txBody>
          <a:bodyPr wrap="square">
            <a:spAutoFit/>
          </a:bodyPr>
          <a:lstStyle/>
          <a:p>
            <a:r>
              <a:rPr lang="en-US" sz="3000" b="1" dirty="0">
                <a:solidFill>
                  <a:schemeClr val="bg1"/>
                </a:solidFill>
              </a:rPr>
              <a:t>Example Outputs:</a:t>
            </a:r>
          </a:p>
          <a:p>
            <a:pPr marL="342900" indent="-342900">
              <a:buFont typeface="Arial" panose="020B0604020202020204" pitchFamily="34" charset="0"/>
              <a:buChar char="•"/>
            </a:pPr>
            <a:r>
              <a:rPr lang="en-US" sz="3000" b="1" i="0" dirty="0">
                <a:solidFill>
                  <a:srgbClr val="E3E3E3"/>
                </a:solidFill>
                <a:effectLst/>
                <a:cs typeface="Calibri" panose="020F0502020204030204" pitchFamily="34" charset="0"/>
              </a:rPr>
              <a:t>Detects objects and the drivable area simultaneously using a single network.</a:t>
            </a:r>
          </a:p>
          <a:p>
            <a:pPr marL="342900" indent="-342900">
              <a:buFont typeface="Arial" panose="020B0604020202020204" pitchFamily="34" charset="0"/>
              <a:buChar char="•"/>
            </a:pPr>
            <a:r>
              <a:rPr lang="en-US" sz="3000" b="1" i="0" dirty="0">
                <a:solidFill>
                  <a:srgbClr val="E3E3E3"/>
                </a:solidFill>
                <a:effectLst/>
                <a:cs typeface="Calibri" panose="020F0502020204030204" pitchFamily="34" charset="0"/>
              </a:rPr>
              <a:t>BEV Mapping provides accurate top-down location.</a:t>
            </a:r>
          </a:p>
          <a:p>
            <a:pPr marL="342900" indent="-342900">
              <a:buFont typeface="Arial" panose="020B0604020202020204" pitchFamily="34" charset="0"/>
              <a:buChar char="•"/>
            </a:pPr>
            <a:r>
              <a:rPr lang="en-US" sz="3000" b="1" i="0" dirty="0">
                <a:solidFill>
                  <a:srgbClr val="E3E3E3"/>
                </a:solidFill>
                <a:effectLst/>
                <a:cs typeface="Calibri" panose="020F0502020204030204" pitchFamily="34" charset="0"/>
              </a:rPr>
              <a:t>Data fusion enables risk assessment.</a:t>
            </a:r>
          </a:p>
          <a:p>
            <a:pPr marL="342900" indent="-342900">
              <a:buFont typeface="Arial" panose="020B0604020202020204" pitchFamily="34" charset="0"/>
              <a:buChar char="•"/>
            </a:pPr>
            <a:r>
              <a:rPr lang="en-US" sz="3000" b="1" i="0" dirty="0">
                <a:solidFill>
                  <a:srgbClr val="E3E3E3"/>
                </a:solidFill>
                <a:effectLst/>
                <a:cs typeface="Calibri" panose="020F0502020204030204" pitchFamily="34" charset="0"/>
              </a:rPr>
              <a:t>The results inform driving decisions.</a:t>
            </a:r>
            <a:endParaRPr lang="en-US" sz="3000" b="1" dirty="0">
              <a:solidFill>
                <a:schemeClr val="bg1"/>
              </a:solidFill>
              <a:cs typeface="Calibri" panose="020F0502020204030204" pitchFamily="34" charset="0"/>
            </a:endParaRPr>
          </a:p>
        </p:txBody>
      </p:sp>
      <p:pic>
        <p:nvPicPr>
          <p:cNvPr id="7" name="Picture 6" descr="A screenshot of a car on a road&#10;&#10;AI-generated content may be incorrect.">
            <a:extLst>
              <a:ext uri="{FF2B5EF4-FFF2-40B4-BE49-F238E27FC236}">
                <a16:creationId xmlns:a16="http://schemas.microsoft.com/office/drawing/2014/main" id="{E86E4EFD-744D-7219-DE39-12332C743E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85685" y="1298469"/>
            <a:ext cx="6649007" cy="4042787"/>
          </a:xfrm>
          <a:prstGeom prst="rect">
            <a:avLst/>
          </a:prstGeom>
        </p:spPr>
      </p:pic>
      <p:pic>
        <p:nvPicPr>
          <p:cNvPr id="12" name="Picture 11" descr="A screenshot of a car on a road&#10;&#10;AI-generated content may be incorrect.">
            <a:extLst>
              <a:ext uri="{FF2B5EF4-FFF2-40B4-BE49-F238E27FC236}">
                <a16:creationId xmlns:a16="http://schemas.microsoft.com/office/drawing/2014/main" id="{9497215D-AE47-4427-4984-6E26CFC5E7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85685" y="5450967"/>
            <a:ext cx="6649007" cy="3900498"/>
          </a:xfrm>
          <a:prstGeom prst="rect">
            <a:avLst/>
          </a:prstGeom>
        </p:spPr>
      </p:pic>
      <p:sp>
        <p:nvSpPr>
          <p:cNvPr id="14" name="Rectangle 2">
            <a:extLst>
              <a:ext uri="{FF2B5EF4-FFF2-40B4-BE49-F238E27FC236}">
                <a16:creationId xmlns:a16="http://schemas.microsoft.com/office/drawing/2014/main" id="{74EE774F-4BC8-0720-A73A-EA0F2BD1138A}"/>
              </a:ext>
            </a:extLst>
          </p:cNvPr>
          <p:cNvSpPr>
            <a:spLocks noChangeArrowheads="1"/>
          </p:cNvSpPr>
          <p:nvPr/>
        </p:nvSpPr>
        <p:spPr bwMode="auto">
          <a:xfrm>
            <a:off x="152400" y="5783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62707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3F43C-0734-26D1-D708-61C8B79AE2C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CE94C9A-8DE5-8943-F55F-30A78AEA9A14}"/>
              </a:ext>
            </a:extLst>
          </p:cNvPr>
          <p:cNvGrpSpPr/>
          <p:nvPr/>
        </p:nvGrpSpPr>
        <p:grpSpPr>
          <a:xfrm>
            <a:off x="0" y="0"/>
            <a:ext cx="718039" cy="10287000"/>
            <a:chOff x="0" y="0"/>
            <a:chExt cx="852938" cy="2709333"/>
          </a:xfrm>
        </p:grpSpPr>
        <p:sp>
          <p:nvSpPr>
            <p:cNvPr id="3" name="Freeform 3">
              <a:extLst>
                <a:ext uri="{FF2B5EF4-FFF2-40B4-BE49-F238E27FC236}">
                  <a16:creationId xmlns:a16="http://schemas.microsoft.com/office/drawing/2014/main" id="{E1D7E9E2-1563-48E3-4F30-5D59BF98D914}"/>
                </a:ext>
              </a:extLst>
            </p:cNvPr>
            <p:cNvSpPr/>
            <p:nvPr/>
          </p:nvSpPr>
          <p:spPr>
            <a:xfrm>
              <a:off x="0" y="0"/>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A0D9F7"/>
            </a:solidFill>
            <a:ln>
              <a:solidFill>
                <a:srgbClr val="A0D9F7"/>
              </a:solidFill>
            </a:ln>
          </p:spPr>
        </p:sp>
        <p:sp>
          <p:nvSpPr>
            <p:cNvPr id="4" name="TextBox 4">
              <a:extLst>
                <a:ext uri="{FF2B5EF4-FFF2-40B4-BE49-F238E27FC236}">
                  <a16:creationId xmlns:a16="http://schemas.microsoft.com/office/drawing/2014/main" id="{CAC91073-180B-9666-165C-740C784DE4B7}"/>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grpSp>
        <p:nvGrpSpPr>
          <p:cNvPr id="7" name="Group 2">
            <a:extLst>
              <a:ext uri="{FF2B5EF4-FFF2-40B4-BE49-F238E27FC236}">
                <a16:creationId xmlns:a16="http://schemas.microsoft.com/office/drawing/2014/main" id="{26DEA035-8834-113D-AA35-35E997EE5822}"/>
              </a:ext>
            </a:extLst>
          </p:cNvPr>
          <p:cNvGrpSpPr/>
          <p:nvPr/>
        </p:nvGrpSpPr>
        <p:grpSpPr>
          <a:xfrm>
            <a:off x="666978" y="-144661"/>
            <a:ext cx="2300654" cy="10576322"/>
            <a:chOff x="-1879943" y="-76200"/>
            <a:chExt cx="2732881" cy="2785533"/>
          </a:xfrm>
        </p:grpSpPr>
        <p:sp>
          <p:nvSpPr>
            <p:cNvPr id="9" name="Freeform 3">
              <a:extLst>
                <a:ext uri="{FF2B5EF4-FFF2-40B4-BE49-F238E27FC236}">
                  <a16:creationId xmlns:a16="http://schemas.microsoft.com/office/drawing/2014/main" id="{3B10772E-F703-3326-4D37-ACA28DB5BF23}"/>
                </a:ext>
              </a:extLst>
            </p:cNvPr>
            <p:cNvSpPr/>
            <p:nvPr/>
          </p:nvSpPr>
          <p:spPr>
            <a:xfrm>
              <a:off x="-1879943" y="-46313"/>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2AA7E1"/>
            </a:solidFill>
            <a:ln>
              <a:solidFill>
                <a:srgbClr val="A0D9F7"/>
              </a:solidFill>
            </a:ln>
          </p:spPr>
        </p:sp>
        <p:sp>
          <p:nvSpPr>
            <p:cNvPr id="10" name="TextBox 4">
              <a:extLst>
                <a:ext uri="{FF2B5EF4-FFF2-40B4-BE49-F238E27FC236}">
                  <a16:creationId xmlns:a16="http://schemas.microsoft.com/office/drawing/2014/main" id="{336D94DF-9BFB-005D-5986-FAA83C724D95}"/>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sp>
        <p:nvSpPr>
          <p:cNvPr id="14" name="AutoShape 12">
            <a:extLst>
              <a:ext uri="{FF2B5EF4-FFF2-40B4-BE49-F238E27FC236}">
                <a16:creationId xmlns:a16="http://schemas.microsoft.com/office/drawing/2014/main" id="{1B041711-B563-5033-F5F7-E31644FEA323}"/>
              </a:ext>
            </a:extLst>
          </p:cNvPr>
          <p:cNvSpPr/>
          <p:nvPr/>
        </p:nvSpPr>
        <p:spPr>
          <a:xfrm flipV="1">
            <a:off x="1384788" y="9634904"/>
            <a:ext cx="16851923" cy="29307"/>
          </a:xfrm>
          <a:prstGeom prst="line">
            <a:avLst/>
          </a:prstGeom>
          <a:ln w="57150" cap="flat">
            <a:solidFill>
              <a:srgbClr val="13A451"/>
            </a:solidFill>
            <a:prstDash val="sysDot"/>
            <a:headEnd type="none" w="sm" len="sm"/>
            <a:tailEnd type="none" w="sm" len="sm"/>
          </a:ln>
        </p:spPr>
      </p:sp>
      <p:sp>
        <p:nvSpPr>
          <p:cNvPr id="31" name="TextBox 14">
            <a:extLst>
              <a:ext uri="{FF2B5EF4-FFF2-40B4-BE49-F238E27FC236}">
                <a16:creationId xmlns:a16="http://schemas.microsoft.com/office/drawing/2014/main" id="{2E5C9F52-DA13-4EBD-3F80-343EFF52ACC5}"/>
              </a:ext>
            </a:extLst>
          </p:cNvPr>
          <p:cNvSpPr txBox="1"/>
          <p:nvPr/>
        </p:nvSpPr>
        <p:spPr>
          <a:xfrm>
            <a:off x="18362013" y="9735057"/>
            <a:ext cx="152400" cy="190500"/>
          </a:xfrm>
          <a:prstGeom prst="rect">
            <a:avLst/>
          </a:prstGeom>
        </p:spPr>
        <p:txBody>
          <a:bodyPr wrap="none" lIns="0" tIns="0" rIns="0" bIns="0" rtlCol="0" anchor="t">
            <a:spAutoFit/>
          </a:bodyPr>
          <a:lstStyle/>
          <a:p>
            <a:pPr algn="r">
              <a:lnSpc>
                <a:spcPts val="1679"/>
              </a:lnSpc>
              <a:spcBef>
                <a:spcPct val="0"/>
              </a:spcBef>
            </a:pPr>
            <a:r>
              <a:rPr lang="en-US" sz="1200" b="1">
                <a:solidFill>
                  <a:srgbClr val="004D40"/>
                </a:solidFill>
                <a:latin typeface="Telegraf Bold"/>
                <a:ea typeface="Telegraf Bold"/>
                <a:cs typeface="Telegraf Bold"/>
                <a:sym typeface="Telegraf Bold"/>
              </a:rPr>
              <a:t>2</a:t>
            </a:r>
          </a:p>
        </p:txBody>
      </p:sp>
      <p:sp>
        <p:nvSpPr>
          <p:cNvPr id="6" name="TextBox 3">
            <a:extLst>
              <a:ext uri="{FF2B5EF4-FFF2-40B4-BE49-F238E27FC236}">
                <a16:creationId xmlns:a16="http://schemas.microsoft.com/office/drawing/2014/main" id="{BEDA52EE-5586-47F8-DF8F-E01BFE093FFA}"/>
              </a:ext>
            </a:extLst>
          </p:cNvPr>
          <p:cNvSpPr txBox="1"/>
          <p:nvPr/>
        </p:nvSpPr>
        <p:spPr>
          <a:xfrm>
            <a:off x="1855182" y="231965"/>
            <a:ext cx="6886573" cy="1931041"/>
          </a:xfrm>
          <a:prstGeom prst="rect">
            <a:avLst/>
          </a:prstGeom>
        </p:spPr>
        <p:txBody>
          <a:bodyPr lIns="0" tIns="0" rIns="0" bIns="0" rtlCol="0" anchor="t">
            <a:spAutoFit/>
          </a:bodyPr>
          <a:lstStyle/>
          <a:p>
            <a:pPr marL="0" lvl="0" indent="0" algn="l">
              <a:lnSpc>
                <a:spcPts val="7699"/>
              </a:lnSpc>
            </a:pPr>
            <a:r>
              <a:rPr lang="en-US" sz="6000" b="1" dirty="0">
                <a:solidFill>
                  <a:srgbClr val="0070C0"/>
                </a:solidFill>
              </a:rPr>
              <a:t>Conclusion &amp; Implementation:</a:t>
            </a:r>
            <a:endParaRPr lang="en-US" sz="6000" b="1" spc="-69" dirty="0">
              <a:solidFill>
                <a:srgbClr val="0070C0"/>
              </a:solidFill>
              <a:latin typeface="Arial Black"/>
              <a:ea typeface="Telegraf Bold"/>
              <a:cs typeface="Telegraf Bold"/>
            </a:endParaRPr>
          </a:p>
        </p:txBody>
      </p:sp>
      <p:sp>
        <p:nvSpPr>
          <p:cNvPr id="24" name="TextBox 8">
            <a:extLst>
              <a:ext uri="{FF2B5EF4-FFF2-40B4-BE49-F238E27FC236}">
                <a16:creationId xmlns:a16="http://schemas.microsoft.com/office/drawing/2014/main" id="{B8A245E0-1241-51DA-7135-447223AF6E84}"/>
              </a:ext>
            </a:extLst>
          </p:cNvPr>
          <p:cNvSpPr txBox="1"/>
          <p:nvPr/>
        </p:nvSpPr>
        <p:spPr>
          <a:xfrm>
            <a:off x="18324136" y="9822980"/>
            <a:ext cx="152400" cy="190500"/>
          </a:xfrm>
          <a:prstGeom prst="rect">
            <a:avLst/>
          </a:prstGeom>
        </p:spPr>
        <p:txBody>
          <a:bodyPr wrap="none" lIns="0" tIns="0" rIns="0" bIns="0" rtlCol="0" anchor="t">
            <a:spAutoFit/>
          </a:bodyPr>
          <a:lstStyle/>
          <a:p>
            <a:pPr algn="r">
              <a:lnSpc>
                <a:spcPts val="1679"/>
              </a:lnSpc>
              <a:spcBef>
                <a:spcPct val="0"/>
              </a:spcBef>
            </a:pPr>
            <a:r>
              <a:rPr lang="en-US" sz="1200" b="1">
                <a:solidFill>
                  <a:srgbClr val="004D40"/>
                </a:solidFill>
                <a:latin typeface="Telegraf Bold"/>
                <a:ea typeface="Telegraf Bold"/>
                <a:cs typeface="Telegraf Bold"/>
                <a:sym typeface="Telegraf Bold"/>
              </a:rPr>
              <a:t>3</a:t>
            </a:r>
          </a:p>
        </p:txBody>
      </p:sp>
      <p:pic>
        <p:nvPicPr>
          <p:cNvPr id="13" name="Picture 12" descr="Premier University | Center of Exellence for Quality Learning">
            <a:extLst>
              <a:ext uri="{FF2B5EF4-FFF2-40B4-BE49-F238E27FC236}">
                <a16:creationId xmlns:a16="http://schemas.microsoft.com/office/drawing/2014/main" id="{6C9567E9-2457-C81B-02FB-B229839B373A}"/>
              </a:ext>
            </a:extLst>
          </p:cNvPr>
          <p:cNvPicPr>
            <a:picLocks noChangeAspect="1"/>
          </p:cNvPicPr>
          <p:nvPr/>
        </p:nvPicPr>
        <p:blipFill>
          <a:blip r:embed="rId2"/>
          <a:srcRect t="-430" r="1575" b="1205"/>
          <a:stretch>
            <a:fillRect/>
          </a:stretch>
        </p:blipFill>
        <p:spPr>
          <a:xfrm>
            <a:off x="0" y="9178614"/>
            <a:ext cx="3279437" cy="1139570"/>
          </a:xfrm>
          <a:prstGeom prst="rect">
            <a:avLst/>
          </a:prstGeom>
        </p:spPr>
      </p:pic>
      <p:sp>
        <p:nvSpPr>
          <p:cNvPr id="11" name="Rectangle 1">
            <a:extLst>
              <a:ext uri="{FF2B5EF4-FFF2-40B4-BE49-F238E27FC236}">
                <a16:creationId xmlns:a16="http://schemas.microsoft.com/office/drawing/2014/main" id="{658A5C85-0A11-AF28-3163-CE1CC4131D2B}"/>
              </a:ext>
            </a:extLst>
          </p:cNvPr>
          <p:cNvSpPr>
            <a:spLocks noChangeArrowheads="1"/>
          </p:cNvSpPr>
          <p:nvPr/>
        </p:nvSpPr>
        <p:spPr bwMode="auto">
          <a:xfrm>
            <a:off x="1578960" y="5112316"/>
            <a:ext cx="9727535"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lvl="0" indent="-457200" eaLnBrk="0" fontAlgn="base" hangingPunct="0">
              <a:spcBef>
                <a:spcPct val="0"/>
              </a:spcBef>
              <a:spcAft>
                <a:spcPct val="0"/>
              </a:spcAft>
              <a:buFont typeface="Wingdings" panose="05000000000000000000" pitchFamily="2" charset="2"/>
              <a:buChar char="v"/>
            </a:pPr>
            <a:r>
              <a:rPr lang="en-US" altLang="en-US" sz="3000" b="1" dirty="0"/>
              <a:t>Use shared features to detect new road elements.</a:t>
            </a:r>
          </a:p>
          <a:p>
            <a:pPr marL="457200" lvl="0" indent="-457200" eaLnBrk="0" fontAlgn="base" hangingPunct="0">
              <a:spcBef>
                <a:spcPct val="0"/>
              </a:spcBef>
              <a:spcAft>
                <a:spcPct val="0"/>
              </a:spcAft>
              <a:buFont typeface="Wingdings" panose="05000000000000000000" pitchFamily="2" charset="2"/>
              <a:buChar char="v"/>
            </a:pPr>
            <a:endParaRPr kumimoji="0" lang="en-US" altLang="en-US" sz="3000" b="1" i="0" u="none" strike="noStrike" cap="none" normalizeH="0" baseline="0" dirty="0">
              <a:ln>
                <a:noFill/>
              </a:ln>
              <a:effectLst/>
            </a:endParaRPr>
          </a:p>
          <a:p>
            <a:pPr marL="457200" lvl="0" indent="-457200" eaLnBrk="0" fontAlgn="base" hangingPunct="0">
              <a:spcBef>
                <a:spcPct val="0"/>
              </a:spcBef>
              <a:spcAft>
                <a:spcPct val="0"/>
              </a:spcAft>
              <a:buFont typeface="Wingdings" panose="05000000000000000000" pitchFamily="2" charset="2"/>
              <a:buChar char="v"/>
            </a:pPr>
            <a:r>
              <a:rPr lang="en-US" altLang="en-US" sz="3000" b="1" dirty="0"/>
              <a:t>Apply BEV fusion for clearer hazard mapping.</a:t>
            </a:r>
          </a:p>
          <a:p>
            <a:pPr marL="457200" lvl="0" indent="-457200" eaLnBrk="0" fontAlgn="base" hangingPunct="0">
              <a:spcBef>
                <a:spcPct val="0"/>
              </a:spcBef>
              <a:spcAft>
                <a:spcPct val="0"/>
              </a:spcAft>
              <a:buFont typeface="Wingdings" panose="05000000000000000000" pitchFamily="2" charset="2"/>
              <a:buChar char="v"/>
            </a:pPr>
            <a:endParaRPr kumimoji="0" lang="en-US" altLang="en-US" sz="3000" b="1" i="0" u="none" strike="noStrike" cap="none" normalizeH="0" baseline="0" dirty="0">
              <a:ln>
                <a:noFill/>
              </a:ln>
              <a:effectLst/>
            </a:endParaRPr>
          </a:p>
          <a:p>
            <a:pPr marL="457200" lvl="0" indent="-457200" eaLnBrk="0" fontAlgn="base" hangingPunct="0">
              <a:spcBef>
                <a:spcPct val="0"/>
              </a:spcBef>
              <a:spcAft>
                <a:spcPct val="0"/>
              </a:spcAft>
              <a:buFont typeface="Wingdings" panose="05000000000000000000" pitchFamily="2" charset="2"/>
              <a:buChar char="v"/>
            </a:pPr>
            <a:r>
              <a:rPr lang="en-US" altLang="en-US" sz="3000" b="1" dirty="0"/>
              <a:t>Integrate multi-task branches for multiple scene outputs.</a:t>
            </a:r>
            <a:endParaRPr kumimoji="0" lang="en-US" altLang="en-US" sz="3000" b="1" i="0" u="none" strike="noStrike" cap="none" normalizeH="0" baseline="0" dirty="0">
              <a:ln>
                <a:noFill/>
              </a:ln>
              <a:effectLst/>
            </a:endParaRPr>
          </a:p>
        </p:txBody>
      </p:sp>
      <p:sp>
        <p:nvSpPr>
          <p:cNvPr id="18" name="TextBox 17">
            <a:extLst>
              <a:ext uri="{FF2B5EF4-FFF2-40B4-BE49-F238E27FC236}">
                <a16:creationId xmlns:a16="http://schemas.microsoft.com/office/drawing/2014/main" id="{2456CD24-6962-CE71-1051-5F5250F13AB4}"/>
              </a:ext>
            </a:extLst>
          </p:cNvPr>
          <p:cNvSpPr txBox="1"/>
          <p:nvPr/>
        </p:nvSpPr>
        <p:spPr>
          <a:xfrm>
            <a:off x="1384788" y="2554557"/>
            <a:ext cx="9007441" cy="2400657"/>
          </a:xfrm>
          <a:prstGeom prst="rect">
            <a:avLst/>
          </a:prstGeom>
          <a:noFill/>
        </p:spPr>
        <p:txBody>
          <a:bodyPr wrap="square">
            <a:spAutoFit/>
          </a:bodyPr>
          <a:lstStyle/>
          <a:p>
            <a:pPr marL="457200" indent="-457200">
              <a:buFont typeface="Wingdings" panose="05000000000000000000" pitchFamily="2" charset="2"/>
              <a:buChar char="ü"/>
            </a:pPr>
            <a:r>
              <a:rPr lang="en-US" sz="3000" b="1" dirty="0"/>
              <a:t>Multi-task learning and dual-stream BEV mapping improve feature representation and scene consistency in road understanding. Together, they enhance lane, object, and drivable-area perception with reduced distortion.</a:t>
            </a:r>
          </a:p>
        </p:txBody>
      </p:sp>
    </p:spTree>
    <p:extLst>
      <p:ext uri="{BB962C8B-B14F-4D97-AF65-F5344CB8AC3E}">
        <p14:creationId xmlns:p14="http://schemas.microsoft.com/office/powerpoint/2010/main" val="1317576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5DF91-FBD7-3A77-72EE-03FFE708B36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86705E7-24F8-EABA-0C9C-66AFA5FEE65B}"/>
              </a:ext>
            </a:extLst>
          </p:cNvPr>
          <p:cNvGrpSpPr/>
          <p:nvPr/>
        </p:nvGrpSpPr>
        <p:grpSpPr>
          <a:xfrm>
            <a:off x="0" y="0"/>
            <a:ext cx="718039" cy="10287000"/>
            <a:chOff x="0" y="0"/>
            <a:chExt cx="852938" cy="2709333"/>
          </a:xfrm>
        </p:grpSpPr>
        <p:sp>
          <p:nvSpPr>
            <p:cNvPr id="3" name="Freeform 3">
              <a:extLst>
                <a:ext uri="{FF2B5EF4-FFF2-40B4-BE49-F238E27FC236}">
                  <a16:creationId xmlns:a16="http://schemas.microsoft.com/office/drawing/2014/main" id="{791422F7-5D89-1B7E-1A7F-DD18EEF4165E}"/>
                </a:ext>
              </a:extLst>
            </p:cNvPr>
            <p:cNvSpPr/>
            <p:nvPr/>
          </p:nvSpPr>
          <p:spPr>
            <a:xfrm>
              <a:off x="0" y="0"/>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A0D9F7"/>
            </a:solidFill>
            <a:ln>
              <a:solidFill>
                <a:srgbClr val="A0D9F7"/>
              </a:solidFill>
            </a:ln>
          </p:spPr>
        </p:sp>
        <p:sp>
          <p:nvSpPr>
            <p:cNvPr id="4" name="TextBox 4">
              <a:extLst>
                <a:ext uri="{FF2B5EF4-FFF2-40B4-BE49-F238E27FC236}">
                  <a16:creationId xmlns:a16="http://schemas.microsoft.com/office/drawing/2014/main" id="{06394714-8FDA-3E55-8B0C-DEAADB1C39C7}"/>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grpSp>
        <p:nvGrpSpPr>
          <p:cNvPr id="7" name="Group 2">
            <a:extLst>
              <a:ext uri="{FF2B5EF4-FFF2-40B4-BE49-F238E27FC236}">
                <a16:creationId xmlns:a16="http://schemas.microsoft.com/office/drawing/2014/main" id="{1E464E45-FCC3-778D-3CEC-31796103717B}"/>
              </a:ext>
            </a:extLst>
          </p:cNvPr>
          <p:cNvGrpSpPr/>
          <p:nvPr/>
        </p:nvGrpSpPr>
        <p:grpSpPr>
          <a:xfrm>
            <a:off x="666978" y="-144661"/>
            <a:ext cx="2300654" cy="10576322"/>
            <a:chOff x="-1879943" y="-76200"/>
            <a:chExt cx="2732881" cy="2785533"/>
          </a:xfrm>
        </p:grpSpPr>
        <p:sp>
          <p:nvSpPr>
            <p:cNvPr id="9" name="Freeform 3">
              <a:extLst>
                <a:ext uri="{FF2B5EF4-FFF2-40B4-BE49-F238E27FC236}">
                  <a16:creationId xmlns:a16="http://schemas.microsoft.com/office/drawing/2014/main" id="{00D02A01-B081-4862-55C6-31EE9D883CB1}"/>
                </a:ext>
              </a:extLst>
            </p:cNvPr>
            <p:cNvSpPr/>
            <p:nvPr/>
          </p:nvSpPr>
          <p:spPr>
            <a:xfrm>
              <a:off x="-1879943" y="-46313"/>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2AA7E1"/>
            </a:solidFill>
            <a:ln>
              <a:solidFill>
                <a:srgbClr val="A0D9F7"/>
              </a:solidFill>
            </a:ln>
          </p:spPr>
        </p:sp>
        <p:sp>
          <p:nvSpPr>
            <p:cNvPr id="10" name="TextBox 4">
              <a:extLst>
                <a:ext uri="{FF2B5EF4-FFF2-40B4-BE49-F238E27FC236}">
                  <a16:creationId xmlns:a16="http://schemas.microsoft.com/office/drawing/2014/main" id="{FE6080D4-9CDD-45D7-DF0A-792665AACF97}"/>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sp>
        <p:nvSpPr>
          <p:cNvPr id="14" name="AutoShape 12">
            <a:extLst>
              <a:ext uri="{FF2B5EF4-FFF2-40B4-BE49-F238E27FC236}">
                <a16:creationId xmlns:a16="http://schemas.microsoft.com/office/drawing/2014/main" id="{5BD24E09-0B72-71A2-3A5A-EE9AB6627C53}"/>
              </a:ext>
            </a:extLst>
          </p:cNvPr>
          <p:cNvSpPr/>
          <p:nvPr/>
        </p:nvSpPr>
        <p:spPr>
          <a:xfrm flipV="1">
            <a:off x="1384788" y="9634904"/>
            <a:ext cx="16851923" cy="29307"/>
          </a:xfrm>
          <a:prstGeom prst="line">
            <a:avLst/>
          </a:prstGeom>
          <a:ln w="57150" cap="flat">
            <a:solidFill>
              <a:srgbClr val="13A451"/>
            </a:solidFill>
            <a:prstDash val="sysDot"/>
            <a:headEnd type="none" w="sm" len="sm"/>
            <a:tailEnd type="none" w="sm" len="sm"/>
          </a:ln>
        </p:spPr>
      </p:sp>
      <p:sp>
        <p:nvSpPr>
          <p:cNvPr id="31" name="TextBox 14">
            <a:extLst>
              <a:ext uri="{FF2B5EF4-FFF2-40B4-BE49-F238E27FC236}">
                <a16:creationId xmlns:a16="http://schemas.microsoft.com/office/drawing/2014/main" id="{CCAE9EB3-874F-4BB3-8E32-BAC8DD118E54}"/>
              </a:ext>
            </a:extLst>
          </p:cNvPr>
          <p:cNvSpPr txBox="1"/>
          <p:nvPr/>
        </p:nvSpPr>
        <p:spPr>
          <a:xfrm>
            <a:off x="18362013" y="9735057"/>
            <a:ext cx="152400" cy="190500"/>
          </a:xfrm>
          <a:prstGeom prst="rect">
            <a:avLst/>
          </a:prstGeom>
        </p:spPr>
        <p:txBody>
          <a:bodyPr wrap="none" lIns="0" tIns="0" rIns="0" bIns="0" rtlCol="0" anchor="t">
            <a:spAutoFit/>
          </a:bodyPr>
          <a:lstStyle/>
          <a:p>
            <a:pPr algn="r">
              <a:lnSpc>
                <a:spcPts val="1679"/>
              </a:lnSpc>
              <a:spcBef>
                <a:spcPct val="0"/>
              </a:spcBef>
            </a:pPr>
            <a:r>
              <a:rPr lang="en-US" sz="1200" b="1">
                <a:solidFill>
                  <a:srgbClr val="004D40"/>
                </a:solidFill>
                <a:latin typeface="Telegraf Bold"/>
                <a:ea typeface="Telegraf Bold"/>
                <a:cs typeface="Telegraf Bold"/>
                <a:sym typeface="Telegraf Bold"/>
              </a:rPr>
              <a:t>2</a:t>
            </a:r>
          </a:p>
        </p:txBody>
      </p:sp>
      <p:grpSp>
        <p:nvGrpSpPr>
          <p:cNvPr id="12" name="Group 2">
            <a:extLst>
              <a:ext uri="{FF2B5EF4-FFF2-40B4-BE49-F238E27FC236}">
                <a16:creationId xmlns:a16="http://schemas.microsoft.com/office/drawing/2014/main" id="{84A513B0-6481-A639-3E6F-5EECC0C9AF19}"/>
              </a:ext>
            </a:extLst>
          </p:cNvPr>
          <p:cNvGrpSpPr/>
          <p:nvPr/>
        </p:nvGrpSpPr>
        <p:grpSpPr>
          <a:xfrm>
            <a:off x="1855182" y="231965"/>
            <a:ext cx="14637723" cy="4893071"/>
            <a:chOff x="452318" y="-693817"/>
            <a:chExt cx="19516967" cy="6524095"/>
          </a:xfrm>
        </p:grpSpPr>
        <p:sp>
          <p:nvSpPr>
            <p:cNvPr id="6" name="TextBox 3">
              <a:extLst>
                <a:ext uri="{FF2B5EF4-FFF2-40B4-BE49-F238E27FC236}">
                  <a16:creationId xmlns:a16="http://schemas.microsoft.com/office/drawing/2014/main" id="{4BB08CBD-FE35-024D-DD0A-5F5A2C81BA60}"/>
                </a:ext>
              </a:extLst>
            </p:cNvPr>
            <p:cNvSpPr txBox="1"/>
            <p:nvPr/>
          </p:nvSpPr>
          <p:spPr>
            <a:xfrm>
              <a:off x="452318" y="-693817"/>
              <a:ext cx="9182099" cy="6524095"/>
            </a:xfrm>
            <a:prstGeom prst="rect">
              <a:avLst/>
            </a:prstGeom>
          </p:spPr>
          <p:txBody>
            <a:bodyPr lIns="0" tIns="0" rIns="0" bIns="0" rtlCol="0" anchor="t">
              <a:spAutoFit/>
            </a:bodyPr>
            <a:lstStyle/>
            <a:p>
              <a:pPr>
                <a:lnSpc>
                  <a:spcPts val="7699"/>
                </a:lnSpc>
              </a:pPr>
              <a:r>
                <a:rPr lang="en-US" sz="6000" b="1" dirty="0">
                  <a:solidFill>
                    <a:srgbClr val="0070C0"/>
                  </a:solidFill>
                </a:rPr>
                <a:t>Category 4:Motion detection of the vehicles in front-</a:t>
              </a:r>
            </a:p>
            <a:p>
              <a:pPr>
                <a:lnSpc>
                  <a:spcPts val="7699"/>
                </a:lnSpc>
              </a:pPr>
              <a:endParaRPr lang="en-US" sz="6000" b="1" dirty="0">
                <a:solidFill>
                  <a:schemeClr val="accent1"/>
                </a:solidFill>
              </a:endParaRPr>
            </a:p>
            <a:p>
              <a:pPr marL="0" lvl="0" indent="0" algn="l">
                <a:lnSpc>
                  <a:spcPts val="7699"/>
                </a:lnSpc>
              </a:pPr>
              <a:endParaRPr lang="en-US" sz="6000" b="1" spc="-69" dirty="0">
                <a:solidFill>
                  <a:srgbClr val="0070C0"/>
                </a:solidFill>
                <a:latin typeface="Arial Black"/>
                <a:ea typeface="Telegraf Bold"/>
                <a:cs typeface="Telegraf Bold"/>
              </a:endParaRPr>
            </a:p>
          </p:txBody>
        </p:sp>
        <p:sp>
          <p:nvSpPr>
            <p:cNvPr id="8" name="TextBox 4">
              <a:extLst>
                <a:ext uri="{FF2B5EF4-FFF2-40B4-BE49-F238E27FC236}">
                  <a16:creationId xmlns:a16="http://schemas.microsoft.com/office/drawing/2014/main" id="{3C2D59E3-E6E9-F371-1B6C-2F34C5764E5D}"/>
                </a:ext>
              </a:extLst>
            </p:cNvPr>
            <p:cNvSpPr txBox="1"/>
            <p:nvPr/>
          </p:nvSpPr>
          <p:spPr>
            <a:xfrm>
              <a:off x="10787185" y="927570"/>
              <a:ext cx="9182100" cy="564257"/>
            </a:xfrm>
            <a:prstGeom prst="rect">
              <a:avLst/>
            </a:prstGeom>
          </p:spPr>
          <p:txBody>
            <a:bodyPr lIns="0" tIns="0" rIns="0" bIns="0" rtlCol="0" anchor="t">
              <a:spAutoFit/>
            </a:bodyPr>
            <a:lstStyle/>
            <a:p>
              <a:pPr marL="0" lvl="0" indent="0" algn="l">
                <a:lnSpc>
                  <a:spcPts val="3300"/>
                </a:lnSpc>
              </a:pPr>
              <a:r>
                <a:rPr lang="en-US" sz="3000" b="1" u="sng" spc="-30" dirty="0">
                  <a:latin typeface="Telegraf Bold"/>
                  <a:ea typeface="Telegraf Bold"/>
                  <a:cs typeface="Telegraf Bold"/>
                  <a:sym typeface="Telegraf Bold"/>
                </a:rPr>
                <a:t>Key Insights and Findings</a:t>
              </a:r>
              <a:r>
                <a:rPr lang="en-US" sz="3000" b="1" spc="-30" dirty="0">
                  <a:latin typeface="Telegraf Bold"/>
                  <a:ea typeface="Telegraf Bold"/>
                  <a:cs typeface="Telegraf Bold"/>
                  <a:sym typeface="Telegraf Bold"/>
                </a:rPr>
                <a:t>:</a:t>
              </a:r>
            </a:p>
          </p:txBody>
        </p:sp>
      </p:grpSp>
      <p:sp>
        <p:nvSpPr>
          <p:cNvPr id="24" name="TextBox 8">
            <a:extLst>
              <a:ext uri="{FF2B5EF4-FFF2-40B4-BE49-F238E27FC236}">
                <a16:creationId xmlns:a16="http://schemas.microsoft.com/office/drawing/2014/main" id="{8E9234B4-2D3B-CD83-6E85-84B398430CEA}"/>
              </a:ext>
            </a:extLst>
          </p:cNvPr>
          <p:cNvSpPr txBox="1"/>
          <p:nvPr/>
        </p:nvSpPr>
        <p:spPr>
          <a:xfrm>
            <a:off x="18324136" y="9822980"/>
            <a:ext cx="152400" cy="190500"/>
          </a:xfrm>
          <a:prstGeom prst="rect">
            <a:avLst/>
          </a:prstGeom>
        </p:spPr>
        <p:txBody>
          <a:bodyPr wrap="none" lIns="0" tIns="0" rIns="0" bIns="0" rtlCol="0" anchor="t">
            <a:spAutoFit/>
          </a:bodyPr>
          <a:lstStyle/>
          <a:p>
            <a:pPr algn="r">
              <a:lnSpc>
                <a:spcPts val="1679"/>
              </a:lnSpc>
              <a:spcBef>
                <a:spcPct val="0"/>
              </a:spcBef>
            </a:pPr>
            <a:r>
              <a:rPr lang="en-US" sz="1200" b="1">
                <a:solidFill>
                  <a:srgbClr val="004D40"/>
                </a:solidFill>
                <a:latin typeface="Telegraf Bold"/>
                <a:ea typeface="Telegraf Bold"/>
                <a:cs typeface="Telegraf Bold"/>
                <a:sym typeface="Telegraf Bold"/>
              </a:rPr>
              <a:t>3</a:t>
            </a:r>
          </a:p>
        </p:txBody>
      </p:sp>
      <p:pic>
        <p:nvPicPr>
          <p:cNvPr id="13" name="Picture 12" descr="Premier University | Center of Exellence for Quality Learning">
            <a:extLst>
              <a:ext uri="{FF2B5EF4-FFF2-40B4-BE49-F238E27FC236}">
                <a16:creationId xmlns:a16="http://schemas.microsoft.com/office/drawing/2014/main" id="{02F52BBC-835F-B253-0D3D-8B91CEF5B435}"/>
              </a:ext>
            </a:extLst>
          </p:cNvPr>
          <p:cNvPicPr>
            <a:picLocks noChangeAspect="1"/>
          </p:cNvPicPr>
          <p:nvPr/>
        </p:nvPicPr>
        <p:blipFill>
          <a:blip r:embed="rId2"/>
          <a:srcRect t="-430" r="1575" b="1205"/>
          <a:stretch>
            <a:fillRect/>
          </a:stretch>
        </p:blipFill>
        <p:spPr>
          <a:xfrm>
            <a:off x="0" y="9147430"/>
            <a:ext cx="3279437" cy="1139570"/>
          </a:xfrm>
          <a:prstGeom prst="rect">
            <a:avLst/>
          </a:prstGeom>
        </p:spPr>
      </p:pic>
      <p:sp>
        <p:nvSpPr>
          <p:cNvPr id="5" name="Rectangle 1">
            <a:extLst>
              <a:ext uri="{FF2B5EF4-FFF2-40B4-BE49-F238E27FC236}">
                <a16:creationId xmlns:a16="http://schemas.microsoft.com/office/drawing/2014/main" id="{4C8EF0EB-5C64-C4B3-F9F3-323B412CB81F}"/>
              </a:ext>
            </a:extLst>
          </p:cNvPr>
          <p:cNvSpPr>
            <a:spLocks noChangeArrowheads="1"/>
          </p:cNvSpPr>
          <p:nvPr/>
        </p:nvSpPr>
        <p:spPr bwMode="auto">
          <a:xfrm>
            <a:off x="9601200" y="2690149"/>
            <a:ext cx="852714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eaLnBrk="0" fontAlgn="base" hangingPunct="0">
              <a:spcBef>
                <a:spcPct val="0"/>
              </a:spcBef>
              <a:spcAft>
                <a:spcPct val="0"/>
              </a:spcAft>
              <a:buFont typeface="Wingdings" panose="05000000000000000000" pitchFamily="2" charset="2"/>
              <a:buChar char="q"/>
            </a:pPr>
            <a:r>
              <a:rPr lang="en-US" altLang="en-US" sz="3000" b="1" dirty="0"/>
              <a:t>Scene-flow improves motion detection for fast and slow road users. </a:t>
            </a:r>
          </a:p>
          <a:p>
            <a:pPr marL="342900" lvl="0" indent="-342900" algn="just" eaLnBrk="0" fontAlgn="base" hangingPunct="0">
              <a:spcBef>
                <a:spcPct val="0"/>
              </a:spcBef>
              <a:spcAft>
                <a:spcPct val="0"/>
              </a:spcAft>
              <a:buFont typeface="Wingdings" panose="05000000000000000000" pitchFamily="2" charset="2"/>
              <a:buChar char="q"/>
            </a:pPr>
            <a:r>
              <a:rPr lang="en-US" altLang="en-US" sz="3000" b="1" dirty="0"/>
              <a:t>Heterogeneous data enhances multimodal trajectory prediction.</a:t>
            </a:r>
          </a:p>
          <a:p>
            <a:pPr marL="342900" lvl="0" indent="-342900" algn="just" eaLnBrk="0" fontAlgn="base" hangingPunct="0">
              <a:spcBef>
                <a:spcPct val="0"/>
              </a:spcBef>
              <a:spcAft>
                <a:spcPct val="0"/>
              </a:spcAft>
              <a:buFont typeface="Wingdings" panose="05000000000000000000" pitchFamily="2" charset="2"/>
              <a:buChar char="q"/>
            </a:pPr>
            <a:r>
              <a:rPr lang="en-US" altLang="en-US" sz="3000" b="1" dirty="0"/>
              <a:t>Physical constraints ensure realistic vehicle paths.</a:t>
            </a:r>
          </a:p>
          <a:p>
            <a:pPr marL="342900" lvl="0" indent="-342900" algn="just" eaLnBrk="0" fontAlgn="base" hangingPunct="0">
              <a:spcBef>
                <a:spcPct val="0"/>
              </a:spcBef>
              <a:spcAft>
                <a:spcPct val="0"/>
              </a:spcAft>
              <a:buFont typeface="Wingdings" panose="05000000000000000000" pitchFamily="2" charset="2"/>
              <a:buChar char="q"/>
            </a:pPr>
            <a:r>
              <a:rPr lang="en-US" altLang="en-US" sz="3000" b="1" dirty="0"/>
              <a:t>Graph interactions capture vehicle influence over time.</a:t>
            </a:r>
          </a:p>
          <a:p>
            <a:pPr marL="342900" lvl="0" indent="-342900" algn="just" eaLnBrk="0" fontAlgn="base" hangingPunct="0">
              <a:spcBef>
                <a:spcPct val="0"/>
              </a:spcBef>
              <a:spcAft>
                <a:spcPct val="0"/>
              </a:spcAft>
              <a:buFont typeface="Wingdings" panose="05000000000000000000" pitchFamily="2" charset="2"/>
              <a:buChar char="q"/>
            </a:pPr>
            <a:r>
              <a:rPr lang="en-US" altLang="en-US" sz="3000" b="1" dirty="0"/>
              <a:t>DGCN models multi-agent relationships for better trajectory accuracy.</a:t>
            </a:r>
            <a:endParaRPr kumimoji="0" lang="en-US" altLang="en-US" sz="3000" b="1" i="0" u="none" strike="noStrike" cap="none" normalizeH="0" baseline="0" dirty="0">
              <a:ln>
                <a:noFill/>
              </a:ln>
              <a:effectLst/>
            </a:endParaRPr>
          </a:p>
        </p:txBody>
      </p:sp>
    </p:spTree>
    <p:extLst>
      <p:ext uri="{BB962C8B-B14F-4D97-AF65-F5344CB8AC3E}">
        <p14:creationId xmlns:p14="http://schemas.microsoft.com/office/powerpoint/2010/main" val="1373337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AA7E1"/>
        </a:solidFill>
        <a:effectLst/>
      </p:bgPr>
    </p:bg>
    <p:spTree>
      <p:nvGrpSpPr>
        <p:cNvPr id="1" name="">
          <a:extLst>
            <a:ext uri="{FF2B5EF4-FFF2-40B4-BE49-F238E27FC236}">
              <a16:creationId xmlns:a16="http://schemas.microsoft.com/office/drawing/2014/main" id="{7A70A6A9-5566-773C-AC35-13E94CAAFA4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989ACEE-C7C4-A329-9193-352CEE7E33B9}"/>
              </a:ext>
            </a:extLst>
          </p:cNvPr>
          <p:cNvGrpSpPr/>
          <p:nvPr/>
        </p:nvGrpSpPr>
        <p:grpSpPr>
          <a:xfrm>
            <a:off x="0" y="0"/>
            <a:ext cx="1005839" cy="10287000"/>
            <a:chOff x="0" y="0"/>
            <a:chExt cx="852938" cy="2709333"/>
          </a:xfrm>
        </p:grpSpPr>
        <p:sp>
          <p:nvSpPr>
            <p:cNvPr id="3" name="Freeform 3">
              <a:extLst>
                <a:ext uri="{FF2B5EF4-FFF2-40B4-BE49-F238E27FC236}">
                  <a16:creationId xmlns:a16="http://schemas.microsoft.com/office/drawing/2014/main" id="{B482050E-E699-1E60-CFAB-F59828571920}"/>
                </a:ext>
              </a:extLst>
            </p:cNvPr>
            <p:cNvSpPr/>
            <p:nvPr/>
          </p:nvSpPr>
          <p:spPr>
            <a:xfrm>
              <a:off x="0" y="0"/>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A0D9F7"/>
            </a:solidFill>
            <a:ln>
              <a:solidFill>
                <a:srgbClr val="A0D9F7"/>
              </a:solidFill>
            </a:ln>
          </p:spPr>
        </p:sp>
        <p:sp>
          <p:nvSpPr>
            <p:cNvPr id="4" name="TextBox 4">
              <a:extLst>
                <a:ext uri="{FF2B5EF4-FFF2-40B4-BE49-F238E27FC236}">
                  <a16:creationId xmlns:a16="http://schemas.microsoft.com/office/drawing/2014/main" id="{427442C8-2D24-EB88-0EBB-75700D99AC97}"/>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grpSp>
        <p:nvGrpSpPr>
          <p:cNvPr id="9" name="Group 2">
            <a:extLst>
              <a:ext uri="{FF2B5EF4-FFF2-40B4-BE49-F238E27FC236}">
                <a16:creationId xmlns:a16="http://schemas.microsoft.com/office/drawing/2014/main" id="{6B9851EF-A25B-2758-116C-F50E7FFA336C}"/>
              </a:ext>
            </a:extLst>
          </p:cNvPr>
          <p:cNvGrpSpPr/>
          <p:nvPr/>
        </p:nvGrpSpPr>
        <p:grpSpPr>
          <a:xfrm>
            <a:off x="-859302" y="-144661"/>
            <a:ext cx="18141463" cy="10576322"/>
            <a:chOff x="0" y="-76200"/>
            <a:chExt cx="4777997" cy="2785533"/>
          </a:xfrm>
        </p:grpSpPr>
        <p:sp>
          <p:nvSpPr>
            <p:cNvPr id="10" name="Freeform 3">
              <a:extLst>
                <a:ext uri="{FF2B5EF4-FFF2-40B4-BE49-F238E27FC236}">
                  <a16:creationId xmlns:a16="http://schemas.microsoft.com/office/drawing/2014/main" id="{EAC1E1DC-4829-5A05-C308-E75CCC01F2F9}"/>
                </a:ext>
              </a:extLst>
            </p:cNvPr>
            <p:cNvSpPr/>
            <p:nvPr/>
          </p:nvSpPr>
          <p:spPr>
            <a:xfrm>
              <a:off x="3925059" y="-38594"/>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A0D9F7"/>
            </a:solidFill>
            <a:ln>
              <a:solidFill>
                <a:srgbClr val="A0D9F7"/>
              </a:solidFill>
            </a:ln>
          </p:spPr>
        </p:sp>
        <p:sp>
          <p:nvSpPr>
            <p:cNvPr id="11" name="TextBox 4">
              <a:extLst>
                <a:ext uri="{FF2B5EF4-FFF2-40B4-BE49-F238E27FC236}">
                  <a16:creationId xmlns:a16="http://schemas.microsoft.com/office/drawing/2014/main" id="{19314AED-F24F-BB1C-F104-56D4AE248003}"/>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sp>
        <p:nvSpPr>
          <p:cNvPr id="18" name="TextBox 4">
            <a:extLst>
              <a:ext uri="{FF2B5EF4-FFF2-40B4-BE49-F238E27FC236}">
                <a16:creationId xmlns:a16="http://schemas.microsoft.com/office/drawing/2014/main" id="{AC718368-3F9D-9872-AEEC-555BC276F696}"/>
              </a:ext>
            </a:extLst>
          </p:cNvPr>
          <p:cNvSpPr txBox="1"/>
          <p:nvPr/>
        </p:nvSpPr>
        <p:spPr>
          <a:xfrm>
            <a:off x="1192824" y="6122428"/>
            <a:ext cx="7018605" cy="3900498"/>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800"/>
              </a:lnSpc>
            </a:pPr>
            <a:r>
              <a:rPr lang="en-US" sz="3000" b="1" dirty="0">
                <a:solidFill>
                  <a:schemeClr val="bg1"/>
                </a:solidFill>
              </a:rPr>
              <a:t>System Output Examples: </a:t>
            </a:r>
          </a:p>
          <a:p>
            <a:pPr>
              <a:lnSpc>
                <a:spcPts val="2800"/>
              </a:lnSpc>
            </a:pPr>
            <a:r>
              <a:rPr lang="en-US" sz="3000" b="1" dirty="0">
                <a:solidFill>
                  <a:schemeClr val="bg1"/>
                </a:solidFill>
              </a:rPr>
              <a:t>(a) </a:t>
            </a:r>
            <a:r>
              <a:rPr lang="en-US" sz="3000" b="1" i="0" dirty="0">
                <a:solidFill>
                  <a:srgbClr val="E3E3E3"/>
                </a:solidFill>
                <a:effectLst/>
              </a:rPr>
              <a:t>Real-time Motion Status</a:t>
            </a:r>
            <a:r>
              <a:rPr lang="en-US" sz="3000" b="1" dirty="0">
                <a:solidFill>
                  <a:schemeClr val="bg1"/>
                </a:solidFill>
              </a:rPr>
              <a:t>. </a:t>
            </a:r>
          </a:p>
          <a:p>
            <a:pPr>
              <a:lnSpc>
                <a:spcPts val="2800"/>
              </a:lnSpc>
            </a:pPr>
            <a:r>
              <a:rPr lang="en-US" sz="3000" b="1" dirty="0">
                <a:solidFill>
                  <a:schemeClr val="bg1"/>
                </a:solidFill>
              </a:rPr>
              <a:t>(b) </a:t>
            </a:r>
            <a:r>
              <a:rPr lang="en-US" sz="3000" b="1" i="0" dirty="0">
                <a:solidFill>
                  <a:srgbClr val="E3E3E3"/>
                </a:solidFill>
                <a:effectLst/>
              </a:rPr>
              <a:t>Probabilistic Path Prediction</a:t>
            </a:r>
            <a:r>
              <a:rPr lang="en-US" sz="3000" b="1" dirty="0">
                <a:solidFill>
                  <a:schemeClr val="bg1"/>
                </a:solidFill>
              </a:rPr>
              <a:t>. </a:t>
            </a:r>
          </a:p>
          <a:p>
            <a:pPr>
              <a:lnSpc>
                <a:spcPts val="2800"/>
              </a:lnSpc>
            </a:pPr>
            <a:r>
              <a:rPr lang="en-US" sz="3000" b="1" dirty="0">
                <a:solidFill>
                  <a:schemeClr val="bg1"/>
                </a:solidFill>
              </a:rPr>
              <a:t>(c) </a:t>
            </a:r>
            <a:r>
              <a:rPr lang="en-US" sz="3000" b="1" i="0" dirty="0">
                <a:solidFill>
                  <a:srgbClr val="E3E3E3"/>
                </a:solidFill>
                <a:effectLst/>
              </a:rPr>
              <a:t>Interaction Graph Status</a:t>
            </a:r>
            <a:r>
              <a:rPr lang="en-US" sz="3000" b="1" dirty="0">
                <a:solidFill>
                  <a:schemeClr val="bg1"/>
                </a:solidFill>
              </a:rPr>
              <a:t>. </a:t>
            </a:r>
          </a:p>
        </p:txBody>
      </p:sp>
      <p:sp>
        <p:nvSpPr>
          <p:cNvPr id="21" name="TextBox 4">
            <a:extLst>
              <a:ext uri="{FF2B5EF4-FFF2-40B4-BE49-F238E27FC236}">
                <a16:creationId xmlns:a16="http://schemas.microsoft.com/office/drawing/2014/main" id="{C8959AF3-2103-0FF7-D770-A92B12CDA3F4}"/>
              </a:ext>
            </a:extLst>
          </p:cNvPr>
          <p:cNvSpPr txBox="1"/>
          <p:nvPr/>
        </p:nvSpPr>
        <p:spPr>
          <a:xfrm>
            <a:off x="3692772" y="2377677"/>
            <a:ext cx="13041921" cy="58240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800"/>
              </a:lnSpc>
            </a:pPr>
            <a:endParaRPr/>
          </a:p>
        </p:txBody>
      </p:sp>
      <p:sp>
        <p:nvSpPr>
          <p:cNvPr id="22" name="TextBox 21">
            <a:extLst>
              <a:ext uri="{FF2B5EF4-FFF2-40B4-BE49-F238E27FC236}">
                <a16:creationId xmlns:a16="http://schemas.microsoft.com/office/drawing/2014/main" id="{432CBA7F-CE34-0FEA-8CD1-F77B77F81C78}"/>
              </a:ext>
            </a:extLst>
          </p:cNvPr>
          <p:cNvSpPr txBox="1"/>
          <p:nvPr/>
        </p:nvSpPr>
        <p:spPr>
          <a:xfrm>
            <a:off x="1229897" y="328974"/>
            <a:ext cx="8223249"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0" b="1" dirty="0">
                <a:solidFill>
                  <a:schemeClr val="bg1"/>
                </a:solidFill>
              </a:rPr>
              <a:t>Example &amp; Findings (Category 4)</a:t>
            </a:r>
            <a:r>
              <a:rPr lang="en-US" sz="6000" b="1" dirty="0">
                <a:solidFill>
                  <a:schemeClr val="bg1"/>
                </a:solidFill>
                <a:ea typeface="Calibri"/>
                <a:cs typeface="Calibri"/>
              </a:rPr>
              <a:t> :</a:t>
            </a:r>
          </a:p>
        </p:txBody>
      </p:sp>
      <p:sp>
        <p:nvSpPr>
          <p:cNvPr id="28" name="Arrow" descr="Dashed Arrow">
            <a:extLst>
              <a:ext uri="{FF2B5EF4-FFF2-40B4-BE49-F238E27FC236}">
                <a16:creationId xmlns:a16="http://schemas.microsoft.com/office/drawing/2014/main" id="{D6291B32-C344-23CD-59E5-987F927FC9B9}"/>
              </a:ext>
            </a:extLst>
          </p:cNvPr>
          <p:cNvSpPr/>
          <p:nvPr/>
        </p:nvSpPr>
        <p:spPr>
          <a:xfrm rot="5400000" flipV="1">
            <a:off x="10159696" y="5250505"/>
            <a:ext cx="3060251" cy="3238501"/>
          </a:xfrm>
          <a:prstGeom prst="arc">
            <a:avLst>
              <a:gd name="adj1" fmla="val 12549592"/>
              <a:gd name="adj2" fmla="val 4002257"/>
            </a:avLst>
          </a:prstGeom>
          <a:ln w="20320">
            <a:solidFill>
              <a:schemeClr val="bg1"/>
            </a:solidFill>
            <a:prstDash val="dash"/>
            <a:headEnd type="arrow" w="lg"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dirty="0">
              <a:latin typeface="Arial" charset="0"/>
            </a:endParaRPr>
          </a:p>
        </p:txBody>
      </p:sp>
      <p:sp>
        <p:nvSpPr>
          <p:cNvPr id="29" name="TextBox 28">
            <a:extLst>
              <a:ext uri="{FF2B5EF4-FFF2-40B4-BE49-F238E27FC236}">
                <a16:creationId xmlns:a16="http://schemas.microsoft.com/office/drawing/2014/main" id="{9ED6AAB6-58E1-924F-FC1D-BF820A0DAF75}"/>
              </a:ext>
            </a:extLst>
          </p:cNvPr>
          <p:cNvSpPr txBox="1"/>
          <p:nvPr/>
        </p:nvSpPr>
        <p:spPr>
          <a:xfrm>
            <a:off x="1196265" y="2214323"/>
            <a:ext cx="7496066" cy="5170646"/>
          </a:xfrm>
          <a:prstGeom prst="rect">
            <a:avLst/>
          </a:prstGeom>
          <a:noFill/>
        </p:spPr>
        <p:txBody>
          <a:bodyPr wrap="square">
            <a:spAutoFit/>
          </a:bodyPr>
          <a:lstStyle/>
          <a:p>
            <a:r>
              <a:rPr lang="en-US" sz="3000" b="1" dirty="0">
                <a:solidFill>
                  <a:schemeClr val="bg1"/>
                </a:solidFill>
              </a:rPr>
              <a:t>Example Outputs:</a:t>
            </a:r>
          </a:p>
          <a:p>
            <a:pPr marL="457200" indent="-457200" algn="just">
              <a:buFont typeface="Wingdings" panose="05000000000000000000" pitchFamily="2" charset="2"/>
              <a:buChar char="§"/>
            </a:pPr>
            <a:r>
              <a:rPr lang="en-US" sz="3000" b="1" dirty="0">
                <a:solidFill>
                  <a:schemeClr val="bg1"/>
                </a:solidFill>
              </a:rPr>
              <a:t>Tracked objects: Car A (fast), Car B (slow), Pedestrian (crossing)</a:t>
            </a:r>
          </a:p>
          <a:p>
            <a:pPr marL="457200" indent="-457200" algn="just">
              <a:buFont typeface="Wingdings" panose="05000000000000000000" pitchFamily="2" charset="2"/>
              <a:buChar char="§"/>
            </a:pPr>
            <a:r>
              <a:rPr lang="en-US" sz="3000" b="1" dirty="0">
                <a:solidFill>
                  <a:schemeClr val="bg1"/>
                </a:solidFill>
              </a:rPr>
              <a:t>Predicted paths: Car A may change lanes (70%), Car B stays straight (90%)</a:t>
            </a:r>
          </a:p>
          <a:p>
            <a:pPr marL="457200" indent="-457200" algn="just">
              <a:buFont typeface="Wingdings" panose="05000000000000000000" pitchFamily="2" charset="2"/>
              <a:buChar char="§"/>
            </a:pPr>
            <a:r>
              <a:rPr lang="en-US" sz="3000" b="1" dirty="0">
                <a:solidFill>
                  <a:schemeClr val="bg1"/>
                </a:solidFill>
              </a:rPr>
              <a:t>Interaction graph: Pedestrian influences both vehicles, Car A influences Car B</a:t>
            </a:r>
          </a:p>
          <a:p>
            <a:pPr marL="457200" indent="-457200" algn="just">
              <a:buFont typeface="Wingdings" panose="05000000000000000000" pitchFamily="2" charset="2"/>
              <a:buChar char="§"/>
            </a:pPr>
            <a:r>
              <a:rPr lang="en-US" sz="3000" b="1" dirty="0">
                <a:solidFill>
                  <a:schemeClr val="bg1"/>
                </a:solidFill>
              </a:rPr>
              <a:t>System decision: “Slow down, prepare for Car A’s lane change—pedestrian crossing ahead.”</a:t>
            </a:r>
          </a:p>
          <a:p>
            <a:endParaRPr lang="en-US" sz="3000" b="1" dirty="0">
              <a:solidFill>
                <a:schemeClr val="bg1"/>
              </a:solidFill>
            </a:endParaRPr>
          </a:p>
        </p:txBody>
      </p:sp>
      <p:pic>
        <p:nvPicPr>
          <p:cNvPr id="6" name="Picture 5">
            <a:extLst>
              <a:ext uri="{FF2B5EF4-FFF2-40B4-BE49-F238E27FC236}">
                <a16:creationId xmlns:a16="http://schemas.microsoft.com/office/drawing/2014/main" id="{D32DB7A5-244F-FDC8-2447-CD91E7786F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6078" y="990599"/>
            <a:ext cx="5906083" cy="6394370"/>
          </a:xfrm>
          <a:prstGeom prst="rect">
            <a:avLst/>
          </a:prstGeom>
        </p:spPr>
      </p:pic>
    </p:spTree>
    <p:extLst>
      <p:ext uri="{BB962C8B-B14F-4D97-AF65-F5344CB8AC3E}">
        <p14:creationId xmlns:p14="http://schemas.microsoft.com/office/powerpoint/2010/main" val="5194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47BEA-4AB6-CD72-D7B4-B727D231BD6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FA3DBBC-DA05-0327-6CEC-4F643A6F4201}"/>
              </a:ext>
            </a:extLst>
          </p:cNvPr>
          <p:cNvGrpSpPr/>
          <p:nvPr/>
        </p:nvGrpSpPr>
        <p:grpSpPr>
          <a:xfrm>
            <a:off x="0" y="0"/>
            <a:ext cx="718039" cy="10287000"/>
            <a:chOff x="0" y="0"/>
            <a:chExt cx="852938" cy="2709333"/>
          </a:xfrm>
        </p:grpSpPr>
        <p:sp>
          <p:nvSpPr>
            <p:cNvPr id="3" name="Freeform 3">
              <a:extLst>
                <a:ext uri="{FF2B5EF4-FFF2-40B4-BE49-F238E27FC236}">
                  <a16:creationId xmlns:a16="http://schemas.microsoft.com/office/drawing/2014/main" id="{9A82CBD9-FAF9-1E08-C04C-8098C941B8BA}"/>
                </a:ext>
              </a:extLst>
            </p:cNvPr>
            <p:cNvSpPr/>
            <p:nvPr/>
          </p:nvSpPr>
          <p:spPr>
            <a:xfrm>
              <a:off x="0" y="0"/>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A0D9F7"/>
            </a:solidFill>
            <a:ln>
              <a:solidFill>
                <a:srgbClr val="A0D9F7"/>
              </a:solidFill>
            </a:ln>
          </p:spPr>
        </p:sp>
        <p:sp>
          <p:nvSpPr>
            <p:cNvPr id="4" name="TextBox 4">
              <a:extLst>
                <a:ext uri="{FF2B5EF4-FFF2-40B4-BE49-F238E27FC236}">
                  <a16:creationId xmlns:a16="http://schemas.microsoft.com/office/drawing/2014/main" id="{95D6A01F-8991-6F15-1681-F8E6D21BECB7}"/>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grpSp>
        <p:nvGrpSpPr>
          <p:cNvPr id="7" name="Group 2">
            <a:extLst>
              <a:ext uri="{FF2B5EF4-FFF2-40B4-BE49-F238E27FC236}">
                <a16:creationId xmlns:a16="http://schemas.microsoft.com/office/drawing/2014/main" id="{F110C2F0-E19E-4147-E46D-34B808116011}"/>
              </a:ext>
            </a:extLst>
          </p:cNvPr>
          <p:cNvGrpSpPr/>
          <p:nvPr/>
        </p:nvGrpSpPr>
        <p:grpSpPr>
          <a:xfrm>
            <a:off x="666978" y="-144661"/>
            <a:ext cx="2300654" cy="10576322"/>
            <a:chOff x="-1879943" y="-76200"/>
            <a:chExt cx="2732881" cy="2785533"/>
          </a:xfrm>
        </p:grpSpPr>
        <p:sp>
          <p:nvSpPr>
            <p:cNvPr id="9" name="Freeform 3">
              <a:extLst>
                <a:ext uri="{FF2B5EF4-FFF2-40B4-BE49-F238E27FC236}">
                  <a16:creationId xmlns:a16="http://schemas.microsoft.com/office/drawing/2014/main" id="{F1C8CEBA-6A93-F550-7F21-75830411E95C}"/>
                </a:ext>
              </a:extLst>
            </p:cNvPr>
            <p:cNvSpPr/>
            <p:nvPr/>
          </p:nvSpPr>
          <p:spPr>
            <a:xfrm>
              <a:off x="-1879943" y="-46313"/>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2AA7E1"/>
            </a:solidFill>
            <a:ln>
              <a:solidFill>
                <a:srgbClr val="A0D9F7"/>
              </a:solidFill>
            </a:ln>
          </p:spPr>
        </p:sp>
        <p:sp>
          <p:nvSpPr>
            <p:cNvPr id="10" name="TextBox 4">
              <a:extLst>
                <a:ext uri="{FF2B5EF4-FFF2-40B4-BE49-F238E27FC236}">
                  <a16:creationId xmlns:a16="http://schemas.microsoft.com/office/drawing/2014/main" id="{D67EBECF-2563-AC85-C78E-2AA4B24F9C49}"/>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sp>
        <p:nvSpPr>
          <p:cNvPr id="14" name="AutoShape 12">
            <a:extLst>
              <a:ext uri="{FF2B5EF4-FFF2-40B4-BE49-F238E27FC236}">
                <a16:creationId xmlns:a16="http://schemas.microsoft.com/office/drawing/2014/main" id="{96A33ED2-548F-2425-1378-BC2E943AB119}"/>
              </a:ext>
            </a:extLst>
          </p:cNvPr>
          <p:cNvSpPr/>
          <p:nvPr/>
        </p:nvSpPr>
        <p:spPr>
          <a:xfrm flipV="1">
            <a:off x="1384788" y="9634904"/>
            <a:ext cx="16851923" cy="29307"/>
          </a:xfrm>
          <a:prstGeom prst="line">
            <a:avLst/>
          </a:prstGeom>
          <a:ln w="57150" cap="flat">
            <a:solidFill>
              <a:srgbClr val="13A451"/>
            </a:solidFill>
            <a:prstDash val="sysDot"/>
            <a:headEnd type="none" w="sm" len="sm"/>
            <a:tailEnd type="none" w="sm" len="sm"/>
          </a:ln>
        </p:spPr>
      </p:sp>
      <p:sp>
        <p:nvSpPr>
          <p:cNvPr id="31" name="TextBox 14">
            <a:extLst>
              <a:ext uri="{FF2B5EF4-FFF2-40B4-BE49-F238E27FC236}">
                <a16:creationId xmlns:a16="http://schemas.microsoft.com/office/drawing/2014/main" id="{98503610-6966-6DFD-705D-6D35BEF7A99A}"/>
              </a:ext>
            </a:extLst>
          </p:cNvPr>
          <p:cNvSpPr txBox="1"/>
          <p:nvPr/>
        </p:nvSpPr>
        <p:spPr>
          <a:xfrm>
            <a:off x="18362013" y="9735057"/>
            <a:ext cx="152400" cy="190500"/>
          </a:xfrm>
          <a:prstGeom prst="rect">
            <a:avLst/>
          </a:prstGeom>
        </p:spPr>
        <p:txBody>
          <a:bodyPr wrap="none" lIns="0" tIns="0" rIns="0" bIns="0" rtlCol="0" anchor="t">
            <a:spAutoFit/>
          </a:bodyPr>
          <a:lstStyle/>
          <a:p>
            <a:pPr algn="r">
              <a:lnSpc>
                <a:spcPts val="1679"/>
              </a:lnSpc>
              <a:spcBef>
                <a:spcPct val="0"/>
              </a:spcBef>
            </a:pPr>
            <a:r>
              <a:rPr lang="en-US" sz="1200" b="1">
                <a:solidFill>
                  <a:srgbClr val="004D40"/>
                </a:solidFill>
                <a:latin typeface="Telegraf Bold"/>
                <a:ea typeface="Telegraf Bold"/>
                <a:cs typeface="Telegraf Bold"/>
                <a:sym typeface="Telegraf Bold"/>
              </a:rPr>
              <a:t>2</a:t>
            </a:r>
          </a:p>
        </p:txBody>
      </p:sp>
      <p:sp>
        <p:nvSpPr>
          <p:cNvPr id="6" name="TextBox 3">
            <a:extLst>
              <a:ext uri="{FF2B5EF4-FFF2-40B4-BE49-F238E27FC236}">
                <a16:creationId xmlns:a16="http://schemas.microsoft.com/office/drawing/2014/main" id="{B17FF413-210C-0186-61CD-0EA293A8D59A}"/>
              </a:ext>
            </a:extLst>
          </p:cNvPr>
          <p:cNvSpPr txBox="1"/>
          <p:nvPr/>
        </p:nvSpPr>
        <p:spPr>
          <a:xfrm>
            <a:off x="1855182" y="231965"/>
            <a:ext cx="6886573" cy="1931041"/>
          </a:xfrm>
          <a:prstGeom prst="rect">
            <a:avLst/>
          </a:prstGeom>
        </p:spPr>
        <p:txBody>
          <a:bodyPr lIns="0" tIns="0" rIns="0" bIns="0" rtlCol="0" anchor="t">
            <a:spAutoFit/>
          </a:bodyPr>
          <a:lstStyle/>
          <a:p>
            <a:pPr marL="0" lvl="0" indent="0" algn="l">
              <a:lnSpc>
                <a:spcPts val="7699"/>
              </a:lnSpc>
            </a:pPr>
            <a:r>
              <a:rPr lang="en-US" sz="6000" b="1" dirty="0">
                <a:solidFill>
                  <a:srgbClr val="0070C0"/>
                </a:solidFill>
              </a:rPr>
              <a:t>Conclusion &amp; Implementation:</a:t>
            </a:r>
            <a:endParaRPr lang="en-US" sz="6000" b="1" spc="-69" dirty="0">
              <a:solidFill>
                <a:srgbClr val="0070C0"/>
              </a:solidFill>
              <a:latin typeface="Arial Black"/>
              <a:ea typeface="Telegraf Bold"/>
              <a:cs typeface="Telegraf Bold"/>
            </a:endParaRPr>
          </a:p>
        </p:txBody>
      </p:sp>
      <p:sp>
        <p:nvSpPr>
          <p:cNvPr id="24" name="TextBox 8">
            <a:extLst>
              <a:ext uri="{FF2B5EF4-FFF2-40B4-BE49-F238E27FC236}">
                <a16:creationId xmlns:a16="http://schemas.microsoft.com/office/drawing/2014/main" id="{69B7208A-1092-C646-99E8-3302F0D588B6}"/>
              </a:ext>
            </a:extLst>
          </p:cNvPr>
          <p:cNvSpPr txBox="1"/>
          <p:nvPr/>
        </p:nvSpPr>
        <p:spPr>
          <a:xfrm>
            <a:off x="18324136" y="9822980"/>
            <a:ext cx="152400" cy="190500"/>
          </a:xfrm>
          <a:prstGeom prst="rect">
            <a:avLst/>
          </a:prstGeom>
        </p:spPr>
        <p:txBody>
          <a:bodyPr wrap="none" lIns="0" tIns="0" rIns="0" bIns="0" rtlCol="0" anchor="t">
            <a:spAutoFit/>
          </a:bodyPr>
          <a:lstStyle/>
          <a:p>
            <a:pPr algn="r">
              <a:lnSpc>
                <a:spcPts val="1679"/>
              </a:lnSpc>
              <a:spcBef>
                <a:spcPct val="0"/>
              </a:spcBef>
            </a:pPr>
            <a:r>
              <a:rPr lang="en-US" sz="1200" b="1">
                <a:solidFill>
                  <a:srgbClr val="004D40"/>
                </a:solidFill>
                <a:latin typeface="Telegraf Bold"/>
                <a:ea typeface="Telegraf Bold"/>
                <a:cs typeface="Telegraf Bold"/>
                <a:sym typeface="Telegraf Bold"/>
              </a:rPr>
              <a:t>3</a:t>
            </a:r>
          </a:p>
        </p:txBody>
      </p:sp>
      <p:pic>
        <p:nvPicPr>
          <p:cNvPr id="13" name="Picture 12" descr="Premier University | Center of Exellence for Quality Learning">
            <a:extLst>
              <a:ext uri="{FF2B5EF4-FFF2-40B4-BE49-F238E27FC236}">
                <a16:creationId xmlns:a16="http://schemas.microsoft.com/office/drawing/2014/main" id="{324BE83A-4F09-746B-A37C-3FA407233D5E}"/>
              </a:ext>
            </a:extLst>
          </p:cNvPr>
          <p:cNvPicPr>
            <a:picLocks noChangeAspect="1"/>
          </p:cNvPicPr>
          <p:nvPr/>
        </p:nvPicPr>
        <p:blipFill>
          <a:blip r:embed="rId2"/>
          <a:srcRect t="-430" r="1575" b="1205"/>
          <a:stretch>
            <a:fillRect/>
          </a:stretch>
        </p:blipFill>
        <p:spPr>
          <a:xfrm>
            <a:off x="0" y="9147430"/>
            <a:ext cx="3279437" cy="1139570"/>
          </a:xfrm>
          <a:prstGeom prst="rect">
            <a:avLst/>
          </a:prstGeom>
        </p:spPr>
      </p:pic>
      <p:sp>
        <p:nvSpPr>
          <p:cNvPr id="11" name="Rectangle 1">
            <a:extLst>
              <a:ext uri="{FF2B5EF4-FFF2-40B4-BE49-F238E27FC236}">
                <a16:creationId xmlns:a16="http://schemas.microsoft.com/office/drawing/2014/main" id="{A5AF45C8-0EEF-A974-84C1-B0746FBC777E}"/>
              </a:ext>
            </a:extLst>
          </p:cNvPr>
          <p:cNvSpPr>
            <a:spLocks noChangeArrowheads="1"/>
          </p:cNvSpPr>
          <p:nvPr/>
        </p:nvSpPr>
        <p:spPr bwMode="auto">
          <a:xfrm>
            <a:off x="1384788" y="6555277"/>
            <a:ext cx="5949462" cy="2000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spcBef>
                <a:spcPct val="0"/>
              </a:spcBef>
              <a:spcAft>
                <a:spcPct val="0"/>
              </a:spcAft>
              <a:buFont typeface="Wingdings" panose="05000000000000000000" pitchFamily="2" charset="2"/>
              <a:buChar char="v"/>
            </a:pPr>
            <a:r>
              <a:rPr lang="en-US" sz="3000" b="1" i="0" dirty="0">
                <a:effectLst/>
              </a:rPr>
              <a:t>Identify Potential Hazard Zones</a:t>
            </a:r>
            <a:endParaRPr kumimoji="0" lang="en-US" altLang="en-US" sz="3000" b="1" i="0" u="none" strike="noStrike" cap="none" normalizeH="0" baseline="0" dirty="0">
              <a:ln>
                <a:noFill/>
              </a:ln>
              <a:effectLst/>
            </a:endParaRPr>
          </a:p>
          <a:p>
            <a:pPr marL="457200" lvl="0" indent="-457200" eaLnBrk="0" fontAlgn="base" hangingPunct="0">
              <a:spcBef>
                <a:spcPct val="0"/>
              </a:spcBef>
              <a:spcAft>
                <a:spcPct val="0"/>
              </a:spcAft>
              <a:buFont typeface="Wingdings" panose="05000000000000000000" pitchFamily="2" charset="2"/>
              <a:buChar char="v"/>
            </a:pPr>
            <a:r>
              <a:rPr lang="en-US" sz="3000" b="1" i="0" dirty="0">
                <a:effectLst/>
              </a:rPr>
              <a:t>Optimize Road Layouts</a:t>
            </a:r>
            <a:endParaRPr kumimoji="0" lang="en-US" altLang="en-US" sz="3000" b="1" i="0" u="none" strike="noStrike" cap="none" normalizeH="0" baseline="0" dirty="0">
              <a:ln>
                <a:noFill/>
              </a:ln>
              <a:effectLst/>
            </a:endParaRPr>
          </a:p>
          <a:p>
            <a:pPr marL="457200" lvl="0" indent="-457200" eaLnBrk="0" fontAlgn="base" hangingPunct="0">
              <a:spcBef>
                <a:spcPct val="0"/>
              </a:spcBef>
              <a:spcAft>
                <a:spcPct val="0"/>
              </a:spcAft>
              <a:buFont typeface="Wingdings" panose="05000000000000000000" pitchFamily="2" charset="2"/>
              <a:buChar char="v"/>
            </a:pPr>
            <a:r>
              <a:rPr lang="en-US" sz="3000" b="1" i="0" dirty="0">
                <a:effectLst/>
              </a:rPr>
              <a:t>Improve Real-Time Safety</a:t>
            </a:r>
          </a:p>
          <a:p>
            <a:pPr marL="457200" lvl="0" indent="-457200" eaLnBrk="0" fontAlgn="base" hangingPunct="0">
              <a:spcBef>
                <a:spcPct val="0"/>
              </a:spcBef>
              <a:spcAft>
                <a:spcPct val="0"/>
              </a:spcAft>
              <a:buFont typeface="Wingdings" panose="05000000000000000000" pitchFamily="2" charset="2"/>
              <a:buChar char="v"/>
            </a:pPr>
            <a:r>
              <a:rPr lang="en-US" sz="3000" b="1" i="0" dirty="0">
                <a:effectLst/>
              </a:rPr>
              <a:t>Predict Risk in Complex Scenarios</a:t>
            </a:r>
            <a:endParaRPr kumimoji="0" lang="en-US" altLang="en-US" sz="3000" b="1" i="0" u="none" strike="noStrike" cap="none" normalizeH="0" baseline="0" dirty="0">
              <a:ln>
                <a:noFill/>
              </a:ln>
              <a:effectLst/>
            </a:endParaRPr>
          </a:p>
        </p:txBody>
      </p:sp>
      <p:sp>
        <p:nvSpPr>
          <p:cNvPr id="18" name="TextBox 17">
            <a:extLst>
              <a:ext uri="{FF2B5EF4-FFF2-40B4-BE49-F238E27FC236}">
                <a16:creationId xmlns:a16="http://schemas.microsoft.com/office/drawing/2014/main" id="{BF169DBE-459E-C059-598F-4E87E5730656}"/>
              </a:ext>
            </a:extLst>
          </p:cNvPr>
          <p:cNvSpPr txBox="1"/>
          <p:nvPr/>
        </p:nvSpPr>
        <p:spPr>
          <a:xfrm>
            <a:off x="1384788" y="2323455"/>
            <a:ext cx="9007441" cy="3785652"/>
          </a:xfrm>
          <a:prstGeom prst="rect">
            <a:avLst/>
          </a:prstGeom>
          <a:noFill/>
        </p:spPr>
        <p:txBody>
          <a:bodyPr wrap="square">
            <a:spAutoFit/>
          </a:bodyPr>
          <a:lstStyle/>
          <a:p>
            <a:pPr marL="457200" indent="-457200" algn="just">
              <a:buFont typeface="Wingdings" panose="05000000000000000000" pitchFamily="2" charset="2"/>
              <a:buChar char="ü"/>
            </a:pPr>
            <a:r>
              <a:rPr lang="en-US" sz="3000" b="1" i="0" dirty="0">
                <a:effectLst/>
              </a:rPr>
              <a:t>Advanced techniques like Scene-Flow, Multimodal Data, and Graph Networks collectively improve motion detection and trajectory prediction accuracy. By combining these methods, the system can anticipate multiple future scenarios while ensuring the predicted vehicle paths are physically realistic. This enables highly reliable and proactive safety decisions for autonomous driving.</a:t>
            </a:r>
            <a:endParaRPr lang="en-US" sz="3000" b="1" dirty="0"/>
          </a:p>
        </p:txBody>
      </p:sp>
    </p:spTree>
    <p:extLst>
      <p:ext uri="{BB962C8B-B14F-4D97-AF65-F5344CB8AC3E}">
        <p14:creationId xmlns:p14="http://schemas.microsoft.com/office/powerpoint/2010/main" val="3076098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AA7E1"/>
        </a:solidFill>
        <a:effectLst/>
      </p:bgPr>
    </p:bg>
    <p:spTree>
      <p:nvGrpSpPr>
        <p:cNvPr id="1" name="">
          <a:extLst>
            <a:ext uri="{FF2B5EF4-FFF2-40B4-BE49-F238E27FC236}">
              <a16:creationId xmlns:a16="http://schemas.microsoft.com/office/drawing/2014/main" id="{12B315EF-481C-342F-D45F-FB76657A48F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C2C946D-A8AB-6105-1445-BF3BF4C07037}"/>
              </a:ext>
            </a:extLst>
          </p:cNvPr>
          <p:cNvGrpSpPr/>
          <p:nvPr/>
        </p:nvGrpSpPr>
        <p:grpSpPr>
          <a:xfrm>
            <a:off x="0" y="0"/>
            <a:ext cx="3238500" cy="10287000"/>
            <a:chOff x="0" y="0"/>
            <a:chExt cx="852938" cy="2709333"/>
          </a:xfrm>
        </p:grpSpPr>
        <p:sp>
          <p:nvSpPr>
            <p:cNvPr id="3" name="Freeform 3">
              <a:extLst>
                <a:ext uri="{FF2B5EF4-FFF2-40B4-BE49-F238E27FC236}">
                  <a16:creationId xmlns:a16="http://schemas.microsoft.com/office/drawing/2014/main" id="{C45D3A24-B1E2-DA35-B078-D4069A488320}"/>
                </a:ext>
              </a:extLst>
            </p:cNvPr>
            <p:cNvSpPr/>
            <p:nvPr/>
          </p:nvSpPr>
          <p:spPr>
            <a:xfrm>
              <a:off x="0" y="0"/>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A0D9F7"/>
            </a:solidFill>
            <a:ln>
              <a:solidFill>
                <a:srgbClr val="A0D9F7"/>
              </a:solidFill>
            </a:ln>
          </p:spPr>
        </p:sp>
        <p:sp>
          <p:nvSpPr>
            <p:cNvPr id="4" name="TextBox 4">
              <a:extLst>
                <a:ext uri="{FF2B5EF4-FFF2-40B4-BE49-F238E27FC236}">
                  <a16:creationId xmlns:a16="http://schemas.microsoft.com/office/drawing/2014/main" id="{4622C7CB-8721-B785-F725-D2A017B97AFD}"/>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grpSp>
        <p:nvGrpSpPr>
          <p:cNvPr id="9" name="Group 2">
            <a:extLst>
              <a:ext uri="{FF2B5EF4-FFF2-40B4-BE49-F238E27FC236}">
                <a16:creationId xmlns:a16="http://schemas.microsoft.com/office/drawing/2014/main" id="{1810EF7C-EB01-8F43-BD26-F3847A62F680}"/>
              </a:ext>
            </a:extLst>
          </p:cNvPr>
          <p:cNvGrpSpPr/>
          <p:nvPr/>
        </p:nvGrpSpPr>
        <p:grpSpPr>
          <a:xfrm>
            <a:off x="146538" y="-142784"/>
            <a:ext cx="18141463" cy="10576322"/>
            <a:chOff x="0" y="-76200"/>
            <a:chExt cx="4777997" cy="2785533"/>
          </a:xfrm>
        </p:grpSpPr>
        <p:sp>
          <p:nvSpPr>
            <p:cNvPr id="10" name="Freeform 3">
              <a:extLst>
                <a:ext uri="{FF2B5EF4-FFF2-40B4-BE49-F238E27FC236}">
                  <a16:creationId xmlns:a16="http://schemas.microsoft.com/office/drawing/2014/main" id="{6928B849-0500-5167-E62E-64C6147BDA83}"/>
                </a:ext>
              </a:extLst>
            </p:cNvPr>
            <p:cNvSpPr/>
            <p:nvPr/>
          </p:nvSpPr>
          <p:spPr>
            <a:xfrm>
              <a:off x="3925059" y="-38594"/>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A0D9F7"/>
            </a:solidFill>
            <a:ln>
              <a:solidFill>
                <a:srgbClr val="A0D9F7"/>
              </a:solidFill>
            </a:ln>
          </p:spPr>
        </p:sp>
        <p:sp>
          <p:nvSpPr>
            <p:cNvPr id="11" name="TextBox 4">
              <a:extLst>
                <a:ext uri="{FF2B5EF4-FFF2-40B4-BE49-F238E27FC236}">
                  <a16:creationId xmlns:a16="http://schemas.microsoft.com/office/drawing/2014/main" id="{FD10FC41-6A2D-D09C-737B-EA63ED190260}"/>
                </a:ext>
              </a:extLst>
            </p:cNvPr>
            <p:cNvSpPr txBox="1"/>
            <p:nvPr/>
          </p:nvSpPr>
          <p:spPr>
            <a:xfrm>
              <a:off x="0" y="-76200"/>
              <a:ext cx="852938" cy="2785533"/>
            </a:xfrm>
            <a:prstGeom prst="rect">
              <a:avLst/>
            </a:prstGeom>
          </p:spPr>
          <p:txBody>
            <a:bodyPr lIns="50800" tIns="50800" rIns="50800" bIns="50800" rtlCol="0" anchor="ctr"/>
            <a:lstStyle/>
            <a:p>
              <a:pPr algn="ctr">
                <a:lnSpc>
                  <a:spcPts val="2800"/>
                </a:lnSpc>
              </a:pPr>
              <a:endParaRPr/>
            </a:p>
          </p:txBody>
        </p:sp>
      </p:grpSp>
      <p:grpSp>
        <p:nvGrpSpPr>
          <p:cNvPr id="16" name="Group 15">
            <a:extLst>
              <a:ext uri="{FF2B5EF4-FFF2-40B4-BE49-F238E27FC236}">
                <a16:creationId xmlns:a16="http://schemas.microsoft.com/office/drawing/2014/main" id="{A1537504-2527-1616-797E-F8202DD8C744}"/>
              </a:ext>
            </a:extLst>
          </p:cNvPr>
          <p:cNvGrpSpPr/>
          <p:nvPr/>
        </p:nvGrpSpPr>
        <p:grpSpPr>
          <a:xfrm>
            <a:off x="9" y="3506023"/>
            <a:ext cx="16588144" cy="1329746"/>
            <a:chOff x="3182425" y="3506023"/>
            <a:chExt cx="1084860" cy="6359977"/>
          </a:xfrm>
        </p:grpSpPr>
        <p:sp>
          <p:nvSpPr>
            <p:cNvPr id="17" name="Freeform 3">
              <a:extLst>
                <a:ext uri="{FF2B5EF4-FFF2-40B4-BE49-F238E27FC236}">
                  <a16:creationId xmlns:a16="http://schemas.microsoft.com/office/drawing/2014/main" id="{0966A004-6C73-ED32-89FF-9E77E20E7BE8}"/>
                </a:ext>
              </a:extLst>
            </p:cNvPr>
            <p:cNvSpPr/>
            <p:nvPr/>
          </p:nvSpPr>
          <p:spPr>
            <a:xfrm>
              <a:off x="3182425" y="9259286"/>
              <a:ext cx="405385" cy="606714"/>
            </a:xfrm>
            <a:custGeom>
              <a:avLst/>
              <a:gdLst/>
              <a:ahLst/>
              <a:cxnLst/>
              <a:rect l="l" t="t" r="r" b="b"/>
              <a:pathLst>
                <a:path w="852938" h="2709333">
                  <a:moveTo>
                    <a:pt x="0" y="0"/>
                  </a:moveTo>
                  <a:lnTo>
                    <a:pt x="852938" y="0"/>
                  </a:lnTo>
                  <a:lnTo>
                    <a:pt x="852938" y="2709333"/>
                  </a:lnTo>
                  <a:lnTo>
                    <a:pt x="0" y="2709333"/>
                  </a:lnTo>
                  <a:close/>
                </a:path>
              </a:pathLst>
            </a:custGeom>
            <a:solidFill>
              <a:schemeClr val="bg1"/>
            </a:solidFill>
            <a:ln>
              <a:solidFill>
                <a:srgbClr val="A0D9F7"/>
              </a:solidFill>
            </a:ln>
          </p:spPr>
          <p:txBody>
            <a:bodyPr/>
            <a:lstStyle/>
            <a:p>
              <a:endParaRPr lang="en-US"/>
            </a:p>
          </p:txBody>
        </p:sp>
        <p:sp>
          <p:nvSpPr>
            <p:cNvPr id="18" name="TextBox 4">
              <a:extLst>
                <a:ext uri="{FF2B5EF4-FFF2-40B4-BE49-F238E27FC236}">
                  <a16:creationId xmlns:a16="http://schemas.microsoft.com/office/drawing/2014/main" id="{7D76C5C5-8B20-48E7-A3A2-2BF5EF2E4E6A}"/>
                </a:ext>
              </a:extLst>
            </p:cNvPr>
            <p:cNvSpPr txBox="1"/>
            <p:nvPr/>
          </p:nvSpPr>
          <p:spPr>
            <a:xfrm>
              <a:off x="3414347" y="3506023"/>
              <a:ext cx="852938" cy="27855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800"/>
                </a:lnSpc>
              </a:pPr>
              <a:endParaRPr/>
            </a:p>
          </p:txBody>
        </p:sp>
      </p:grpSp>
      <p:grpSp>
        <p:nvGrpSpPr>
          <p:cNvPr id="19" name="Group 18">
            <a:extLst>
              <a:ext uri="{FF2B5EF4-FFF2-40B4-BE49-F238E27FC236}">
                <a16:creationId xmlns:a16="http://schemas.microsoft.com/office/drawing/2014/main" id="{E5B5A4E3-7598-584E-FDF0-61F079D2445E}"/>
              </a:ext>
            </a:extLst>
          </p:cNvPr>
          <p:cNvGrpSpPr/>
          <p:nvPr/>
        </p:nvGrpSpPr>
        <p:grpSpPr>
          <a:xfrm>
            <a:off x="19" y="2377677"/>
            <a:ext cx="16734674" cy="2243316"/>
            <a:chOff x="3172842" y="3506023"/>
            <a:chExt cx="1094443" cy="10729446"/>
          </a:xfrm>
        </p:grpSpPr>
        <p:sp>
          <p:nvSpPr>
            <p:cNvPr id="20" name="Freeform 3">
              <a:extLst>
                <a:ext uri="{FF2B5EF4-FFF2-40B4-BE49-F238E27FC236}">
                  <a16:creationId xmlns:a16="http://schemas.microsoft.com/office/drawing/2014/main" id="{418B3947-5B98-2CCD-F9AD-F346A3F2885A}"/>
                </a:ext>
              </a:extLst>
            </p:cNvPr>
            <p:cNvSpPr/>
            <p:nvPr/>
          </p:nvSpPr>
          <p:spPr>
            <a:xfrm flipV="1">
              <a:off x="3172842" y="13720791"/>
              <a:ext cx="405385" cy="514678"/>
            </a:xfrm>
            <a:custGeom>
              <a:avLst/>
              <a:gdLst/>
              <a:ahLst/>
              <a:cxnLst/>
              <a:rect l="l" t="t" r="r" b="b"/>
              <a:pathLst>
                <a:path w="852938" h="2709333">
                  <a:moveTo>
                    <a:pt x="0" y="0"/>
                  </a:moveTo>
                  <a:lnTo>
                    <a:pt x="852938" y="0"/>
                  </a:lnTo>
                  <a:lnTo>
                    <a:pt x="852938" y="2709333"/>
                  </a:lnTo>
                  <a:lnTo>
                    <a:pt x="0" y="2709333"/>
                  </a:lnTo>
                  <a:close/>
                </a:path>
              </a:pathLst>
            </a:custGeom>
            <a:solidFill>
              <a:srgbClr val="00B050"/>
            </a:solidFill>
            <a:ln>
              <a:solidFill>
                <a:srgbClr val="00B050"/>
              </a:solidFill>
            </a:ln>
          </p:spPr>
          <p:txBody>
            <a:bodyPr/>
            <a:lstStyle/>
            <a:p>
              <a:endParaRPr lang="en-US"/>
            </a:p>
          </p:txBody>
        </p:sp>
        <p:sp>
          <p:nvSpPr>
            <p:cNvPr id="21" name="TextBox 4">
              <a:extLst>
                <a:ext uri="{FF2B5EF4-FFF2-40B4-BE49-F238E27FC236}">
                  <a16:creationId xmlns:a16="http://schemas.microsoft.com/office/drawing/2014/main" id="{5E80C229-E174-5AB3-FAB3-6351B5A7160E}"/>
                </a:ext>
              </a:extLst>
            </p:cNvPr>
            <p:cNvSpPr txBox="1"/>
            <p:nvPr/>
          </p:nvSpPr>
          <p:spPr>
            <a:xfrm>
              <a:off x="3414347" y="3506023"/>
              <a:ext cx="852938" cy="27855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800"/>
                </a:lnSpc>
              </a:pPr>
              <a:endParaRPr/>
            </a:p>
          </p:txBody>
        </p:sp>
      </p:grpSp>
      <p:sp>
        <p:nvSpPr>
          <p:cNvPr id="22" name="TextBox 21">
            <a:extLst>
              <a:ext uri="{FF2B5EF4-FFF2-40B4-BE49-F238E27FC236}">
                <a16:creationId xmlns:a16="http://schemas.microsoft.com/office/drawing/2014/main" id="{80BAD6D6-20A2-14F1-B878-C0C0EF002153}"/>
              </a:ext>
            </a:extLst>
          </p:cNvPr>
          <p:cNvSpPr txBox="1"/>
          <p:nvPr/>
        </p:nvSpPr>
        <p:spPr>
          <a:xfrm>
            <a:off x="6583240" y="3817327"/>
            <a:ext cx="8223249"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0" b="1">
                <a:solidFill>
                  <a:schemeClr val="bg1"/>
                </a:solidFill>
                <a:latin typeface="Arial Black"/>
                <a:ea typeface="Calibri"/>
                <a:cs typeface="Calibri"/>
              </a:rPr>
              <a:t>THANK </a:t>
            </a:r>
          </a:p>
        </p:txBody>
      </p:sp>
      <p:sp>
        <p:nvSpPr>
          <p:cNvPr id="23" name="TextBox 22">
            <a:extLst>
              <a:ext uri="{FF2B5EF4-FFF2-40B4-BE49-F238E27FC236}">
                <a16:creationId xmlns:a16="http://schemas.microsoft.com/office/drawing/2014/main" id="{42C982EA-A270-FF9B-0158-0C06B32CB517}"/>
              </a:ext>
            </a:extLst>
          </p:cNvPr>
          <p:cNvSpPr txBox="1"/>
          <p:nvPr/>
        </p:nvSpPr>
        <p:spPr>
          <a:xfrm>
            <a:off x="9780487" y="4799453"/>
            <a:ext cx="9342782"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0" b="1" baseline="0">
                <a:solidFill>
                  <a:schemeClr val="bg1"/>
                </a:solidFill>
                <a:latin typeface="Arial Black"/>
              </a:rPr>
              <a:t>YOU</a:t>
            </a:r>
            <a:endParaRPr lang="en-US" sz="6000">
              <a:solidFill>
                <a:schemeClr val="bg1"/>
              </a:solidFill>
              <a:latin typeface="Arial Black"/>
              <a:ea typeface="Calibri"/>
              <a:cs typeface="Calibri"/>
            </a:endParaRPr>
          </a:p>
          <a:p>
            <a:pPr algn="ctr"/>
            <a:endParaRPr lang="en-US">
              <a:solidFill>
                <a:schemeClr val="bg1"/>
              </a:solidFill>
              <a:ea typeface="Calibri"/>
              <a:cs typeface="Calibri"/>
            </a:endParaRPr>
          </a:p>
        </p:txBody>
      </p:sp>
      <p:sp>
        <p:nvSpPr>
          <p:cNvPr id="31" name="Freeform 3">
            <a:extLst>
              <a:ext uri="{FF2B5EF4-FFF2-40B4-BE49-F238E27FC236}">
                <a16:creationId xmlns:a16="http://schemas.microsoft.com/office/drawing/2014/main" id="{20D05EBA-8541-6E80-C5C7-CD03BBC1B390}"/>
              </a:ext>
            </a:extLst>
          </p:cNvPr>
          <p:cNvSpPr/>
          <p:nvPr/>
        </p:nvSpPr>
        <p:spPr>
          <a:xfrm>
            <a:off x="12095294" y="5989663"/>
            <a:ext cx="6198574" cy="126852"/>
          </a:xfrm>
          <a:custGeom>
            <a:avLst/>
            <a:gdLst/>
            <a:ahLst/>
            <a:cxnLst/>
            <a:rect l="l" t="t" r="r" b="b"/>
            <a:pathLst>
              <a:path w="852938" h="2709333">
                <a:moveTo>
                  <a:pt x="0" y="0"/>
                </a:moveTo>
                <a:lnTo>
                  <a:pt x="852938" y="0"/>
                </a:lnTo>
                <a:lnTo>
                  <a:pt x="852938" y="2709333"/>
                </a:lnTo>
                <a:lnTo>
                  <a:pt x="0" y="2709333"/>
                </a:lnTo>
                <a:close/>
              </a:path>
            </a:pathLst>
          </a:custGeom>
          <a:solidFill>
            <a:schemeClr val="bg1"/>
          </a:solidFill>
          <a:ln>
            <a:solidFill>
              <a:srgbClr val="A0D9F7"/>
            </a:solidFill>
          </a:ln>
        </p:spPr>
        <p:txBody>
          <a:bodyPr/>
          <a:lstStyle/>
          <a:p>
            <a:endParaRPr lang="en-US"/>
          </a:p>
        </p:txBody>
      </p:sp>
      <p:sp>
        <p:nvSpPr>
          <p:cNvPr id="33" name="Freeform 3">
            <a:extLst>
              <a:ext uri="{FF2B5EF4-FFF2-40B4-BE49-F238E27FC236}">
                <a16:creationId xmlns:a16="http://schemas.microsoft.com/office/drawing/2014/main" id="{B070343A-E5C4-34AB-6635-A402F8FB21EE}"/>
              </a:ext>
            </a:extLst>
          </p:cNvPr>
          <p:cNvSpPr/>
          <p:nvPr/>
        </p:nvSpPr>
        <p:spPr>
          <a:xfrm flipV="1">
            <a:off x="12095304" y="6233746"/>
            <a:ext cx="6198574" cy="107609"/>
          </a:xfrm>
          <a:custGeom>
            <a:avLst/>
            <a:gdLst/>
            <a:ahLst/>
            <a:cxnLst/>
            <a:rect l="l" t="t" r="r" b="b"/>
            <a:pathLst>
              <a:path w="852938" h="2709333">
                <a:moveTo>
                  <a:pt x="0" y="0"/>
                </a:moveTo>
                <a:lnTo>
                  <a:pt x="852938" y="0"/>
                </a:lnTo>
                <a:lnTo>
                  <a:pt x="852938" y="2709333"/>
                </a:lnTo>
                <a:lnTo>
                  <a:pt x="0" y="2709333"/>
                </a:lnTo>
                <a:close/>
              </a:path>
            </a:pathLst>
          </a:custGeom>
          <a:solidFill>
            <a:srgbClr val="00B050"/>
          </a:solidFill>
          <a:ln>
            <a:solidFill>
              <a:srgbClr val="00B050"/>
            </a:solidFill>
          </a:ln>
        </p:spPr>
        <p:txBody>
          <a:bodyPr/>
          <a:lstStyle/>
          <a:p>
            <a:endParaRPr lang="en-US"/>
          </a:p>
        </p:txBody>
      </p:sp>
      <p:pic>
        <p:nvPicPr>
          <p:cNvPr id="35" name="Picture 34" descr="A logo of a university&#10;&#10;AI-generated content may be incorrect.">
            <a:extLst>
              <a:ext uri="{FF2B5EF4-FFF2-40B4-BE49-F238E27FC236}">
                <a16:creationId xmlns:a16="http://schemas.microsoft.com/office/drawing/2014/main" id="{11206C05-1FD3-CAD0-5F64-1211FE4336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15053" y="8018839"/>
            <a:ext cx="1709913" cy="1500558"/>
          </a:xfrm>
          <a:prstGeom prst="rect">
            <a:avLst/>
          </a:prstGeom>
        </p:spPr>
      </p:pic>
      <p:sp>
        <p:nvSpPr>
          <p:cNvPr id="37" name="TextBox 36">
            <a:extLst>
              <a:ext uri="{FF2B5EF4-FFF2-40B4-BE49-F238E27FC236}">
                <a16:creationId xmlns:a16="http://schemas.microsoft.com/office/drawing/2014/main" id="{0C4B2147-C344-F8C9-8FEC-44EAA0476170}"/>
              </a:ext>
            </a:extLst>
          </p:cNvPr>
          <p:cNvSpPr txBox="1"/>
          <p:nvPr/>
        </p:nvSpPr>
        <p:spPr>
          <a:xfrm>
            <a:off x="7657537" y="9528662"/>
            <a:ext cx="296300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PREMIERE UNIVERSITY</a:t>
            </a:r>
          </a:p>
        </p:txBody>
      </p:sp>
    </p:spTree>
    <p:extLst>
      <p:ext uri="{BB962C8B-B14F-4D97-AF65-F5344CB8AC3E}">
        <p14:creationId xmlns:p14="http://schemas.microsoft.com/office/powerpoint/2010/main" val="6197384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1011</TotalTime>
  <Words>884</Words>
  <Application>Microsoft Office PowerPoint</Application>
  <PresentationFormat>Custom</PresentationFormat>
  <Paragraphs>131</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Wingdings</vt:lpstr>
      <vt:lpstr>Arial</vt:lpstr>
      <vt:lpstr>Arial Black</vt:lpstr>
      <vt:lpstr>Calibri</vt:lpstr>
      <vt:lpstr>Telegraf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Innovations in Sustainable Design</dc:title>
  <dc:creator>Sifat</dc:creator>
  <dc:description>Presentation - Innovations in Sustainable Design</dc:description>
  <cp:lastModifiedBy>RYZEN</cp:lastModifiedBy>
  <cp:revision>50</cp:revision>
  <dcterms:created xsi:type="dcterms:W3CDTF">2006-08-16T00:00:00Z</dcterms:created>
  <dcterms:modified xsi:type="dcterms:W3CDTF">2025-12-01T21:32:50Z</dcterms:modified>
  <dc:identifier>DAG6GVWpC6w</dc:identifier>
</cp:coreProperties>
</file>